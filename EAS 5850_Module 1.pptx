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Lst>
  <p:sldSz cy="6858000" cx="12192000"/>
  <p:notesSz cx="6858000" cy="9144000"/>
  <p:embeddedFontLst>
    <p:embeddedFont>
      <p:font typeface="Roboto"/>
      <p:regular r:id="rId78"/>
      <p:bold r:id="rId79"/>
      <p:italic r:id="rId80"/>
      <p:boldItalic r:id="rId81"/>
    </p:embeddedFont>
    <p:embeddedFont>
      <p:font typeface="Quattrocento Sans"/>
      <p:regular r:id="rId82"/>
      <p:bold r:id="rId83"/>
      <p:italic r:id="rId84"/>
      <p:boldItalic r:id="rId85"/>
    </p:embeddedFont>
    <p:embeddedFont>
      <p:font typeface="Arial Black"/>
      <p:regular r:id="rId86"/>
    </p:embeddedFont>
    <p:embeddedFont>
      <p:font typeface="Open Sans"/>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1" roundtripDataSignature="AMtx7mj5203Oyk7yPUZ/e1LV7ZiRsSlo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2F7E8E-643A-43D2-8AC8-B33228A1EF22}">
  <a:tblStyle styleId="{772F7E8E-643A-43D2-8AC8-B33228A1EF22}"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5">
              <a:alpha val="20000"/>
            </a:schemeClr>
          </a:solidFill>
        </a:fill>
      </a:tcStyle>
    </a:band1H>
    <a:band2H>
      <a:tcTxStyle b="off" i="off"/>
    </a:band2H>
    <a:band1V>
      <a:tcTxStyle b="off" i="off"/>
      <a:tcStyle>
        <a:fill>
          <a:solidFill>
            <a:schemeClr val="accent5">
              <a:alpha val="20000"/>
            </a:schemeClr>
          </a:solidFill>
        </a:fill>
      </a:tcStyle>
    </a:band1V>
    <a:band2V>
      <a:tcTxStyle b="off" i="off"/>
    </a:band2V>
    <a:lastCol>
      <a:tcTxStyle b="on" i="off"/>
    </a:lastCol>
    <a:firstCol>
      <a:tcTxStyle b="on" i="off"/>
    </a:firstCol>
    <a:lastRow>
      <a:tcTxStyle b="on" i="off"/>
      <a:tcStyle>
        <a:tcBdr>
          <a:top>
            <a:ln cap="flat" cmpd="sng" w="12700">
              <a:solidFill>
                <a:schemeClr val="accent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chemeClr val="accent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QuattrocentoSans-italic.fntdata"/><Relationship Id="rId83" Type="http://schemas.openxmlformats.org/officeDocument/2006/relationships/font" Target="fonts/QuattrocentoSans-bold.fntdata"/><Relationship Id="rId42" Type="http://schemas.openxmlformats.org/officeDocument/2006/relationships/slide" Target="slides/slide37.xml"/><Relationship Id="rId86" Type="http://schemas.openxmlformats.org/officeDocument/2006/relationships/font" Target="fonts/ArialBlack-regular.fntdata"/><Relationship Id="rId41" Type="http://schemas.openxmlformats.org/officeDocument/2006/relationships/slide" Target="slides/slide36.xml"/><Relationship Id="rId85" Type="http://schemas.openxmlformats.org/officeDocument/2006/relationships/font" Target="fonts/QuattrocentoSans-boldItalic.fntdata"/><Relationship Id="rId44" Type="http://schemas.openxmlformats.org/officeDocument/2006/relationships/slide" Target="slides/slide39.xml"/><Relationship Id="rId88" Type="http://schemas.openxmlformats.org/officeDocument/2006/relationships/font" Target="fonts/OpenSans-bold.fntdata"/><Relationship Id="rId43" Type="http://schemas.openxmlformats.org/officeDocument/2006/relationships/slide" Target="slides/slide38.xml"/><Relationship Id="rId87" Type="http://schemas.openxmlformats.org/officeDocument/2006/relationships/font" Target="fonts/OpenSans-regular.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OpenSans-italic.fntdata"/><Relationship Id="rId80" Type="http://schemas.openxmlformats.org/officeDocument/2006/relationships/font" Target="fonts/Roboto-italic.fntdata"/><Relationship Id="rId82" Type="http://schemas.openxmlformats.org/officeDocument/2006/relationships/font" Target="fonts/QuattrocentoSans-regular.fntdata"/><Relationship Id="rId81"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font" Target="fonts/Roboto-bold.fntdata"/><Relationship Id="rId34" Type="http://schemas.openxmlformats.org/officeDocument/2006/relationships/slide" Target="slides/slide29.xml"/><Relationship Id="rId78" Type="http://schemas.openxmlformats.org/officeDocument/2006/relationships/font" Target="fonts/Roboto-regular.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customschemas.google.com/relationships/presentationmetadata" Target="metadata"/><Relationship Id="rId90" Type="http://schemas.openxmlformats.org/officeDocument/2006/relationships/font" Target="fonts/OpenSans-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Module 1 is an introduction to informatics and working with healthcare data</a:t>
            </a:r>
            <a:endParaRPr/>
          </a:p>
        </p:txBody>
      </p:sp>
      <p:sp>
        <p:nvSpPr>
          <p:cNvPr id="71" name="Google Shape;7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 once asked my radiology residents what came to mind when they heard the word “informatics” and these were their responses. Not surprisingly, the vast majority first thought about data—which is the foundation of the data-information-knowledge-wisdom pyramid that permeates what we do in informatics. </a:t>
            </a:r>
            <a:endParaRPr/>
          </a:p>
        </p:txBody>
      </p:sp>
      <p:sp>
        <p:nvSpPr>
          <p:cNvPr id="98" name="Google Shape;9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According to AMIA, the American Medical Informatics Association, "</a:t>
            </a:r>
            <a:r>
              <a:rPr b="0" i="0" lang="en-US">
                <a:solidFill>
                  <a:srgbClr val="3E4142"/>
                </a:solidFill>
                <a:latin typeface="Roboto"/>
                <a:ea typeface="Roboto"/>
                <a:cs typeface="Roboto"/>
                <a:sym typeface="Roboto"/>
              </a:rPr>
              <a:t>Informatics is the science of how to use data, information and knowledge to improve human health and the delivery of health care services”. It often involves new technology but does not require it, and also depends closely on health IT</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”informatics” and “IT” are often used interchangeably, but refer to very different things.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Informatics:</a:t>
            </a:r>
            <a:endParaRPr/>
          </a:p>
          <a:p>
            <a:pPr indent="0" lvl="0" marL="0" rtl="0" algn="l">
              <a:lnSpc>
                <a:spcPct val="100000"/>
              </a:lnSpc>
              <a:spcBef>
                <a:spcPts val="0"/>
              </a:spcBef>
              <a:spcAft>
                <a:spcPts val="0"/>
              </a:spcAft>
              <a:buSzPts val="1400"/>
              <a:buNone/>
            </a:pPr>
            <a:r>
              <a:rPr lang="en-US">
                <a:solidFill>
                  <a:schemeClr val="dk2"/>
                </a:solidFill>
              </a:rPr>
              <a:t>The practice of information processing and the engineeri ng of information systems. </a:t>
            </a:r>
            <a:endParaRPr/>
          </a:p>
          <a:p>
            <a:pPr indent="0" lvl="0" marL="0" rtl="0" algn="l">
              <a:lnSpc>
                <a:spcPct val="100000"/>
              </a:lnSpc>
              <a:spcBef>
                <a:spcPts val="0"/>
              </a:spcBef>
              <a:spcAft>
                <a:spcPts val="0"/>
              </a:spcAft>
              <a:buSzPts val="1400"/>
              <a:buNone/>
            </a:pPr>
            <a:r>
              <a:rPr lang="en-US">
                <a:solidFill>
                  <a:schemeClr val="dk2"/>
                </a:solidFill>
              </a:rPr>
              <a:t>The field considers </a:t>
            </a:r>
            <a:r>
              <a:rPr lang="en-US">
                <a:solidFill>
                  <a:srgbClr val="323F4F"/>
                </a:solidFill>
              </a:rPr>
              <a:t>the interaction between humans and information</a:t>
            </a:r>
            <a:r>
              <a:rPr lang="en-US">
                <a:solidFill>
                  <a:schemeClr val="dk2"/>
                </a:solidFill>
              </a:rPr>
              <a:t> alongside the construction of interfaces, organizations, technologies and systems.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IT: using computers to work with data &amp; information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two are intimately connected – we could not do informatics without IT! But where and how did the field of informatics, and in particular, biomedical informatics, originate?</a:t>
            </a:r>
            <a:endParaRPr/>
          </a:p>
          <a:p>
            <a:pPr indent="0" lvl="0" marL="0" rtl="0" algn="l">
              <a:lnSpc>
                <a:spcPct val="100000"/>
              </a:lnSpc>
              <a:spcBef>
                <a:spcPts val="0"/>
              </a:spcBef>
              <a:spcAft>
                <a:spcPts val="0"/>
              </a:spcAft>
              <a:buSzPts val="1400"/>
              <a:buNone/>
            </a:pPr>
            <a:r>
              <a:t/>
            </a:r>
            <a:endParaRPr/>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the 1960s, although computing itself was still relatively nascent, people were using it with biomedical and clinical data.Then, in the1970s, this field became defined as “medical computer science”, to reflect the fact that computer science was being applied to medical data. “Biomedical computing” was another description used, but it was rather vague. “Medical information science” was also used, but did not really capture the depth and breadth of the work that was being done. Subsequently, the term “medical informatics” originated from the French word for computer science, “informatique”, particularly because the </a:t>
            </a:r>
            <a:r>
              <a:rPr lang="en-US" u="sng"/>
              <a:t>information</a:t>
            </a:r>
            <a:r>
              <a:rPr lang="en-US" u="none"/>
              <a:t> aspect was realized to be just as important if not more so than the </a:t>
            </a:r>
            <a:r>
              <a:rPr lang="en-US" u="sng"/>
              <a:t>computer</a:t>
            </a:r>
            <a:r>
              <a:rPr lang="en-US" u="none"/>
              <a:t> piece. </a:t>
            </a:r>
            <a:endParaRPr/>
          </a:p>
        </p:txBody>
      </p:sp>
      <p:sp>
        <p:nvSpPr>
          <p:cNvPr id="150" name="Google Shape;1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Medical informatics was felt to be too physician-focused, so the term health informatics was introduced to apply to broader clinical domains and roles, including public health, but not research</a:t>
            </a:r>
            <a:endParaRPr/>
          </a:p>
        </p:txBody>
      </p:sp>
      <p:sp>
        <p:nvSpPr>
          <p:cNvPr id="168" name="Google Shape;16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later years, bioinformatics began to be used to describe the domain of informatics devoted to biology and genetics, including the success of the human genome project. However, this term did not include medical informatics, which was more clinically focused. </a:t>
            </a:r>
            <a:endParaRPr/>
          </a:p>
        </p:txBody>
      </p:sp>
      <p:sp>
        <p:nvSpPr>
          <p:cNvPr id="177" name="Google Shape;1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address this limitation, the term “biomedical informatics” then began to be used to identify the combined domains of medical informatics and bioinformatics. Biomedical informatics covers both the basic science and the applied science aspects of the field. </a:t>
            </a:r>
            <a:endParaRPr/>
          </a:p>
        </p:txBody>
      </p:sp>
      <p:sp>
        <p:nvSpPr>
          <p:cNvPr id="186" name="Google Shape;18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There are many different domains of biomedical informatics, including (list what’s on the slide). These domains overlap and intersect to different degrees. We already discussed bioinformatics, which deals with the information science of biology and genetics. Clinical informatics covers a broad number of areas of healthcare delivery, including (list what’s on slide). Our focus in this course will be imaging informatics, which is a subdomain of clinical informatics. Later in this module, we will discuss how and why imaging informatics and clinical informatics are so closely related.</a:t>
            </a:r>
            <a:endParaRPr/>
          </a:p>
        </p:txBody>
      </p:sp>
      <p:sp>
        <p:nvSpPr>
          <p:cNvPr id="207" name="Google Shape;20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Next, we’re going to talk about imaging informatics, the main focus of this course. Although imaging informatics began in radiology, it has since expanded across many different clinical specialties, including cardiology, dermatology, pathology, ophthalmology, and more. Imaging informatics across a healthcare system is referred to as “enterprise imaging”, which we will discuss in detail in a later module. When I asked PowerPoint to suggest an image for “enterprise imaging”, this is what it came up with. When we discuss artificial intelligence, we’ll talk more about why this might have happened!</a:t>
            </a:r>
            <a:endParaRPr/>
          </a:p>
        </p:txBody>
      </p:sp>
      <p:sp>
        <p:nvSpPr>
          <p:cNvPr id="224" name="Google Shape;2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(from Wikipedia) A subspecialty of </a:t>
            </a:r>
            <a:r>
              <a:rPr lang="en-US">
                <a:solidFill>
                  <a:srgbClr val="FFFF00"/>
                </a:solidFill>
              </a:rPr>
              <a:t>biomedical informatics </a:t>
            </a:r>
            <a:r>
              <a:rPr lang="en-US"/>
              <a:t>that aims to improve the efficiency, accuracy, usability, and reliability of medical imaging services within the healthcare enterprise. Devoted to the study of how information about and contained within </a:t>
            </a:r>
            <a:r>
              <a:rPr lang="en-US">
                <a:solidFill>
                  <a:srgbClr val="FFFF00"/>
                </a:solidFill>
              </a:rPr>
              <a:t>medical images </a:t>
            </a:r>
            <a:r>
              <a:rPr lang="en-US"/>
              <a:t>is retrieved, analyzed, enhanced, and exchanged throughout the medical enterprise.</a:t>
            </a:r>
            <a:endParaRPr/>
          </a:p>
        </p:txBody>
      </p:sp>
      <p:sp>
        <p:nvSpPr>
          <p:cNvPr id="238" name="Google Shape;23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Even though Wikipedia would define imaging informatics to be centered around how medical images are exchanged and used in complex healthcare systems, I would argue that it has to do with so much more than the images themselves. Although pixel-based data is a huge part of imaging informatics, we also generate a lot of non-pixel based data, in the form of  metadata that accompanies the images, measurements of structures on the images, other kinds of quantitative analysis, and text-based interpretations of the images. We also generate data that are reincorporated into the EMR – the electronic medical record. And now with AI, there are postprocessed data that also fall under imaging informatics.</a:t>
            </a:r>
            <a:endParaRPr/>
          </a:p>
        </p:txBody>
      </p:sp>
      <p:sp>
        <p:nvSpPr>
          <p:cNvPr id="253" name="Google Shape;25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There are many informatics specialty societies – some of them are more technical, such as DICOM, HL7, IHE, and MITA, the Medical Imaging and Technology Alliance of manufacturers. There are clinical informatics societies, such as AMIA and HIMSS. And there are imaging societies for the different specialties, radiology, cardiology, pathology, and others, including RSNA, ACR, API, DPA, ISDIS, and more. There are even international societies, such as EuSoMII and KSIIM.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0" i="0" lang="en-US" sz="1200" u="none" strike="noStrike">
                <a:solidFill>
                  <a:schemeClr val="dk1"/>
                </a:solidFill>
                <a:latin typeface="Calibri"/>
                <a:ea typeface="Calibri"/>
                <a:cs typeface="Calibri"/>
                <a:sym typeface="Calibri"/>
              </a:rPr>
              <a:t>The International Society for Digital Imaging of the Skin (ISDIS)</a:t>
            </a:r>
            <a:endParaRPr/>
          </a:p>
          <a:p>
            <a:pPr indent="0" lvl="0" marL="0" rtl="0" algn="l">
              <a:lnSpc>
                <a:spcPct val="100000"/>
              </a:lnSpc>
              <a:spcBef>
                <a:spcPts val="0"/>
              </a:spcBef>
              <a:spcAft>
                <a:spcPts val="0"/>
              </a:spcAft>
              <a:buSzPts val="1400"/>
              <a:buNone/>
            </a:pPr>
            <a:r>
              <a:rPr b="0" i="0" lang="en-US" sz="1200" u="none" strike="noStrike">
                <a:solidFill>
                  <a:schemeClr val="dk1"/>
                </a:solidFill>
                <a:latin typeface="Calibri"/>
                <a:ea typeface="Calibri"/>
                <a:cs typeface="Calibri"/>
                <a:sym typeface="Calibri"/>
              </a:rPr>
              <a:t>International Skin Imaging Collaboration (ISIC)</a:t>
            </a:r>
            <a:endParaRPr/>
          </a:p>
        </p:txBody>
      </p:sp>
      <p:sp>
        <p:nvSpPr>
          <p:cNvPr id="269" name="Google Shape;26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To revisit the birth of the field of imaging informatics, we have to go back in time to the early days of radiology. Radiology is a specialty of medicine focused on diagnosing and treating disease using medical imaging. Types of medical imaging we use today include X-rays, computed tomography (also known as CT scans), magnetic resonance imaging (or MRI), and molecular imaging (that can look at physiologic processes in the body). Imaging informatics began in radiology, because we had more digital data than any other area of medicine. In fact, in the early days of radiology, we actually converted our digital data to analog data so it could be viewed, distributed, and stored! The medium for this was film. </a:t>
            </a:r>
            <a:endParaRPr/>
          </a:p>
          <a:p>
            <a:pPr indent="-228600" lvl="0" marL="457200" marR="0" rtl="0" algn="l">
              <a:lnSpc>
                <a:spcPct val="100000"/>
              </a:lnSpc>
              <a:spcBef>
                <a:spcPts val="0"/>
              </a:spcBef>
              <a:spcAft>
                <a:spcPts val="0"/>
              </a:spcAft>
              <a:buSzPts val="1400"/>
              <a:buNone/>
            </a:pPr>
            <a:r>
              <a:t/>
            </a:r>
            <a:endParaRPr/>
          </a:p>
        </p:txBody>
      </p:sp>
      <p:sp>
        <p:nvSpPr>
          <p:cNvPr id="290" name="Google Shape;290;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Roentgen first discovered X-rays in 1895. Between then and the 1960s, radiology was practiced using X-rays and fluoroscopy (X-rays with multiple image exposures rather than a single exposure). Then, in the 1970s, things changed with the development of CT.</a:t>
            </a:r>
            <a:endParaRPr/>
          </a:p>
          <a:p>
            <a:pPr indent="-228600" lvl="0" marL="457200" marR="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EMI (Electrical and Music Industries, London; recording studio Abbey Road, label for the Beatles); Hounsfield – EE at EMI </a:t>
            </a:r>
            <a:endParaRPr/>
          </a:p>
          <a:p>
            <a:pPr indent="0" lvl="0" marL="0" rtl="0" algn="l">
              <a:lnSpc>
                <a:spcPct val="100000"/>
              </a:lnSpc>
              <a:spcBef>
                <a:spcPts val="0"/>
              </a:spcBef>
              <a:spcAft>
                <a:spcPts val="0"/>
              </a:spcAft>
              <a:buSzPts val="1400"/>
              <a:buNone/>
            </a:pPr>
            <a:r>
              <a:rPr lang="en-US"/>
              <a:t>80x80 matrix, 5 min reconstruction per slice (2 slices?). Patient with frontal lobe tumor, surgeon said it “looked exactly like the image”</a:t>
            </a:r>
            <a:endParaRPr/>
          </a:p>
          <a:p>
            <a:pPr indent="0" lvl="0" marL="0" marR="0" rtl="0" algn="l">
              <a:lnSpc>
                <a:spcPct val="100000"/>
              </a:lnSpc>
              <a:spcBef>
                <a:spcPts val="0"/>
              </a:spcBef>
              <a:spcAft>
                <a:spcPts val="0"/>
              </a:spcAft>
              <a:buClr>
                <a:schemeClr val="dk1"/>
              </a:buClr>
              <a:buSzPts val="1200"/>
              <a:buFont typeface="Calibri"/>
              <a:buNone/>
            </a:pPr>
            <a:r>
              <a:rPr lang="en-US"/>
              <a:t>First body CT in 1975</a:t>
            </a:r>
            <a:endParaRPr/>
          </a:p>
          <a:p>
            <a:pPr indent="0" lvl="0" marL="0" rtl="0" algn="l">
              <a:lnSpc>
                <a:spcPct val="100000"/>
              </a:lnSpc>
              <a:spcBef>
                <a:spcPts val="0"/>
              </a:spcBef>
              <a:spcAft>
                <a:spcPts val="0"/>
              </a:spcAft>
              <a:buSzPts val="1400"/>
              <a:buNone/>
            </a:pPr>
            <a:r>
              <a:t/>
            </a:r>
            <a:endParaRPr/>
          </a:p>
        </p:txBody>
      </p:sp>
      <p:sp>
        <p:nvSpPr>
          <p:cNvPr id="302" name="Google Shape;30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Film, lightbox, alternator</a:t>
            </a:r>
            <a:endParaRPr/>
          </a:p>
          <a:p>
            <a:pPr indent="0" lvl="0" marL="0" rtl="0" algn="l">
              <a:lnSpc>
                <a:spcPct val="100000"/>
              </a:lnSpc>
              <a:spcBef>
                <a:spcPts val="0"/>
              </a:spcBef>
              <a:spcAft>
                <a:spcPts val="0"/>
              </a:spcAft>
              <a:buSzPts val="1400"/>
              <a:buNone/>
            </a:pPr>
            <a:r>
              <a:rPr lang="en-US"/>
              <a:t>No digital data reached the radiologist or was stored for later retrieval and study.</a:t>
            </a:r>
            <a:endParaRPr/>
          </a:p>
        </p:txBody>
      </p:sp>
      <p:sp>
        <p:nvSpPr>
          <p:cNvPr id="314" name="Google Shape;31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earliest mention of what would eventually become PACS came from Dr. Heinz Lemke, a computer scientist working in Germany at the time. He described the idea of a medical workstation as part of a distributed computing network, which would allow people to view images in a separate location from where they were acquired on the imaging equipment.</a:t>
            </a:r>
            <a:endParaRPr/>
          </a:p>
        </p:txBody>
      </p:sp>
      <p:sp>
        <p:nvSpPr>
          <p:cNvPr id="327" name="Google Shape;32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Term coined in 1982 at an SPIE conference</a:t>
            </a:r>
            <a:endParaRPr/>
          </a:p>
          <a:p>
            <a:pPr indent="0" lvl="0" marL="0" rtl="0" algn="l">
              <a:lnSpc>
                <a:spcPct val="100000"/>
              </a:lnSpc>
              <a:spcBef>
                <a:spcPts val="0"/>
              </a:spcBef>
              <a:spcAft>
                <a:spcPts val="0"/>
              </a:spcAft>
              <a:buSzPts val="1400"/>
              <a:buNone/>
            </a:pPr>
            <a:r>
              <a:rPr lang="en-US"/>
              <a:t>Great deal of research in the 1980s-90s</a:t>
            </a:r>
            <a:endParaRPr/>
          </a:p>
          <a:p>
            <a:pPr indent="0" lvl="1" marL="457200" rtl="0" algn="l">
              <a:lnSpc>
                <a:spcPct val="100000"/>
              </a:lnSpc>
              <a:spcBef>
                <a:spcPts val="0"/>
              </a:spcBef>
              <a:spcAft>
                <a:spcPts val="0"/>
              </a:spcAft>
              <a:buSzPts val="1400"/>
              <a:buNone/>
            </a:pPr>
            <a:r>
              <a:rPr lang="en-US"/>
              <a:t>Government investment</a:t>
            </a:r>
            <a:endParaRPr/>
          </a:p>
          <a:p>
            <a:pPr indent="0" lvl="0" marL="0" rtl="0" algn="l">
              <a:lnSpc>
                <a:spcPct val="100000"/>
              </a:lnSpc>
              <a:spcBef>
                <a:spcPts val="0"/>
              </a:spcBef>
              <a:spcAft>
                <a:spcPts val="0"/>
              </a:spcAft>
              <a:buSzPts val="1400"/>
              <a:buNone/>
            </a:pPr>
            <a:r>
              <a:rPr lang="en-US"/>
              <a:t>Considerations of scale</a:t>
            </a:r>
            <a:endParaRPr/>
          </a:p>
          <a:p>
            <a:pPr indent="0" lvl="1" marL="457200" rtl="0" algn="l">
              <a:lnSpc>
                <a:spcPct val="100000"/>
              </a:lnSpc>
              <a:spcBef>
                <a:spcPts val="0"/>
              </a:spcBef>
              <a:spcAft>
                <a:spcPts val="0"/>
              </a:spcAft>
              <a:buSzPts val="1400"/>
              <a:buNone/>
            </a:pPr>
            <a:r>
              <a:rPr lang="en-US"/>
              <a:t>Single modality + viewing station vs. multiple modalities and distributed viewing</a:t>
            </a:r>
            <a:endParaRPr/>
          </a:p>
          <a:p>
            <a:pPr indent="0" lvl="1" marL="457200" rtl="0" algn="l">
              <a:lnSpc>
                <a:spcPct val="100000"/>
              </a:lnSpc>
              <a:spcBef>
                <a:spcPts val="0"/>
              </a:spcBef>
              <a:spcAft>
                <a:spcPts val="0"/>
              </a:spcAft>
              <a:buSzPts val="1400"/>
              <a:buNone/>
            </a:pPr>
            <a:r>
              <a:rPr lang="en-US"/>
              <a:t>Network capacity</a:t>
            </a:r>
            <a:endParaRPr/>
          </a:p>
          <a:p>
            <a:pPr indent="0" lvl="1" marL="457200" rtl="0" algn="l">
              <a:lnSpc>
                <a:spcPct val="100000"/>
              </a:lnSpc>
              <a:spcBef>
                <a:spcPts val="0"/>
              </a:spcBef>
              <a:spcAft>
                <a:spcPts val="0"/>
              </a:spcAft>
              <a:buSzPts val="1400"/>
              <a:buNone/>
            </a:pPr>
            <a:r>
              <a:rPr lang="en-US"/>
              <a:t>Storage capacity</a:t>
            </a:r>
            <a:endParaRPr/>
          </a:p>
          <a:p>
            <a:pPr indent="0" lvl="0" marL="0" rtl="0" algn="l">
              <a:lnSpc>
                <a:spcPct val="100000"/>
              </a:lnSpc>
              <a:spcBef>
                <a:spcPts val="0"/>
              </a:spcBef>
              <a:spcAft>
                <a:spcPts val="0"/>
              </a:spcAft>
              <a:buSzPts val="1400"/>
              <a:buNone/>
            </a:pPr>
            <a:r>
              <a:rPr lang="en-US"/>
              <a:t>Considerations of cost</a:t>
            </a:r>
            <a:endParaRPr/>
          </a:p>
          <a:p>
            <a:pPr indent="0" lvl="1" marL="457200" rtl="0" algn="l">
              <a:lnSpc>
                <a:spcPct val="100000"/>
              </a:lnSpc>
              <a:spcBef>
                <a:spcPts val="0"/>
              </a:spcBef>
              <a:spcAft>
                <a:spcPts val="0"/>
              </a:spcAft>
              <a:buSzPts val="1400"/>
              <a:buNone/>
            </a:pPr>
            <a:r>
              <a:rPr lang="en-US"/>
              <a:t>Was it going to save money? Replace film entirely?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36" name="Google Shape;33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rgbClr val="FFFFFF"/>
              </a:solidFill>
            </a:endParaRPr>
          </a:p>
          <a:p>
            <a:pPr indent="0" lvl="0" marL="0" rtl="0" algn="l">
              <a:lnSpc>
                <a:spcPct val="100000"/>
              </a:lnSpc>
              <a:spcBef>
                <a:spcPts val="0"/>
              </a:spcBef>
              <a:spcAft>
                <a:spcPts val="0"/>
              </a:spcAft>
              <a:buSzPts val="1400"/>
              <a:buNone/>
            </a:pPr>
            <a:r>
              <a:rPr lang="en-US">
                <a:solidFill>
                  <a:srgbClr val="FFFFFF"/>
                </a:solidFill>
              </a:rPr>
              <a:t>Much debate/controversy about cost effectiveness</a:t>
            </a:r>
            <a:endParaRPr/>
          </a:p>
          <a:p>
            <a:pPr indent="0" lvl="0" marL="0" rtl="0" algn="l">
              <a:lnSpc>
                <a:spcPct val="100000"/>
              </a:lnSpc>
              <a:spcBef>
                <a:spcPts val="0"/>
              </a:spcBef>
              <a:spcAft>
                <a:spcPts val="0"/>
              </a:spcAft>
              <a:buSzPts val="1400"/>
              <a:buNone/>
            </a:pPr>
            <a:r>
              <a:rPr lang="en-US">
                <a:solidFill>
                  <a:srgbClr val="FFFFFF"/>
                </a:solidFill>
              </a:rPr>
              <a:t>If you were the head of a radiology department or practice, where would you spend your $$?</a:t>
            </a:r>
            <a:endParaRPr/>
          </a:p>
        </p:txBody>
      </p:sp>
      <p:sp>
        <p:nvSpPr>
          <p:cNvPr id="346" name="Google Shape;34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 computer hardware became cheaper, PACS prices dropped</a:t>
            </a:r>
            <a:endParaRPr/>
          </a:p>
          <a:p>
            <a:pPr indent="0" lvl="0" marL="0" rtl="0" algn="l">
              <a:lnSpc>
                <a:spcPct val="100000"/>
              </a:lnSpc>
              <a:spcBef>
                <a:spcPts val="0"/>
              </a:spcBef>
              <a:spcAft>
                <a:spcPts val="0"/>
              </a:spcAft>
              <a:buSzPts val="1400"/>
              <a:buNone/>
            </a:pPr>
            <a:r>
              <a:rPr lang="en-US"/>
              <a:t>For a while, storage was still expensive</a:t>
            </a:r>
            <a:endParaRPr/>
          </a:p>
          <a:p>
            <a:pPr indent="0" lvl="0" marL="0" rtl="0" algn="l">
              <a:lnSpc>
                <a:spcPct val="100000"/>
              </a:lnSpc>
              <a:spcBef>
                <a:spcPts val="0"/>
              </a:spcBef>
              <a:spcAft>
                <a:spcPts val="0"/>
              </a:spcAft>
              <a:buSzPts val="1400"/>
              <a:buNone/>
            </a:pPr>
            <a:r>
              <a:rPr lang="en-US"/>
              <a:t>Rapid introduction of new and better technology made PACS more accessible</a:t>
            </a:r>
            <a:endParaRPr/>
          </a:p>
          <a:p>
            <a:pPr indent="0" lvl="0" marL="0" rtl="0" algn="l">
              <a:lnSpc>
                <a:spcPct val="100000"/>
              </a:lnSpc>
              <a:spcBef>
                <a:spcPts val="0"/>
              </a:spcBef>
              <a:spcAft>
                <a:spcPts val="0"/>
              </a:spcAft>
              <a:buSzPts val="1400"/>
              <a:buNone/>
            </a:pPr>
            <a:r>
              <a:t/>
            </a:r>
            <a:endParaRPr/>
          </a:p>
        </p:txBody>
      </p:sp>
      <p:sp>
        <p:nvSpPr>
          <p:cNvPr id="353" name="Google Shape;35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Digital Imaging and Communications in Medicine</a:t>
            </a:r>
            <a:endParaRPr/>
          </a:p>
          <a:p>
            <a:pPr indent="0" lvl="0" marL="0" rtl="0" algn="l">
              <a:lnSpc>
                <a:spcPct val="100000"/>
              </a:lnSpc>
              <a:spcBef>
                <a:spcPts val="0"/>
              </a:spcBef>
              <a:spcAft>
                <a:spcPts val="0"/>
              </a:spcAft>
              <a:buSzPts val="1400"/>
              <a:buNone/>
            </a:pPr>
            <a:r>
              <a:rPr lang="en-US"/>
              <a:t>The </a:t>
            </a:r>
            <a:r>
              <a:rPr b="1" lang="en-US">
                <a:solidFill>
                  <a:srgbClr val="003399"/>
                </a:solidFill>
              </a:rPr>
              <a:t>standard</a:t>
            </a:r>
            <a:r>
              <a:rPr lang="en-US"/>
              <a:t> for storage, transfer, display and processing of medical image data</a:t>
            </a:r>
            <a:endParaRPr/>
          </a:p>
          <a:p>
            <a:pPr indent="0" lvl="0" marL="0" rtl="0" algn="l">
              <a:lnSpc>
                <a:spcPct val="100000"/>
              </a:lnSpc>
              <a:spcBef>
                <a:spcPts val="0"/>
              </a:spcBef>
              <a:spcAft>
                <a:spcPts val="0"/>
              </a:spcAft>
              <a:buSzPts val="1400"/>
              <a:buNone/>
            </a:pPr>
            <a:r>
              <a:rPr lang="en-US"/>
              <a:t>Introduced in the early 1990s and continuing to evolve (working groups)</a:t>
            </a:r>
            <a:endParaRPr/>
          </a:p>
        </p:txBody>
      </p:sp>
      <p:sp>
        <p:nvSpPr>
          <p:cNvPr id="362" name="Google Shape;36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Learning imaging informatics is somewhat like learning another language – we have tons of acronyms – these are just a few. They refer to standards, systems, certifications, and technologies that we use in the field. As we go through the course, you’ll learn about each of these—and more--in detail.</a:t>
            </a:r>
            <a:endParaRPr/>
          </a:p>
        </p:txBody>
      </p:sp>
      <p:sp>
        <p:nvSpPr>
          <p:cNvPr id="371" name="Google Shape;37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These touch many clinical specialties, not just radiology. Cards, path, ophtho, derm, and more. In a subsequent lecture, we’ll talk about how and why imaging informatics and clinical informatics are closely connected.</a:t>
            </a:r>
            <a:endParaRPr/>
          </a:p>
        </p:txBody>
      </p:sp>
      <p:sp>
        <p:nvSpPr>
          <p:cNvPr id="408" name="Google Shape;40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Imaging informatics and clinical informatics are very closely related fields, despite their different names. Both exist in the domain of patient care and health. Clinical informatics focuses more on the electronic medical record – the EMR – and optimizing its features and its use for patient care. Imaging informatics focuses more on medical imaging – in fields such as radiology, cardiology, pathology, dermatology, ophthalmology, dentistry and more – and the systems needed to generate, store, view, and transfer those images. However, those systems often need to interface very closely with the EMR, and so imaging informatics deals with those interfaces and with the necessary data. In addition, imaging occurs throughout the clinical enterprise, not just within departments like radiology or cardiology, that might have their own specific workflows. As a result, imaging informatics must also happen within clinical informatics. </a:t>
            </a:r>
            <a:endParaRPr/>
          </a:p>
        </p:txBody>
      </p:sp>
      <p:sp>
        <p:nvSpPr>
          <p:cNvPr id="449" name="Google Shape;449;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a diagram of the IHE Scheduled Workflow Profile. Although there are some paper-based steps in this diagram, in modern healthcare all of these are now electronic transactions. We’ll talk about the transition from paper to digital as well as about IHE, profiles, and technical frameworks in more detail later in the course. But for now, I want you to appreciate how closely clinical informatics and imaging informatics are connected. Scheduled Workflow describes the interoperability of clinical systems such as the HIS (health information system), also known as the EMR, and imaging informatics systems, such as the RIS, PACS, and workstation. </a:t>
            </a:r>
            <a:endParaRPr/>
          </a:p>
        </p:txBody>
      </p:sp>
      <p:sp>
        <p:nvSpPr>
          <p:cNvPr id="465" name="Google Shape;46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For a patient to get an imaging test in radiology, they must first be registered with the imaging facility. That might be a standalone outpatient center or a hospital-based facility. </a:t>
            </a:r>
            <a:endParaRPr/>
          </a:p>
          <a:p>
            <a:pPr indent="-228600" lvl="0" marL="457200" marR="0" rtl="0" algn="l">
              <a:lnSpc>
                <a:spcPct val="100000"/>
              </a:lnSpc>
              <a:spcBef>
                <a:spcPts val="0"/>
              </a:spcBef>
              <a:spcAft>
                <a:spcPts val="0"/>
              </a:spcAft>
              <a:buSzPts val="1400"/>
              <a:buNone/>
            </a:pPr>
            <a:r>
              <a:t/>
            </a:r>
            <a:endParaRPr/>
          </a:p>
        </p:txBody>
      </p:sp>
      <p:sp>
        <p:nvSpPr>
          <p:cNvPr id="473" name="Google Shape;47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Scheduling takes place in the RIS, the radiology information system. This requires the correct patient information and order information to be available from the EMR, so that the patient can be scheduled for the right test at a location that can perform it. </a:t>
            </a:r>
            <a:endParaRPr/>
          </a:p>
        </p:txBody>
      </p:sp>
      <p:sp>
        <p:nvSpPr>
          <p:cNvPr id="481" name="Google Shape;481;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Images are sent to PACS, where they need to be added to the correct patient’s “jacket” (a legacy term from when films from the same patient were kept together in a big folder). The right images should also then be available to the radiologist for interpretation and comparison to prior imaging. Although not represented on this figure, the results and sometimes even the images are now also available directly to patients through the electronic patient portal. </a:t>
            </a:r>
            <a:endParaRPr/>
          </a:p>
        </p:txBody>
      </p:sp>
      <p:sp>
        <p:nvSpPr>
          <p:cNvPr id="489" name="Google Shape;489;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You might not be surprised to learn that clinical informatics has its own alphabet soup of terminology. Thankfully, there is overlap in the terminology between imaging informatics and clinical informatics, given that the two fields are so closely intertwined. Later in the course, we’ll dig into the clinical workflow in more detail and explore the data, systems, and standards that are integral to both fields. We’ll also look more closely at enterprise imaging, which includes imaging across the various departments of a healthcare system, not just within radiology.</a:t>
            </a:r>
            <a:endParaRPr/>
          </a:p>
        </p:txBody>
      </p:sp>
      <p:sp>
        <p:nvSpPr>
          <p:cNvPr id="497" name="Google Shape;497;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7" name="Google Shape;527;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There are many types of data in healthcare, which is another reason why informatics is so important. Broadly, you can think of data as patient data vs. non-patient data, or clinical data vs. research data. But these categories can also overlap with one another in some instances. </a:t>
            </a:r>
            <a:endParaRPr/>
          </a:p>
        </p:txBody>
      </p:sp>
      <p:sp>
        <p:nvSpPr>
          <p:cNvPr id="535" name="Google Shape;535;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Patient data consists of the following (list) </a:t>
            </a:r>
            <a:endParaRPr/>
          </a:p>
          <a:p>
            <a:pPr indent="-228600" lvl="0" marL="457200" marR="0" rtl="0" algn="l">
              <a:lnSpc>
                <a:spcPct val="100000"/>
              </a:lnSpc>
              <a:spcBef>
                <a:spcPts val="0"/>
              </a:spcBef>
              <a:spcAft>
                <a:spcPts val="0"/>
              </a:spcAft>
              <a:buSzPts val="1400"/>
              <a:buNone/>
            </a:pPr>
            <a:r>
              <a:rPr lang="en-US"/>
              <a:t>Notes and documents – office visits, inpatient  or ED progress notes, procedures</a:t>
            </a:r>
            <a:endParaRPr/>
          </a:p>
          <a:p>
            <a:pPr indent="-228600" lvl="0" marL="457200" marR="0" rtl="0" algn="l">
              <a:lnSpc>
                <a:spcPct val="100000"/>
              </a:lnSpc>
              <a:spcBef>
                <a:spcPts val="0"/>
              </a:spcBef>
              <a:spcAft>
                <a:spcPts val="0"/>
              </a:spcAft>
              <a:buSzPts val="1400"/>
              <a:buNone/>
            </a:pPr>
            <a:r>
              <a:rPr lang="en-US"/>
              <a:t>Administrative data belong to both patients as well as the system at large – at the patient level, these include appointment information and insurance and billing data</a:t>
            </a:r>
            <a:endParaRPr/>
          </a:p>
        </p:txBody>
      </p:sp>
      <p:sp>
        <p:nvSpPr>
          <p:cNvPr id="552" name="Google Shape;552;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There are many types of non-patient data (list).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Think of these data as the data necessary for the “business of healthcare”. This is usually collected at an organizational level, whether it’s for a particular department within a hospital, a particular hospital within a health system, or for the entire system consisting of multiple hospitals and sites. Although this data is typically used to optimize processes, it can still ultimately improve patient access and patient experience.</a:t>
            </a:r>
            <a:endParaRPr/>
          </a:p>
        </p:txBody>
      </p:sp>
      <p:sp>
        <p:nvSpPr>
          <p:cNvPr id="560" name="Google Shape;560;p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Settings – inpatient, outpatient, emergency room, urgent care, standalone facility (PT, rehab, etc.)</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This is typically data stored in the electronic medical record – also known as the EMR – that is collected while patients are being taken care of. </a:t>
            </a:r>
            <a:endParaRPr/>
          </a:p>
        </p:txBody>
      </p:sp>
      <p:sp>
        <p:nvSpPr>
          <p:cNvPr id="568" name="Google Shape;568;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One important nuance here is that clinical data can become research data, but that the latter is rarely the case. Particularly in imaging, data acquired for research may include experimental methods and techniques that are not yet ready for prime time, and potentially collected in very closely controlled scenarios intended to answer a specific research question. To turn around and use these data for patient care may not be appropriate as the techniques may not be ready for prime time. If suspicious findings are discovered during acquisition for research data, research participants are usually referred to their primary care provider or connected with a clinician that can provide the appropriate follow-up.</a:t>
            </a:r>
            <a:endParaRPr/>
          </a:p>
        </p:txBody>
      </p:sp>
      <p:sp>
        <p:nvSpPr>
          <p:cNvPr id="575" name="Google Shape;575;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PHI is an acronym often confused with PII. So what is PII – personally identifiable information – versus PHI – protected health information?</a:t>
            </a:r>
            <a:endParaRPr/>
          </a:p>
        </p:txBody>
      </p:sp>
      <p:sp>
        <p:nvSpPr>
          <p:cNvPr id="582" name="Google Shape;58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In a future lecture we’ll talk more about regulations such as HIPAA in the US and others elsewhere in the world that apply to PHI</a:t>
            </a:r>
            <a:endParaRPr/>
          </a:p>
        </p:txBody>
      </p:sp>
      <p:sp>
        <p:nvSpPr>
          <p:cNvPr id="594" name="Google Shape;594;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In a prior lecture, we chatted briefly about HIPAA, legislation in the US that protects patients’ healthcare data. In this lecture we’ll elaborate on the different components of HIPAA and how they impact healthcare from the informatics standpoint. We’ll also discuss other US regulations and some international regulations that impact what can be done with patient data.</a:t>
            </a:r>
            <a:endParaRPr/>
          </a:p>
        </p:txBody>
      </p:sp>
      <p:sp>
        <p:nvSpPr>
          <p:cNvPr id="609" name="Google Shape;609;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Limited dataset – excludes direct patient identifiers but can retain dates, zip codes, city/state, other non-direct identifiers</a:t>
            </a:r>
            <a:endParaRPr/>
          </a:p>
          <a:p>
            <a:pPr indent="-228600" lvl="0" marL="457200" marR="0" rtl="0" algn="l">
              <a:lnSpc>
                <a:spcPct val="100000"/>
              </a:lnSpc>
              <a:spcBef>
                <a:spcPts val="0"/>
              </a:spcBef>
              <a:spcAft>
                <a:spcPts val="0"/>
              </a:spcAft>
              <a:buSzPts val="1400"/>
              <a:buNone/>
            </a:pPr>
            <a:r>
              <a:rPr lang="en-US"/>
              <a:t>Sharing limited dataset requires DUA, which we’ll talk more about in another lecture</a:t>
            </a:r>
            <a:endParaRPr/>
          </a:p>
        </p:txBody>
      </p:sp>
      <p:sp>
        <p:nvSpPr>
          <p:cNvPr id="616" name="Google Shape;616;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Multiple components including privacy and security rules</a:t>
            </a:r>
            <a:endParaRPr/>
          </a:p>
          <a:p>
            <a:pPr indent="-228600" lvl="0" marL="457200" marR="0" rtl="0" algn="l">
              <a:lnSpc>
                <a:spcPct val="100000"/>
              </a:lnSpc>
              <a:spcBef>
                <a:spcPts val="0"/>
              </a:spcBef>
              <a:spcAft>
                <a:spcPts val="0"/>
              </a:spcAft>
              <a:buSzPts val="1400"/>
              <a:buNone/>
            </a:pPr>
            <a:r>
              <a:rPr lang="en-US"/>
              <a:t>There are four tiers of HIPAA violations of HIPAA should be reported as breach notifications – to the affected individuals, the media, and the Secretary of HHS, within a certain period of time. Depending on how many patients are affected, the notification requirements are different. There are also financial penalties for each violation that are higher for the higher tiers.</a:t>
            </a:r>
            <a:endParaRPr/>
          </a:p>
          <a:p>
            <a:pPr indent="-228600" lvl="0" marL="457200" marR="0" rtl="0" algn="l">
              <a:lnSpc>
                <a:spcPct val="100000"/>
              </a:lnSpc>
              <a:spcBef>
                <a:spcPts val="0"/>
              </a:spcBef>
              <a:spcAft>
                <a:spcPts val="0"/>
              </a:spcAft>
              <a:buSzPts val="1400"/>
              <a:buNone/>
            </a:pPr>
            <a:r>
              <a:t/>
            </a:r>
            <a:endParaRPr/>
          </a:p>
        </p:txBody>
      </p:sp>
      <p:sp>
        <p:nvSpPr>
          <p:cNvPr id="627" name="Google Shape;627;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a:solidFill>
                  <a:srgbClr val="1B1B1B"/>
                </a:solidFill>
                <a:latin typeface="Arial"/>
                <a:ea typeface="Arial"/>
                <a:cs typeface="Arial"/>
                <a:sym typeface="Arial"/>
              </a:rPr>
              <a:t>The Security Rule requires appropriate administrative, physical and technical safeguards to ensure the confidentiality, integrity, and availability of electronic PHI</a:t>
            </a:r>
            <a:endParaRPr/>
          </a:p>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a:p>
            <a:pPr indent="-228600" lvl="0" marL="457200" marR="0" rtl="0" algn="l">
              <a:lnSpc>
                <a:spcPct val="100000"/>
              </a:lnSpc>
              <a:spcBef>
                <a:spcPts val="0"/>
              </a:spcBef>
              <a:spcAft>
                <a:spcPts val="0"/>
              </a:spcAft>
              <a:buSzPts val="1400"/>
              <a:buNone/>
            </a:pPr>
            <a:r>
              <a:rPr lang="en-US">
                <a:latin typeface="Arial"/>
                <a:ea typeface="Arial"/>
                <a:cs typeface="Arial"/>
                <a:sym typeface="Arial"/>
              </a:rPr>
              <a:t>Network – firewalls, intrusion detection systems, audit trails, network access control, VPNs</a:t>
            </a:r>
            <a:endParaRPr/>
          </a:p>
          <a:p>
            <a:pPr indent="-228600" lvl="0" marL="457200" marR="0" rtl="0" algn="l">
              <a:lnSpc>
                <a:spcPct val="100000"/>
              </a:lnSpc>
              <a:spcBef>
                <a:spcPts val="0"/>
              </a:spcBef>
              <a:spcAft>
                <a:spcPts val="0"/>
              </a:spcAft>
              <a:buSzPts val="1400"/>
              <a:buNone/>
            </a:pPr>
            <a:r>
              <a:rPr lang="en-US">
                <a:latin typeface="Arial"/>
                <a:ea typeface="Arial"/>
                <a:cs typeface="Arial"/>
                <a:sym typeface="Arial"/>
              </a:rPr>
              <a:t>Systems – authentication, access logs, antivirus, firewalls, encryption</a:t>
            </a:r>
            <a:endParaRPr/>
          </a:p>
          <a:p>
            <a:pPr indent="-228600" lvl="0" marL="457200" marR="0" rtl="0" algn="l">
              <a:lnSpc>
                <a:spcPct val="100000"/>
              </a:lnSpc>
              <a:spcBef>
                <a:spcPts val="0"/>
              </a:spcBef>
              <a:spcAft>
                <a:spcPts val="0"/>
              </a:spcAft>
              <a:buSzPts val="1400"/>
              <a:buNone/>
            </a:pPr>
            <a:r>
              <a:t/>
            </a:r>
            <a:endParaRPr>
              <a:latin typeface="Arial"/>
              <a:ea typeface="Arial"/>
              <a:cs typeface="Arial"/>
              <a:sym typeface="Arial"/>
            </a:endParaRPr>
          </a:p>
        </p:txBody>
      </p:sp>
      <p:sp>
        <p:nvSpPr>
          <p:cNvPr id="658" name="Google Shape;658;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a:solidFill>
                  <a:srgbClr val="1B1B1B"/>
                </a:solidFill>
                <a:latin typeface="Arial"/>
                <a:ea typeface="Arial"/>
                <a:cs typeface="Arial"/>
                <a:sym typeface="Arial"/>
              </a:rPr>
              <a:t>The confidentiality, integrity, and availability of electronic PHI – what does that mean?</a:t>
            </a:r>
            <a:endParaRPr>
              <a:latin typeface="Arial"/>
              <a:ea typeface="Arial"/>
              <a:cs typeface="Arial"/>
              <a:sym typeface="Arial"/>
            </a:endParaRPr>
          </a:p>
        </p:txBody>
      </p:sp>
      <p:sp>
        <p:nvSpPr>
          <p:cNvPr id="678" name="Google Shape;678;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HITECH promotes the use of health IT but also reinforced some aspects of HIPAA, notably that business associates also had to comply with the HIPAA Privacy Rule, just like covered entities (i.e., healthcare providers and organizations). It also increased penalties for HIPAA violations and prohibited sales of PHI without written authorization.</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The major program that resulted from the HITECH Act was something called Meaningful Use. It incentivized healthcare providers and organizations to convert from paper based records to an electronic medical record. The long term goal was to improve population health by being able to collect large quantities of electronic data to analyze. Although there were some hiccups along the way, and EMRs are in no way perfect, down the road this has enabled patient portals and health information exchanges to be developed also. Patients can now have more direct access to their health information, and organizations who participate in HIEs can potentially more effectively share information about the patients they have in common. This decreases unnecessary overutilization of healthcare resources by repeating tests that have been done elsewhere because results are not available.</a:t>
            </a:r>
            <a:endParaRPr/>
          </a:p>
        </p:txBody>
      </p:sp>
      <p:sp>
        <p:nvSpPr>
          <p:cNvPr id="698" name="Google Shape;698;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1200"/>
              <a:t>Rules related to the processing, free movement, and protection of personal data belong to those in the EU – regardless of whether the data itself resides within the EU.</a:t>
            </a:r>
            <a:endParaRPr/>
          </a:p>
          <a:p>
            <a:pPr indent="-228600" lvl="0" marL="457200" marR="0" rtl="0" algn="l">
              <a:lnSpc>
                <a:spcPct val="100000"/>
              </a:lnSpc>
              <a:spcBef>
                <a:spcPts val="0"/>
              </a:spcBef>
              <a:spcAft>
                <a:spcPts val="0"/>
              </a:spcAft>
              <a:buClr>
                <a:srgbClr val="000000"/>
              </a:buClr>
              <a:buSzPts val="1400"/>
              <a:buFont typeface="Arial"/>
              <a:buNone/>
            </a:pPr>
            <a:r>
              <a:rPr lang="en-US" sz="1200"/>
              <a:t>Applies to all personal data – not just healthcare data</a:t>
            </a:r>
            <a:endParaRPr/>
          </a:p>
          <a:p>
            <a:pPr indent="-228600" lvl="0" marL="457200" marR="0" rtl="0" algn="l">
              <a:lnSpc>
                <a:spcPct val="100000"/>
              </a:lnSpc>
              <a:spcBef>
                <a:spcPts val="0"/>
              </a:spcBef>
              <a:spcAft>
                <a:spcPts val="0"/>
              </a:spcAft>
              <a:buClr>
                <a:srgbClr val="000000"/>
              </a:buClr>
              <a:buSzPts val="1400"/>
              <a:buFont typeface="Arial"/>
              <a:buNone/>
            </a:pPr>
            <a:r>
              <a:rPr lang="en-US" sz="1200"/>
              <a:t>Required companies and organizations—including scientific journals and professional organizations—to change policies when it went into effect in 2018</a:t>
            </a:r>
            <a:endParaRPr/>
          </a:p>
          <a:p>
            <a:pPr indent="-228600" lvl="0" marL="457200" marR="0" rtl="0" algn="l">
              <a:lnSpc>
                <a:spcPct val="100000"/>
              </a:lnSpc>
              <a:spcBef>
                <a:spcPts val="0"/>
              </a:spcBef>
              <a:spcAft>
                <a:spcPts val="0"/>
              </a:spcAft>
              <a:buSzPts val="1400"/>
              <a:buNone/>
            </a:pPr>
            <a:r>
              <a:rPr lang="en-US"/>
              <a:t>Unique “right to be forgotten” which has interesting implications – </a:t>
            </a:r>
            <a:endParaRPr/>
          </a:p>
        </p:txBody>
      </p:sp>
      <p:sp>
        <p:nvSpPr>
          <p:cNvPr id="707" name="Google Shape;707;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Given everything we’ve talked about so far, you might be wondering: who owns patient data? The answer depends on where you’re standing when you ask the question.</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US: performing entity</a:t>
            </a:r>
            <a:endParaRPr/>
          </a:p>
          <a:p>
            <a:pPr indent="-228600" lvl="0" marL="457200" marR="0" rtl="0" algn="l">
              <a:lnSpc>
                <a:spcPct val="100000"/>
              </a:lnSpc>
              <a:spcBef>
                <a:spcPts val="0"/>
              </a:spcBef>
              <a:spcAft>
                <a:spcPts val="0"/>
              </a:spcAft>
              <a:buSzPts val="1400"/>
              <a:buNone/>
            </a:pPr>
            <a:r>
              <a:rPr lang="en-US"/>
              <a:t>EU: patients (GDPR—consent to use)</a:t>
            </a:r>
            <a:endParaRPr/>
          </a:p>
          <a:p>
            <a:pPr indent="-228600" lvl="0" marL="457200" marR="0" rtl="0" algn="l">
              <a:lnSpc>
                <a:spcPct val="100000"/>
              </a:lnSpc>
              <a:spcBef>
                <a:spcPts val="0"/>
              </a:spcBef>
              <a:spcAft>
                <a:spcPts val="0"/>
              </a:spcAft>
              <a:buSzPts val="1400"/>
              <a:buNone/>
            </a:pPr>
            <a:r>
              <a:rPr lang="en-US"/>
              <a:t>Canada: performing entity (with provincial variation)</a:t>
            </a:r>
            <a:endParaRPr/>
          </a:p>
          <a:p>
            <a:pPr indent="-228600" lvl="0" marL="457200" marR="0" rtl="0" algn="l">
              <a:lnSpc>
                <a:spcPct val="100000"/>
              </a:lnSpc>
              <a:spcBef>
                <a:spcPts val="0"/>
              </a:spcBef>
              <a:spcAft>
                <a:spcPts val="0"/>
              </a:spcAft>
              <a:buSzPts val="1400"/>
              <a:buNone/>
            </a:pPr>
            <a:r>
              <a:t/>
            </a:r>
            <a:endParaRPr/>
          </a:p>
        </p:txBody>
      </p:sp>
      <p:sp>
        <p:nvSpPr>
          <p:cNvPr id="716" name="Google Shape;716;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There is no federal law that addresses the question of who owns patient data. Some states have laws – e.g. NH states that patients own the </a:t>
            </a:r>
            <a:r>
              <a:rPr lang="en-US" u="sng"/>
              <a:t>information</a:t>
            </a:r>
            <a:r>
              <a:rPr lang="en-US" u="none"/>
              <a:t> in the record. 20 other states clearly say that the healthcare provider owns the record. And the rest don’t say anything. However, HIPAA does give patients the right to privacy and security of their information and access to it. </a:t>
            </a:r>
            <a:endParaRPr/>
          </a:p>
        </p:txBody>
      </p:sp>
      <p:sp>
        <p:nvSpPr>
          <p:cNvPr id="730" name="Google Shape;730;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u="none"/>
              <a:t>Although legally patients are required to be able to access their records, in practice it is sometimes not easy. More recent legislation has underlined this right and also required that healthcare organizations make it as easy as possible for patients to access their information electronically. &lt;talk about 2st CC&gt; We’ll talk more about the implications of the 21</a:t>
            </a:r>
            <a:r>
              <a:rPr baseline="30000" lang="en-US" u="none"/>
              <a:t>st</a:t>
            </a:r>
            <a:r>
              <a:rPr lang="en-US" u="none"/>
              <a:t> Century Cures Act later in the course.</a:t>
            </a:r>
            <a:endParaRPr/>
          </a:p>
          <a:p>
            <a:pPr indent="-228600" lvl="0" marL="457200" marR="0" rtl="0" algn="l">
              <a:lnSpc>
                <a:spcPct val="100000"/>
              </a:lnSpc>
              <a:spcBef>
                <a:spcPts val="0"/>
              </a:spcBef>
              <a:spcAft>
                <a:spcPts val="0"/>
              </a:spcAft>
              <a:buSzPts val="1400"/>
              <a:buNone/>
            </a:pPr>
            <a:r>
              <a:t/>
            </a:r>
            <a:endParaRPr/>
          </a:p>
        </p:txBody>
      </p:sp>
      <p:sp>
        <p:nvSpPr>
          <p:cNvPr id="739" name="Google Shape;739;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7" name="Google Shape;747;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Patient data consists of the following (list) </a:t>
            </a:r>
            <a:endParaRPr/>
          </a:p>
          <a:p>
            <a:pPr indent="-228600" lvl="0" marL="457200" marR="0" rtl="0" algn="l">
              <a:lnSpc>
                <a:spcPct val="100000"/>
              </a:lnSpc>
              <a:spcBef>
                <a:spcPts val="0"/>
              </a:spcBef>
              <a:spcAft>
                <a:spcPts val="0"/>
              </a:spcAft>
              <a:buSzPts val="1400"/>
              <a:buNone/>
            </a:pPr>
            <a:r>
              <a:rPr lang="en-US"/>
              <a:t>Notes and documents – office visits, inpatient  or ED progress notes, procedures</a:t>
            </a:r>
            <a:endParaRPr/>
          </a:p>
          <a:p>
            <a:pPr indent="-228600" lvl="0" marL="457200" marR="0" rtl="0" algn="l">
              <a:lnSpc>
                <a:spcPct val="100000"/>
              </a:lnSpc>
              <a:spcBef>
                <a:spcPts val="0"/>
              </a:spcBef>
              <a:spcAft>
                <a:spcPts val="0"/>
              </a:spcAft>
              <a:buSzPts val="1400"/>
              <a:buNone/>
            </a:pPr>
            <a:r>
              <a:rPr lang="en-US"/>
              <a:t>Administrative data belong to both patients as well as the system at large – at the patient level, these include appointment information and insurance and billing data</a:t>
            </a:r>
            <a:endParaRPr/>
          </a:p>
        </p:txBody>
      </p:sp>
      <p:sp>
        <p:nvSpPr>
          <p:cNvPr id="755" name="Google Shape;755;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Sources of data</a:t>
            </a:r>
            <a:endParaRPr/>
          </a:p>
          <a:p>
            <a:pPr indent="-228600" lvl="1" marL="914400" rtl="0" algn="l">
              <a:lnSpc>
                <a:spcPct val="100000"/>
              </a:lnSpc>
              <a:spcBef>
                <a:spcPts val="0"/>
              </a:spcBef>
              <a:spcAft>
                <a:spcPts val="0"/>
              </a:spcAft>
              <a:buSzPts val="1400"/>
              <a:buNone/>
            </a:pPr>
            <a:r>
              <a:rPr lang="en-US"/>
              <a:t>Imaging facility</a:t>
            </a:r>
            <a:endParaRPr/>
          </a:p>
          <a:p>
            <a:pPr indent="-228600" lvl="1" marL="914400" rtl="0" algn="l">
              <a:lnSpc>
                <a:spcPct val="100000"/>
              </a:lnSpc>
              <a:spcBef>
                <a:spcPts val="0"/>
              </a:spcBef>
              <a:spcAft>
                <a:spcPts val="0"/>
              </a:spcAft>
              <a:buSzPts val="1400"/>
              <a:buNone/>
            </a:pPr>
            <a:r>
              <a:rPr lang="en-US"/>
              <a:t>Patient (crowdsourcing vs. individual transactions)</a:t>
            </a:r>
            <a:endParaRPr/>
          </a:p>
          <a:p>
            <a:pPr indent="0" lvl="1" marL="45720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Destinations for data</a:t>
            </a:r>
            <a:endParaRPr/>
          </a:p>
          <a:p>
            <a:pPr indent="-228600" lvl="1" marL="914400" rtl="0" algn="l">
              <a:lnSpc>
                <a:spcPct val="100000"/>
              </a:lnSpc>
              <a:spcBef>
                <a:spcPts val="0"/>
              </a:spcBef>
              <a:spcAft>
                <a:spcPts val="0"/>
              </a:spcAft>
              <a:buSzPts val="1400"/>
              <a:buNone/>
            </a:pPr>
            <a:r>
              <a:rPr lang="en-US"/>
              <a:t>Researcher</a:t>
            </a:r>
            <a:endParaRPr/>
          </a:p>
          <a:p>
            <a:pPr indent="-228600" lvl="1" marL="914400" rtl="0" algn="l">
              <a:lnSpc>
                <a:spcPct val="100000"/>
              </a:lnSpc>
              <a:spcBef>
                <a:spcPts val="0"/>
              </a:spcBef>
              <a:spcAft>
                <a:spcPts val="0"/>
              </a:spcAft>
              <a:buSzPts val="1400"/>
              <a:buNone/>
            </a:pPr>
            <a:r>
              <a:rPr lang="en-US"/>
              <a:t>Registry (including open-access data based on funding)</a:t>
            </a:r>
            <a:endParaRPr/>
          </a:p>
          <a:p>
            <a:pPr indent="-228600" lvl="1" marL="914400" rtl="0" algn="l">
              <a:lnSpc>
                <a:spcPct val="100000"/>
              </a:lnSpc>
              <a:spcBef>
                <a:spcPts val="0"/>
              </a:spcBef>
              <a:spcAft>
                <a:spcPts val="0"/>
              </a:spcAft>
              <a:buSzPts val="1400"/>
              <a:buNone/>
            </a:pPr>
            <a:r>
              <a:rPr lang="en-US"/>
              <a:t>Vendor</a:t>
            </a:r>
            <a:endParaRPr/>
          </a:p>
          <a:p>
            <a:pPr indent="-228600" lvl="0" marL="457200" marR="0" rtl="0" algn="l">
              <a:lnSpc>
                <a:spcPct val="100000"/>
              </a:lnSpc>
              <a:spcBef>
                <a:spcPts val="0"/>
              </a:spcBef>
              <a:spcAft>
                <a:spcPts val="0"/>
              </a:spcAft>
              <a:buSzPts val="1400"/>
              <a:buNone/>
            </a:pPr>
            <a:r>
              <a:t/>
            </a:r>
            <a:endParaRPr/>
          </a:p>
        </p:txBody>
      </p:sp>
      <p:sp>
        <p:nvSpPr>
          <p:cNvPr id="763" name="Google Shape;763;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From a security standpoint, this pretty much runs the gamut from pretty sure (nothing is 100%) to “are you sure that’s a good idea?”</a:t>
            </a:r>
            <a:endParaRPr/>
          </a:p>
        </p:txBody>
      </p:sp>
      <p:sp>
        <p:nvSpPr>
          <p:cNvPr id="799" name="Google Shape;799;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0" name="Google Shape;820;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IRB is based on 45 CFR 46, designed to ensure that research on human subjects, whether prospective or retrospective, interventional or not, only on data or actually on patients, is safe and appropriate and conducted with rigor and appropriate ethics. The members of the IRB are usually physicians and scientists at the same organization.</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BAA typically between vendor and hospital/health system/facility that has purchased vendor’s product to use when caring for patients. For example, in radiology, we have a BAA with the vendor that supplies our PACS, because they are able to access PHI when we use their product.</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DUAs are specifically for research. They specify what kinds of data will be exchanged, by whom, and when/how the data will be destroyed once the research is concluded.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Unlike the IRB, BAAs and DUAs are legal documents approved and signed by lawyers representing both parties.</a:t>
            </a:r>
            <a:endParaRPr/>
          </a:p>
        </p:txBody>
      </p:sp>
      <p:sp>
        <p:nvSpPr>
          <p:cNvPr id="821" name="Google Shape;821;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 name="Google Shape;839;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Consent for data to be used de-identified for R&amp;D, e.g. at start of treatment</a:t>
            </a:r>
            <a:endParaRPr/>
          </a:p>
          <a:p>
            <a:pPr indent="-228600" lvl="0" marL="457200" marR="0" rtl="0" algn="l">
              <a:lnSpc>
                <a:spcPct val="100000"/>
              </a:lnSpc>
              <a:spcBef>
                <a:spcPts val="0"/>
              </a:spcBef>
              <a:spcAft>
                <a:spcPts val="0"/>
              </a:spcAft>
              <a:buSzPts val="1400"/>
              <a:buNone/>
            </a:pPr>
            <a:r>
              <a:rPr lang="en-US"/>
              <a:t>Waiver of consent for de-identified data (currently the norm for many IRBs; should patients still be notified?)</a:t>
            </a:r>
            <a:endParaRPr/>
          </a:p>
        </p:txBody>
      </p:sp>
      <p:sp>
        <p:nvSpPr>
          <p:cNvPr id="840" name="Google Shape;840;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7" name="Google Shape;847;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5" name="Google Shape;855;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De-identification of data is tricky</a:t>
            </a:r>
            <a:endParaRPr/>
          </a:p>
        </p:txBody>
      </p:sp>
      <p:sp>
        <p:nvSpPr>
          <p:cNvPr id="856" name="Google Shape;856;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HIPAA privacy rule offers two options. We previously talked about the 18 safe harbor identifiers specified by HIPAA. But there are far more well tested DICOM de-id tools out there for images than there are for reports. EMR tools work fairly well and there are a number of them.</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But what about data that aren’t expected – patients’ clothing, jewelry, faces? De-id is always more complex than you might think.</a:t>
            </a:r>
            <a:endParaRPr/>
          </a:p>
        </p:txBody>
      </p:sp>
      <p:sp>
        <p:nvSpPr>
          <p:cNvPr id="865" name="Google Shape;865;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There are different tools that exist for different types of medical data. Even though medical notes and radiology reports are both text, tools that work well on medical notes do not always work well on radiology reports, and vice versa. This is because PHI occurs at different frequencies in the different types of data. Similarly, there are many tools available for de-identification of DICOM images. They primarily work on the headers of the DICOM images, which is where the PHI are stored. They would not work on images such as photographs of rashes or digital pathology slides, because the image formats are very different. This is why de-identification of medical data becomes so challenging and why sharing of medical data should be done carefully.</a:t>
            </a:r>
            <a:endParaRPr/>
          </a:p>
        </p:txBody>
      </p:sp>
      <p:sp>
        <p:nvSpPr>
          <p:cNvPr id="896" name="Google Shape;896;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2" name="Google Shape;912;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US" sz="1200">
                <a:solidFill>
                  <a:srgbClr val="000000"/>
                </a:solidFill>
              </a:rPr>
              <a:t>Industries—including healthcare—realized early on that the secret to good AI was good training data. But healthcare data is not easy to get. This created an unexpected economy because in order to develop good products, companies had to acquire good data. This created a new commodity in the form of good data with which to train healthcare AI. But what does good mean? </a:t>
            </a:r>
            <a:endParaRPr/>
          </a:p>
          <a:p>
            <a:pPr indent="-228600" lvl="1" marL="914400" rtl="0" algn="l">
              <a:lnSpc>
                <a:spcPct val="100000"/>
              </a:lnSpc>
              <a:spcBef>
                <a:spcPts val="0"/>
              </a:spcBef>
              <a:spcAft>
                <a:spcPts val="0"/>
              </a:spcAft>
              <a:buSzPts val="1400"/>
              <a:buNone/>
            </a:pPr>
            <a:r>
              <a:t/>
            </a:r>
            <a:endParaRPr sz="1200">
              <a:solidFill>
                <a:srgbClr val="000000"/>
              </a:solidFill>
            </a:endParaRPr>
          </a:p>
          <a:p>
            <a:pPr indent="-228600" lvl="0" marL="457200" rtl="0" algn="l">
              <a:lnSpc>
                <a:spcPct val="100000"/>
              </a:lnSpc>
              <a:spcBef>
                <a:spcPts val="0"/>
              </a:spcBef>
              <a:spcAft>
                <a:spcPts val="0"/>
              </a:spcAft>
              <a:buSzPts val="1400"/>
              <a:buNone/>
            </a:pPr>
            <a:r>
              <a:rPr lang="en-US" sz="1200">
                <a:solidFill>
                  <a:srgbClr val="000000"/>
                </a:solidFill>
              </a:rPr>
              <a:t>Good = </a:t>
            </a:r>
            <a:r>
              <a:rPr lang="en-US" sz="3200">
                <a:solidFill>
                  <a:srgbClr val="000000"/>
                </a:solidFill>
              </a:rPr>
              <a:t>Robust, Annotated, Curated</a:t>
            </a:r>
            <a:endParaRPr/>
          </a:p>
          <a:p>
            <a:pPr indent="-228600" lvl="0" marL="457200" marR="0" rtl="0" algn="l">
              <a:lnSpc>
                <a:spcPct val="100000"/>
              </a:lnSpc>
              <a:spcBef>
                <a:spcPts val="0"/>
              </a:spcBef>
              <a:spcAft>
                <a:spcPts val="0"/>
              </a:spcAft>
              <a:buSzPts val="1400"/>
              <a:buNone/>
            </a:pPr>
            <a:r>
              <a:rPr lang="en-US" sz="1200">
                <a:solidFill>
                  <a:srgbClr val="000000"/>
                </a:solidFill>
              </a:rPr>
              <a:t> </a:t>
            </a:r>
            <a:endParaRPr/>
          </a:p>
          <a:p>
            <a:pPr indent="-228600" lvl="0" marL="457200" marR="0" rtl="0" algn="l">
              <a:lnSpc>
                <a:spcPct val="100000"/>
              </a:lnSpc>
              <a:spcBef>
                <a:spcPts val="0"/>
              </a:spcBef>
              <a:spcAft>
                <a:spcPts val="0"/>
              </a:spcAft>
              <a:buSzPts val="1400"/>
              <a:buNone/>
            </a:pPr>
            <a:r>
              <a:rPr lang="en-US" sz="1200">
                <a:solidFill>
                  <a:srgbClr val="000000"/>
                </a:solidFill>
              </a:rPr>
              <a:t>But good data cannot be generated for free (labeling and curating are “expensive”),. So the field is now focused on creative and automated ways to label data.</a:t>
            </a:r>
            <a:endParaRPr/>
          </a:p>
        </p:txBody>
      </p:sp>
      <p:sp>
        <p:nvSpPr>
          <p:cNvPr id="920" name="Google Shape;920;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Not just lip service to get IRB approval </a:t>
            </a:r>
            <a:endParaRPr/>
          </a:p>
        </p:txBody>
      </p:sp>
      <p:sp>
        <p:nvSpPr>
          <p:cNvPr id="929" name="Google Shape;929;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The comments in this paper from the Canadian Association of Radiologists journal aligns with comments and feedback from patient advocates within the American College of Radiology. &lt;go through each item&gt;</a:t>
            </a:r>
            <a:endParaRPr/>
          </a:p>
        </p:txBody>
      </p:sp>
      <p:sp>
        <p:nvSpPr>
          <p:cNvPr id="937" name="Google Shape;937;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29335dad1c5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29335dad1c5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g29335dad1c5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9" name="Google Shape;969;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Most healthcare facilities require that patients sign a generic consent for treatment . At academic medical centers such as Penn, the consent broadly covers use of patients’ data for clinical care, research, and teaching. It does not specify whether or not data might be used for commercial purposes. In a provocative issue of the Journal of the American College of Radiology a few years ago, some colleagues and I proposed a more specific consent process that might better empower patients to have a say in how their data is used. Admittedly this is only a prototype but it gives patients the opportunity to specify how and when their data could be used. Even when patients generically consent for reuse of their data, we should be responsible in how—and how much—data we use for research, development, and innovation.</a:t>
            </a:r>
            <a:endParaRPr/>
          </a:p>
        </p:txBody>
      </p:sp>
      <p:sp>
        <p:nvSpPr>
          <p:cNvPr id="970" name="Google Shape;970;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pic>
        <p:nvPicPr>
          <p:cNvPr descr="A picture containing screenshot, circle, art" id="17" name="Google Shape;17;p36"/>
          <p:cNvPicPr preferRelativeResize="0"/>
          <p:nvPr/>
        </p:nvPicPr>
        <p:blipFill rotWithShape="1">
          <a:blip r:embed="rId2">
            <a:alphaModFix/>
          </a:blip>
          <a:srcRect b="0" l="0" r="0" t="0"/>
          <a:stretch/>
        </p:blipFill>
        <p:spPr>
          <a:xfrm>
            <a:off x="4184027" y="0"/>
            <a:ext cx="7997474" cy="6492874"/>
          </a:xfrm>
          <a:prstGeom prst="rect">
            <a:avLst/>
          </a:prstGeom>
          <a:noFill/>
          <a:ln>
            <a:noFill/>
          </a:ln>
        </p:spPr>
      </p:pic>
      <p:sp>
        <p:nvSpPr>
          <p:cNvPr id="18" name="Google Shape;18;p36"/>
          <p:cNvSpPr/>
          <p:nvPr/>
        </p:nvSpPr>
        <p:spPr>
          <a:xfrm>
            <a:off x="10499" y="6400801"/>
            <a:ext cx="12171002" cy="457200"/>
          </a:xfrm>
          <a:prstGeom prst="rect">
            <a:avLst/>
          </a:prstGeom>
          <a:solidFill>
            <a:srgbClr val="33CCCC"/>
          </a:solidFill>
          <a:ln cap="flat" cmpd="sng" w="12700">
            <a:solidFill>
              <a:srgbClr val="1F2B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9" name="Google Shape;19;p36"/>
          <p:cNvGrpSpPr/>
          <p:nvPr/>
        </p:nvGrpSpPr>
        <p:grpSpPr>
          <a:xfrm>
            <a:off x="5662258" y="4216652"/>
            <a:ext cx="867485" cy="163226"/>
            <a:chOff x="8910933" y="1837414"/>
            <a:chExt cx="867485" cy="163226"/>
          </a:xfrm>
        </p:grpSpPr>
        <p:sp>
          <p:nvSpPr>
            <p:cNvPr id="20" name="Google Shape;20;p36"/>
            <p:cNvSpPr/>
            <p:nvPr/>
          </p:nvSpPr>
          <p:spPr>
            <a:xfrm flipH="1" rot="-2635175">
              <a:off x="9286956" y="1861308"/>
              <a:ext cx="115439" cy="115439"/>
            </a:xfrm>
            <a:prstGeom prst="rect">
              <a:avLst/>
            </a:prstGeom>
            <a:noFill/>
            <a:ln cap="flat" cmpd="sng" w="158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21" name="Google Shape;21;p36"/>
            <p:cNvCxnSpPr/>
            <p:nvPr/>
          </p:nvCxnSpPr>
          <p:spPr>
            <a:xfrm>
              <a:off x="9426289" y="1919027"/>
              <a:ext cx="352129" cy="0"/>
            </a:xfrm>
            <a:prstGeom prst="straightConnector1">
              <a:avLst/>
            </a:prstGeom>
            <a:noFill/>
            <a:ln cap="flat" cmpd="sng" w="15875">
              <a:solidFill>
                <a:schemeClr val="dk2"/>
              </a:solidFill>
              <a:prstDash val="solid"/>
              <a:miter lim="800000"/>
              <a:headEnd len="sm" w="sm" type="none"/>
              <a:tailEnd len="sm" w="sm" type="none"/>
            </a:ln>
          </p:spPr>
        </p:cxnSp>
        <p:cxnSp>
          <p:nvCxnSpPr>
            <p:cNvPr id="22" name="Google Shape;22;p36"/>
            <p:cNvCxnSpPr/>
            <p:nvPr/>
          </p:nvCxnSpPr>
          <p:spPr>
            <a:xfrm>
              <a:off x="8910933" y="1919027"/>
              <a:ext cx="352129" cy="0"/>
            </a:xfrm>
            <a:prstGeom prst="straightConnector1">
              <a:avLst/>
            </a:prstGeom>
            <a:noFill/>
            <a:ln cap="flat" cmpd="sng" w="15875">
              <a:solidFill>
                <a:schemeClr val="dk2"/>
              </a:solidFill>
              <a:prstDash val="solid"/>
              <a:miter lim="800000"/>
              <a:headEnd len="sm" w="sm" type="none"/>
              <a:tailEnd len="sm" w="sm" type="none"/>
            </a:ln>
          </p:spPr>
        </p:cxnSp>
      </p:grpSp>
      <p:sp>
        <p:nvSpPr>
          <p:cNvPr id="23" name="Google Shape;23;p36"/>
          <p:cNvSpPr txBox="1"/>
          <p:nvPr>
            <p:ph idx="12" type="sldNum"/>
          </p:nvPr>
        </p:nvSpPr>
        <p:spPr>
          <a:xfrm>
            <a:off x="11657010" y="6492875"/>
            <a:ext cx="52449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36"/>
          <p:cNvSpPr txBox="1"/>
          <p:nvPr>
            <p:ph idx="11" type="ftr"/>
          </p:nvPr>
        </p:nvSpPr>
        <p:spPr>
          <a:xfrm>
            <a:off x="7807033" y="6493508"/>
            <a:ext cx="411222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50">
                <a:solidFill>
                  <a:srgbClr val="7F7F7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5" name="Google Shape;25;p36"/>
          <p:cNvPicPr preferRelativeResize="0"/>
          <p:nvPr/>
        </p:nvPicPr>
        <p:blipFill rotWithShape="1">
          <a:blip r:embed="rId3">
            <a:alphaModFix/>
          </a:blip>
          <a:srcRect b="0" l="0" r="-12319" t="0"/>
          <a:stretch/>
        </p:blipFill>
        <p:spPr>
          <a:xfrm>
            <a:off x="4285684" y="5596120"/>
            <a:ext cx="2244059" cy="695625"/>
          </a:xfrm>
          <a:prstGeom prst="rect">
            <a:avLst/>
          </a:prstGeom>
          <a:noFill/>
          <a:ln>
            <a:noFill/>
          </a:ln>
          <a:effectLst>
            <a:outerShdw blurRad="985838" rotWithShape="0" algn="bl" dist="28575">
              <a:srgbClr val="000000">
                <a:alpha val="84313"/>
              </a:srgbClr>
            </a:outerShdw>
          </a:effectLst>
        </p:spPr>
      </p:pic>
      <p:sp>
        <p:nvSpPr>
          <p:cNvPr id="26" name="Google Shape;26;p36"/>
          <p:cNvSpPr txBox="1"/>
          <p:nvPr/>
        </p:nvSpPr>
        <p:spPr>
          <a:xfrm>
            <a:off x="142875" y="666300"/>
            <a:ext cx="3864600" cy="903600"/>
          </a:xfrm>
          <a:prstGeom prst="rect">
            <a:avLst/>
          </a:prstGeom>
          <a:solidFill>
            <a:srgbClr val="33CCCC"/>
          </a:solidFill>
          <a:ln>
            <a:noFill/>
          </a:ln>
        </p:spPr>
        <p:txBody>
          <a:bodyPr anchorCtr="0" anchor="ctr" bIns="45700" lIns="91425" spcFirstLastPara="1" rIns="91425" wrap="square" tIns="45700">
            <a:normAutofit fontScale="55000" lnSpcReduction="20000"/>
          </a:bodyPr>
          <a:lstStyle/>
          <a:p>
            <a:pPr indent="0" lvl="0" marL="0" marR="0" rtl="0" algn="l">
              <a:lnSpc>
                <a:spcPct val="110000"/>
              </a:lnSpc>
              <a:spcBef>
                <a:spcPts val="0"/>
              </a:spcBef>
              <a:spcAft>
                <a:spcPts val="0"/>
              </a:spcAft>
              <a:buClr>
                <a:srgbClr val="003399"/>
              </a:buClr>
              <a:buSzPct val="109090"/>
              <a:buFont typeface="Arial"/>
              <a:buNone/>
            </a:pPr>
            <a:r>
              <a:rPr b="1" i="0" lang="en-US" sz="4000" u="none" cap="none" strike="noStrike">
                <a:solidFill>
                  <a:srgbClr val="003399"/>
                </a:solidFill>
                <a:latin typeface="Arial"/>
                <a:ea typeface="Arial"/>
                <a:cs typeface="Arial"/>
                <a:sym typeface="Arial"/>
              </a:rPr>
              <a:t>EAS 5850:</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3399"/>
              </a:buClr>
              <a:buSzPct val="109090"/>
              <a:buFont typeface="Arial"/>
              <a:buNone/>
            </a:pPr>
            <a:r>
              <a:rPr b="1" i="0" lang="en-US" sz="4000" u="none" cap="none" strike="noStrike">
                <a:solidFill>
                  <a:srgbClr val="003399"/>
                </a:solidFill>
                <a:latin typeface="Arial"/>
                <a:ea typeface="Arial"/>
                <a:cs typeface="Arial"/>
                <a:sym typeface="Arial"/>
              </a:rPr>
              <a:t>IMAGING INFORMATICS</a:t>
            </a:r>
            <a:endParaRPr b="0" i="0" sz="1400" u="none" cap="none" strike="noStrike">
              <a:solidFill>
                <a:srgbClr val="000000"/>
              </a:solidFill>
              <a:latin typeface="Arial"/>
              <a:ea typeface="Arial"/>
              <a:cs typeface="Arial"/>
              <a:sym typeface="Arial"/>
            </a:endParaRPr>
          </a:p>
        </p:txBody>
      </p:sp>
      <p:sp>
        <p:nvSpPr>
          <p:cNvPr id="27" name="Google Shape;27;p36"/>
          <p:cNvSpPr txBox="1"/>
          <p:nvPr/>
        </p:nvSpPr>
        <p:spPr>
          <a:xfrm>
            <a:off x="142875" y="2708910"/>
            <a:ext cx="3864600" cy="1440180"/>
          </a:xfrm>
          <a:prstGeom prst="rect">
            <a:avLst/>
          </a:prstGeom>
          <a:solidFill>
            <a:schemeClr val="lt1"/>
          </a:solidFill>
          <a:ln cap="flat" cmpd="sng" w="9525">
            <a:solidFill>
              <a:srgbClr val="0033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dk2"/>
              </a:buClr>
              <a:buSzPts val="2000"/>
              <a:buFont typeface="Arial"/>
              <a:buNone/>
            </a:pPr>
            <a:r>
              <a:t/>
            </a:r>
            <a:endParaRPr b="0" i="0" sz="3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37"/>
          <p:cNvSpPr txBox="1"/>
          <p:nvPr>
            <p:ph type="title"/>
          </p:nvPr>
        </p:nvSpPr>
        <p:spPr>
          <a:xfrm>
            <a:off x="284480" y="247842"/>
            <a:ext cx="8421370" cy="745564"/>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rgbClr val="00339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7"/>
          <p:cNvSpPr txBox="1"/>
          <p:nvPr>
            <p:ph idx="12" type="sldNum"/>
          </p:nvPr>
        </p:nvSpPr>
        <p:spPr>
          <a:xfrm>
            <a:off x="11657010" y="6492875"/>
            <a:ext cx="52449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37"/>
          <p:cNvSpPr txBox="1"/>
          <p:nvPr>
            <p:ph idx="11" type="ftr"/>
          </p:nvPr>
        </p:nvSpPr>
        <p:spPr>
          <a:xfrm>
            <a:off x="7807033" y="6493508"/>
            <a:ext cx="411222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50">
                <a:solidFill>
                  <a:srgbClr val="7F7F7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7"/>
          <p:cNvSpPr/>
          <p:nvPr/>
        </p:nvSpPr>
        <p:spPr>
          <a:xfrm>
            <a:off x="8806668" y="216842"/>
            <a:ext cx="3187624" cy="239720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rPr b="0" i="0" lang="en-US" sz="1800" u="none" cap="none" strike="noStrike">
                <a:solidFill>
                  <a:schemeClr val="lt1"/>
                </a:solidFill>
                <a:latin typeface="Open Sans"/>
                <a:ea typeface="Open Sans"/>
                <a:cs typeface="Open Sans"/>
                <a:sym typeface="Open Sans"/>
              </a:rPr>
              <a:t>Placeholder for PiP on camera</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3" name="Shape 33"/>
        <p:cNvGrpSpPr/>
        <p:nvPr/>
      </p:nvGrpSpPr>
      <p:grpSpPr>
        <a:xfrm>
          <a:off x="0" y="0"/>
          <a:ext cx="0" cy="0"/>
          <a:chOff x="0" y="0"/>
          <a:chExt cx="0" cy="0"/>
        </a:xfrm>
      </p:grpSpPr>
      <p:sp>
        <p:nvSpPr>
          <p:cNvPr id="34" name="Google Shape;34;p38"/>
          <p:cNvSpPr txBox="1"/>
          <p:nvPr>
            <p:ph idx="1" type="body"/>
          </p:nvPr>
        </p:nvSpPr>
        <p:spPr>
          <a:xfrm>
            <a:off x="284480" y="1180828"/>
            <a:ext cx="5811520" cy="508662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38"/>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8"/>
          <p:cNvSpPr txBox="1"/>
          <p:nvPr>
            <p:ph idx="12" type="sldNum"/>
          </p:nvPr>
        </p:nvSpPr>
        <p:spPr>
          <a:xfrm>
            <a:off x="11657010" y="6492875"/>
            <a:ext cx="52449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38"/>
          <p:cNvSpPr txBox="1"/>
          <p:nvPr>
            <p:ph idx="11" type="ftr"/>
          </p:nvPr>
        </p:nvSpPr>
        <p:spPr>
          <a:xfrm>
            <a:off x="7807033" y="6493508"/>
            <a:ext cx="411222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50">
                <a:solidFill>
                  <a:srgbClr val="7F7F7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8"/>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rgbClr val="00339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9" name="Shape 39"/>
        <p:cNvGrpSpPr/>
        <p:nvPr/>
      </p:nvGrpSpPr>
      <p:grpSpPr>
        <a:xfrm>
          <a:off x="0" y="0"/>
          <a:ext cx="0" cy="0"/>
          <a:chOff x="0" y="0"/>
          <a:chExt cx="0" cy="0"/>
        </a:xfrm>
      </p:grpSpPr>
      <p:sp>
        <p:nvSpPr>
          <p:cNvPr id="40" name="Google Shape;40;p39"/>
          <p:cNvSpPr txBox="1"/>
          <p:nvPr>
            <p:ph type="title"/>
          </p:nvPr>
        </p:nvSpPr>
        <p:spPr>
          <a:xfrm>
            <a:off x="284480" y="247842"/>
            <a:ext cx="5735320" cy="745564"/>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rgbClr val="00339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9"/>
          <p:cNvSpPr txBox="1"/>
          <p:nvPr>
            <p:ph idx="1" type="body"/>
          </p:nvPr>
        </p:nvSpPr>
        <p:spPr>
          <a:xfrm>
            <a:off x="284479" y="1221919"/>
            <a:ext cx="5735321" cy="493177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9"/>
          <p:cNvSpPr txBox="1"/>
          <p:nvPr>
            <p:ph idx="12" type="sldNum"/>
          </p:nvPr>
        </p:nvSpPr>
        <p:spPr>
          <a:xfrm>
            <a:off x="11657010" y="6492875"/>
            <a:ext cx="52449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39"/>
          <p:cNvSpPr txBox="1"/>
          <p:nvPr>
            <p:ph idx="11" type="ftr"/>
          </p:nvPr>
        </p:nvSpPr>
        <p:spPr>
          <a:xfrm>
            <a:off x="7807033" y="6493508"/>
            <a:ext cx="411222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50">
                <a:solidFill>
                  <a:srgbClr val="7F7F7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9"/>
          <p:cNvSpPr/>
          <p:nvPr/>
        </p:nvSpPr>
        <p:spPr>
          <a:xfrm>
            <a:off x="6172203" y="247841"/>
            <a:ext cx="6019798" cy="5905851"/>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rPr b="0" i="0" lang="en-US" sz="1800" u="none" cap="none" strike="noStrike">
                <a:solidFill>
                  <a:schemeClr val="lt1"/>
                </a:solidFill>
                <a:latin typeface="Open Sans"/>
                <a:ea typeface="Open Sans"/>
                <a:cs typeface="Open Sans"/>
                <a:sym typeface="Open Sans"/>
              </a:rPr>
              <a:t>Placeholder for half-screen on camera</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5" name="Shape 45"/>
        <p:cNvGrpSpPr/>
        <p:nvPr/>
      </p:nvGrpSpPr>
      <p:grpSpPr>
        <a:xfrm>
          <a:off x="0" y="0"/>
          <a:ext cx="0" cy="0"/>
          <a:chOff x="0" y="0"/>
          <a:chExt cx="0" cy="0"/>
        </a:xfrm>
      </p:grpSpPr>
      <p:sp>
        <p:nvSpPr>
          <p:cNvPr id="46" name="Google Shape;46;p40"/>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rgbClr val="00339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0"/>
          <p:cNvSpPr txBox="1"/>
          <p:nvPr>
            <p:ph idx="1" type="body"/>
          </p:nvPr>
        </p:nvSpPr>
        <p:spPr>
          <a:xfrm>
            <a:off x="284480" y="1241248"/>
            <a:ext cx="11634776" cy="500378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2"/>
              </a:buClr>
              <a:buSzPts val="1800"/>
              <a:buNone/>
              <a:defRPr/>
            </a:lvl1pPr>
            <a:lvl2pPr indent="-325755" lvl="1" marL="914400" algn="l">
              <a:lnSpc>
                <a:spcPct val="110000"/>
              </a:lnSpc>
              <a:spcBef>
                <a:spcPts val="500"/>
              </a:spcBef>
              <a:spcAft>
                <a:spcPts val="0"/>
              </a:spcAft>
              <a:buClr>
                <a:schemeClr val="dk2"/>
              </a:buClr>
              <a:buSzPts val="1530"/>
              <a:buChar char="•"/>
              <a:defRPr/>
            </a:lvl2pPr>
            <a:lvl3pPr indent="-228600" lvl="2" marL="1371600" algn="l">
              <a:lnSpc>
                <a:spcPct val="110000"/>
              </a:lnSpc>
              <a:spcBef>
                <a:spcPts val="500"/>
              </a:spcBef>
              <a:spcAft>
                <a:spcPts val="0"/>
              </a:spcAft>
              <a:buClr>
                <a:schemeClr val="dk2"/>
              </a:buClr>
              <a:buSzPts val="1800"/>
              <a:buNone/>
              <a:defRPr/>
            </a:lvl3pPr>
            <a:lvl4pPr indent="-342900" lvl="3" marL="1828800" algn="l">
              <a:lnSpc>
                <a:spcPct val="110000"/>
              </a:lnSpc>
              <a:spcBef>
                <a:spcPts val="500"/>
              </a:spcBef>
              <a:spcAft>
                <a:spcPts val="0"/>
              </a:spcAft>
              <a:buClr>
                <a:schemeClr val="dk2"/>
              </a:buClr>
              <a:buSzPts val="1800"/>
              <a:buChar char="•"/>
              <a:defRPr/>
            </a:lvl4pPr>
            <a:lvl5pPr indent="-228600" lvl="4" marL="2286000" algn="l">
              <a:lnSpc>
                <a:spcPct val="110000"/>
              </a:lnSpc>
              <a:spcBef>
                <a:spcPts val="500"/>
              </a:spcBef>
              <a:spcAft>
                <a:spcPts val="0"/>
              </a:spcAft>
              <a:buClr>
                <a:schemeClr val="dk2"/>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0"/>
          <p:cNvSpPr txBox="1"/>
          <p:nvPr>
            <p:ph idx="12" type="sldNum"/>
          </p:nvPr>
        </p:nvSpPr>
        <p:spPr>
          <a:xfrm>
            <a:off x="11657010" y="6492875"/>
            <a:ext cx="52449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40"/>
          <p:cNvSpPr txBox="1"/>
          <p:nvPr>
            <p:ph idx="11" type="ftr"/>
          </p:nvPr>
        </p:nvSpPr>
        <p:spPr>
          <a:xfrm>
            <a:off x="7807033" y="6493508"/>
            <a:ext cx="411222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50">
                <a:solidFill>
                  <a:srgbClr val="7F7F7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type="twoObj">
  <p:cSld name="TWO_OBJECTS">
    <p:spTree>
      <p:nvGrpSpPr>
        <p:cNvPr id="50" name="Shape 50"/>
        <p:cNvGrpSpPr/>
        <p:nvPr/>
      </p:nvGrpSpPr>
      <p:grpSpPr>
        <a:xfrm>
          <a:off x="0" y="0"/>
          <a:ext cx="0" cy="0"/>
          <a:chOff x="0" y="0"/>
          <a:chExt cx="0" cy="0"/>
        </a:xfrm>
      </p:grpSpPr>
      <p:sp>
        <p:nvSpPr>
          <p:cNvPr id="51" name="Google Shape;51;p41"/>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rgbClr val="00339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1"/>
          <p:cNvSpPr txBox="1"/>
          <p:nvPr>
            <p:ph idx="1" type="body"/>
          </p:nvPr>
        </p:nvSpPr>
        <p:spPr>
          <a:xfrm>
            <a:off x="508000" y="1411553"/>
            <a:ext cx="5486400" cy="50686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800"/>
              <a:buFont typeface="Arial"/>
              <a:buNone/>
              <a:defRPr sz="2800"/>
            </a:lvl1pPr>
            <a:lvl2pPr indent="-358140" lvl="1" marL="914400" algn="l">
              <a:lnSpc>
                <a:spcPct val="90000"/>
              </a:lnSpc>
              <a:spcBef>
                <a:spcPts val="500"/>
              </a:spcBef>
              <a:spcAft>
                <a:spcPts val="0"/>
              </a:spcAft>
              <a:buClr>
                <a:schemeClr val="dk2"/>
              </a:buClr>
              <a:buSzPts val="2040"/>
              <a:buChar char="•"/>
              <a:defRPr sz="2400"/>
            </a:lvl2pPr>
            <a:lvl3pPr indent="-228600" lvl="2" marL="1371600" algn="l">
              <a:lnSpc>
                <a:spcPct val="90000"/>
              </a:lnSpc>
              <a:spcBef>
                <a:spcPts val="500"/>
              </a:spcBef>
              <a:spcAft>
                <a:spcPts val="0"/>
              </a:spcAft>
              <a:buClr>
                <a:schemeClr val="dk2"/>
              </a:buClr>
              <a:buSzPts val="2000"/>
              <a:buFont typeface="Arial"/>
              <a:buNone/>
              <a:defRPr sz="2000"/>
            </a:lvl3pPr>
            <a:lvl4pPr indent="-342900" lvl="3" marL="1828800" algn="l">
              <a:lnSpc>
                <a:spcPct val="90000"/>
              </a:lnSpc>
              <a:spcBef>
                <a:spcPts val="500"/>
              </a:spcBef>
              <a:spcAft>
                <a:spcPts val="0"/>
              </a:spcAft>
              <a:buClr>
                <a:schemeClr val="dk2"/>
              </a:buClr>
              <a:buSzPts val="1800"/>
              <a:buChar char="•"/>
              <a:defRPr sz="1800"/>
            </a:lvl4pPr>
            <a:lvl5pPr indent="-228600" lvl="4" marL="2286000" algn="l">
              <a:lnSpc>
                <a:spcPct val="90000"/>
              </a:lnSpc>
              <a:spcBef>
                <a:spcPts val="500"/>
              </a:spcBef>
              <a:spcAft>
                <a:spcPts val="0"/>
              </a:spcAft>
              <a:buClr>
                <a:schemeClr val="dk2"/>
              </a:buClr>
              <a:buSzPts val="1800"/>
              <a:buFont typeface="Arial"/>
              <a:buNone/>
              <a:defRPr sz="1800"/>
            </a:lvl5pPr>
            <a:lvl6pPr indent="-342900" lvl="5" marL="2743200" algn="l">
              <a:lnSpc>
                <a:spcPct val="90000"/>
              </a:lnSpc>
              <a:spcBef>
                <a:spcPts val="500"/>
              </a:spcBef>
              <a:spcAft>
                <a:spcPts val="0"/>
              </a:spcAft>
              <a:buClr>
                <a:schemeClr val="dk1"/>
              </a:buClr>
              <a:buSzPts val="1800"/>
              <a:buChar char="•"/>
              <a:defRPr sz="1800"/>
            </a:lvl6pPr>
            <a:lvl7pPr indent="-342900" lvl="6" marL="3200400" algn="l">
              <a:lnSpc>
                <a:spcPct val="90000"/>
              </a:lnSpc>
              <a:spcBef>
                <a:spcPts val="500"/>
              </a:spcBef>
              <a:spcAft>
                <a:spcPts val="0"/>
              </a:spcAft>
              <a:buClr>
                <a:schemeClr val="dk1"/>
              </a:buClr>
              <a:buSzPts val="1800"/>
              <a:buChar char="•"/>
              <a:defRPr sz="1800"/>
            </a:lvl7pPr>
            <a:lvl8pPr indent="-342900" lvl="7" marL="3657600" algn="l">
              <a:lnSpc>
                <a:spcPct val="90000"/>
              </a:lnSpc>
              <a:spcBef>
                <a:spcPts val="500"/>
              </a:spcBef>
              <a:spcAft>
                <a:spcPts val="0"/>
              </a:spcAft>
              <a:buClr>
                <a:schemeClr val="dk1"/>
              </a:buClr>
              <a:buSzPts val="1800"/>
              <a:buChar char="•"/>
              <a:defRPr sz="1800"/>
            </a:lvl8pPr>
            <a:lvl9pPr indent="-342900" lvl="8" marL="4114800" algn="l">
              <a:lnSpc>
                <a:spcPct val="90000"/>
              </a:lnSpc>
              <a:spcBef>
                <a:spcPts val="500"/>
              </a:spcBef>
              <a:spcAft>
                <a:spcPts val="0"/>
              </a:spcAft>
              <a:buClr>
                <a:schemeClr val="dk1"/>
              </a:buClr>
              <a:buSzPts val="1800"/>
              <a:buChar char="•"/>
              <a:defRPr sz="1800"/>
            </a:lvl9pPr>
          </a:lstStyle>
          <a:p/>
        </p:txBody>
      </p:sp>
      <p:sp>
        <p:nvSpPr>
          <p:cNvPr id="53" name="Google Shape;53;p41"/>
          <p:cNvSpPr txBox="1"/>
          <p:nvPr>
            <p:ph idx="2" type="body"/>
          </p:nvPr>
        </p:nvSpPr>
        <p:spPr>
          <a:xfrm>
            <a:off x="6197600" y="1411553"/>
            <a:ext cx="5486400" cy="50686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800"/>
              <a:buFont typeface="Arial"/>
              <a:buNone/>
              <a:defRPr sz="2800"/>
            </a:lvl1pPr>
            <a:lvl2pPr indent="-358140" lvl="1" marL="914400" algn="l">
              <a:lnSpc>
                <a:spcPct val="90000"/>
              </a:lnSpc>
              <a:spcBef>
                <a:spcPts val="500"/>
              </a:spcBef>
              <a:spcAft>
                <a:spcPts val="0"/>
              </a:spcAft>
              <a:buClr>
                <a:schemeClr val="dk2"/>
              </a:buClr>
              <a:buSzPts val="2040"/>
              <a:buChar char="•"/>
              <a:defRPr sz="2400"/>
            </a:lvl2pPr>
            <a:lvl3pPr indent="-228600" lvl="2" marL="1371600" algn="l">
              <a:lnSpc>
                <a:spcPct val="90000"/>
              </a:lnSpc>
              <a:spcBef>
                <a:spcPts val="500"/>
              </a:spcBef>
              <a:spcAft>
                <a:spcPts val="0"/>
              </a:spcAft>
              <a:buClr>
                <a:schemeClr val="dk2"/>
              </a:buClr>
              <a:buSzPts val="2000"/>
              <a:buFont typeface="Arial"/>
              <a:buNone/>
              <a:defRPr sz="2000"/>
            </a:lvl3pPr>
            <a:lvl4pPr indent="-342900" lvl="3" marL="1828800" algn="l">
              <a:lnSpc>
                <a:spcPct val="90000"/>
              </a:lnSpc>
              <a:spcBef>
                <a:spcPts val="500"/>
              </a:spcBef>
              <a:spcAft>
                <a:spcPts val="0"/>
              </a:spcAft>
              <a:buClr>
                <a:schemeClr val="dk2"/>
              </a:buClr>
              <a:buSzPts val="1800"/>
              <a:buChar char="•"/>
              <a:defRPr sz="1800"/>
            </a:lvl4pPr>
            <a:lvl5pPr indent="-228600" lvl="4" marL="2286000" algn="l">
              <a:lnSpc>
                <a:spcPct val="90000"/>
              </a:lnSpc>
              <a:spcBef>
                <a:spcPts val="500"/>
              </a:spcBef>
              <a:spcAft>
                <a:spcPts val="0"/>
              </a:spcAft>
              <a:buClr>
                <a:schemeClr val="dk2"/>
              </a:buClr>
              <a:buSzPts val="1800"/>
              <a:buFont typeface="Arial"/>
              <a:buNone/>
              <a:defRPr sz="1800"/>
            </a:lvl5pPr>
            <a:lvl6pPr indent="-342900" lvl="5" marL="2743200" algn="l">
              <a:lnSpc>
                <a:spcPct val="90000"/>
              </a:lnSpc>
              <a:spcBef>
                <a:spcPts val="500"/>
              </a:spcBef>
              <a:spcAft>
                <a:spcPts val="0"/>
              </a:spcAft>
              <a:buClr>
                <a:schemeClr val="dk1"/>
              </a:buClr>
              <a:buSzPts val="1800"/>
              <a:buChar char="•"/>
              <a:defRPr sz="1800"/>
            </a:lvl6pPr>
            <a:lvl7pPr indent="-342900" lvl="6" marL="3200400" algn="l">
              <a:lnSpc>
                <a:spcPct val="90000"/>
              </a:lnSpc>
              <a:spcBef>
                <a:spcPts val="500"/>
              </a:spcBef>
              <a:spcAft>
                <a:spcPts val="0"/>
              </a:spcAft>
              <a:buClr>
                <a:schemeClr val="dk1"/>
              </a:buClr>
              <a:buSzPts val="1800"/>
              <a:buChar char="•"/>
              <a:defRPr sz="1800"/>
            </a:lvl7pPr>
            <a:lvl8pPr indent="-342900" lvl="7" marL="3657600" algn="l">
              <a:lnSpc>
                <a:spcPct val="90000"/>
              </a:lnSpc>
              <a:spcBef>
                <a:spcPts val="500"/>
              </a:spcBef>
              <a:spcAft>
                <a:spcPts val="0"/>
              </a:spcAft>
              <a:buClr>
                <a:schemeClr val="dk1"/>
              </a:buClr>
              <a:buSzPts val="1800"/>
              <a:buChar char="•"/>
              <a:defRPr sz="1800"/>
            </a:lvl8pPr>
            <a:lvl9pPr indent="-342900" lvl="8" marL="4114800" algn="l">
              <a:lnSpc>
                <a:spcPct val="90000"/>
              </a:lnSpc>
              <a:spcBef>
                <a:spcPts val="500"/>
              </a:spcBef>
              <a:spcAft>
                <a:spcPts val="0"/>
              </a:spcAft>
              <a:buClr>
                <a:schemeClr val="dk1"/>
              </a:buClr>
              <a:buSzPts val="1800"/>
              <a:buChar char="•"/>
              <a:defRPr sz="1800"/>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Title, Image and Data Only">
  <p:cSld name="No Title, Image and Data Only">
    <p:spTree>
      <p:nvGrpSpPr>
        <p:cNvPr id="54" name="Shape 54"/>
        <p:cNvGrpSpPr/>
        <p:nvPr/>
      </p:nvGrpSpPr>
      <p:grpSpPr>
        <a:xfrm>
          <a:off x="0" y="0"/>
          <a:ext cx="0" cy="0"/>
          <a:chOff x="0" y="0"/>
          <a:chExt cx="0" cy="0"/>
        </a:xfrm>
      </p:grpSpPr>
      <p:sp>
        <p:nvSpPr>
          <p:cNvPr id="55" name="Google Shape;55;p42"/>
          <p:cNvSpPr txBox="1"/>
          <p:nvPr>
            <p:ph idx="1" type="body"/>
          </p:nvPr>
        </p:nvSpPr>
        <p:spPr>
          <a:xfrm>
            <a:off x="508001" y="379849"/>
            <a:ext cx="11176000" cy="603365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800"/>
              <a:buFont typeface="Arial"/>
              <a:buNone/>
              <a:defRPr/>
            </a:lvl1pPr>
            <a:lvl2pPr indent="-358140" lvl="1" marL="914400" algn="l">
              <a:lnSpc>
                <a:spcPct val="90000"/>
              </a:lnSpc>
              <a:spcBef>
                <a:spcPts val="500"/>
              </a:spcBef>
              <a:spcAft>
                <a:spcPts val="0"/>
              </a:spcAft>
              <a:buClr>
                <a:schemeClr val="dk2"/>
              </a:buClr>
              <a:buSzPts val="2040"/>
              <a:buChar char="•"/>
              <a:defRPr/>
            </a:lvl2pPr>
            <a:lvl3pPr indent="-228600" lvl="2" marL="1371600" algn="l">
              <a:lnSpc>
                <a:spcPct val="90000"/>
              </a:lnSpc>
              <a:spcBef>
                <a:spcPts val="500"/>
              </a:spcBef>
              <a:spcAft>
                <a:spcPts val="0"/>
              </a:spcAft>
              <a:buClr>
                <a:schemeClr val="dk2"/>
              </a:buClr>
              <a:buSzPts val="2000"/>
              <a:buFont typeface="Arial"/>
              <a:buNone/>
              <a:defRPr/>
            </a:lvl3pPr>
            <a:lvl4pPr indent="-342900" lvl="3" marL="1828800" algn="l">
              <a:lnSpc>
                <a:spcPct val="90000"/>
              </a:lnSpc>
              <a:spcBef>
                <a:spcPts val="500"/>
              </a:spcBef>
              <a:spcAft>
                <a:spcPts val="0"/>
              </a:spcAft>
              <a:buClr>
                <a:schemeClr val="dk2"/>
              </a:buClr>
              <a:buSzPts val="1800"/>
              <a:buChar char="•"/>
              <a:defRPr/>
            </a:lvl4pPr>
            <a:lvl5pPr indent="-228600" lvl="4" marL="2286000" algn="l">
              <a:lnSpc>
                <a:spcPct val="90000"/>
              </a:lnSpc>
              <a:spcBef>
                <a:spcPts val="500"/>
              </a:spcBef>
              <a:spcAft>
                <a:spcPts val="0"/>
              </a:spcAft>
              <a:buClr>
                <a:schemeClr val="dk2"/>
              </a:buClr>
              <a:buSzPts val="1800"/>
              <a:buFont typeface="Arial"/>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thing">
  <p:cSld name="No Title, Image and Data Only_1">
    <p:spTree>
      <p:nvGrpSpPr>
        <p:cNvPr id="56" name="Shape 56"/>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57" name="Shape 57"/>
        <p:cNvGrpSpPr/>
        <p:nvPr/>
      </p:nvGrpSpPr>
      <p:grpSpPr>
        <a:xfrm>
          <a:off x="0" y="0"/>
          <a:ext cx="0" cy="0"/>
          <a:chOff x="0" y="0"/>
          <a:chExt cx="0" cy="0"/>
        </a:xfrm>
      </p:grpSpPr>
      <p:sp>
        <p:nvSpPr>
          <p:cNvPr id="58" name="Google Shape;58;p91"/>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SzPts val="4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1"/>
          <p:cNvSpPr txBox="1"/>
          <p:nvPr>
            <p:ph idx="1" type="body"/>
          </p:nvPr>
        </p:nvSpPr>
        <p:spPr>
          <a:xfrm>
            <a:off x="284480" y="1241248"/>
            <a:ext cx="11634776" cy="500378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800"/>
              <a:buNone/>
              <a:defRPr/>
            </a:lvl1pPr>
            <a:lvl2pPr indent="-358140" lvl="1" marL="914400" algn="l">
              <a:lnSpc>
                <a:spcPct val="110000"/>
              </a:lnSpc>
              <a:spcBef>
                <a:spcPts val="500"/>
              </a:spcBef>
              <a:spcAft>
                <a:spcPts val="0"/>
              </a:spcAft>
              <a:buSzPts val="2040"/>
              <a:buChar char="•"/>
              <a:defRPr/>
            </a:lvl2pPr>
            <a:lvl3pPr indent="-228600" lvl="2" marL="1371600" algn="l">
              <a:lnSpc>
                <a:spcPct val="110000"/>
              </a:lnSpc>
              <a:spcBef>
                <a:spcPts val="500"/>
              </a:spcBef>
              <a:spcAft>
                <a:spcPts val="0"/>
              </a:spcAft>
              <a:buSzPts val="2000"/>
              <a:buNone/>
              <a:defRPr/>
            </a:lvl3pPr>
            <a:lvl4pPr indent="-342900" lvl="3" marL="1828800" algn="l">
              <a:lnSpc>
                <a:spcPct val="110000"/>
              </a:lnSpc>
              <a:spcBef>
                <a:spcPts val="500"/>
              </a:spcBef>
              <a:spcAft>
                <a:spcPts val="0"/>
              </a:spcAft>
              <a:buSzPts val="1800"/>
              <a:buChar char="•"/>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60" name="Google Shape;60;p9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 name="Google Shape;61;p91"/>
          <p:cNvSpPr txBox="1"/>
          <p:nvPr>
            <p:ph idx="11" type="ftr"/>
          </p:nvPr>
        </p:nvSpPr>
        <p:spPr>
          <a:xfrm>
            <a:off x="7807033" y="6493508"/>
            <a:ext cx="411222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1"/>
          <p:cNvSpPr txBox="1"/>
          <p:nvPr>
            <p:ph idx="12" type="sldNum"/>
          </p:nvPr>
        </p:nvSpPr>
        <p:spPr>
          <a:xfrm>
            <a:off x="11657010" y="6492875"/>
            <a:ext cx="52449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5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5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5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5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5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5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5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5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5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63" name="Shape 63"/>
        <p:cNvGrpSpPr/>
        <p:nvPr/>
      </p:nvGrpSpPr>
      <p:grpSpPr>
        <a:xfrm>
          <a:off x="0" y="0"/>
          <a:ext cx="0" cy="0"/>
          <a:chOff x="0" y="0"/>
          <a:chExt cx="0" cy="0"/>
        </a:xfrm>
      </p:grpSpPr>
      <p:sp>
        <p:nvSpPr>
          <p:cNvPr id="64" name="Google Shape;64;p92"/>
          <p:cNvSpPr txBox="1"/>
          <p:nvPr>
            <p:ph idx="1" type="body"/>
          </p:nvPr>
        </p:nvSpPr>
        <p:spPr>
          <a:xfrm>
            <a:off x="284480" y="1180828"/>
            <a:ext cx="5811520" cy="508662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800"/>
              <a:buNone/>
              <a:defRPr/>
            </a:lvl1pPr>
            <a:lvl2pPr indent="-358140" lvl="1" marL="914400" algn="l">
              <a:lnSpc>
                <a:spcPct val="110000"/>
              </a:lnSpc>
              <a:spcBef>
                <a:spcPts val="500"/>
              </a:spcBef>
              <a:spcAft>
                <a:spcPts val="0"/>
              </a:spcAft>
              <a:buSzPts val="2040"/>
              <a:buChar char="•"/>
              <a:defRPr/>
            </a:lvl2pPr>
            <a:lvl3pPr indent="-228600" lvl="2" marL="1371600" algn="l">
              <a:lnSpc>
                <a:spcPct val="110000"/>
              </a:lnSpc>
              <a:spcBef>
                <a:spcPts val="500"/>
              </a:spcBef>
              <a:spcAft>
                <a:spcPts val="0"/>
              </a:spcAft>
              <a:buSzPts val="2000"/>
              <a:buNone/>
              <a:defRPr/>
            </a:lvl3pPr>
            <a:lvl4pPr indent="-342900" lvl="3" marL="1828800" algn="l">
              <a:lnSpc>
                <a:spcPct val="110000"/>
              </a:lnSpc>
              <a:spcBef>
                <a:spcPts val="500"/>
              </a:spcBef>
              <a:spcAft>
                <a:spcPts val="0"/>
              </a:spcAft>
              <a:buSzPts val="1800"/>
              <a:buChar char="•"/>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65" name="Google Shape;65;p92"/>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800"/>
              <a:buNone/>
              <a:defRPr/>
            </a:lvl1pPr>
            <a:lvl2pPr indent="-358140" lvl="1" marL="914400" algn="l">
              <a:lnSpc>
                <a:spcPct val="110000"/>
              </a:lnSpc>
              <a:spcBef>
                <a:spcPts val="500"/>
              </a:spcBef>
              <a:spcAft>
                <a:spcPts val="0"/>
              </a:spcAft>
              <a:buSzPts val="2040"/>
              <a:buChar char="•"/>
              <a:defRPr/>
            </a:lvl2pPr>
            <a:lvl3pPr indent="-228600" lvl="2" marL="1371600" algn="l">
              <a:lnSpc>
                <a:spcPct val="110000"/>
              </a:lnSpc>
              <a:spcBef>
                <a:spcPts val="500"/>
              </a:spcBef>
              <a:spcAft>
                <a:spcPts val="0"/>
              </a:spcAft>
              <a:buSzPts val="2000"/>
              <a:buNone/>
              <a:defRPr/>
            </a:lvl3pPr>
            <a:lvl4pPr indent="-342900" lvl="3" marL="1828800" algn="l">
              <a:lnSpc>
                <a:spcPct val="110000"/>
              </a:lnSpc>
              <a:spcBef>
                <a:spcPts val="500"/>
              </a:spcBef>
              <a:spcAft>
                <a:spcPts val="0"/>
              </a:spcAft>
              <a:buSzPts val="1800"/>
              <a:buChar char="•"/>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66" name="Google Shape;66;p92"/>
          <p:cNvSpPr txBox="1"/>
          <p:nvPr>
            <p:ph idx="12" type="sldNum"/>
          </p:nvPr>
        </p:nvSpPr>
        <p:spPr>
          <a:xfrm>
            <a:off x="11657010" y="6492875"/>
            <a:ext cx="52449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67" name="Google Shape;67;p92"/>
          <p:cNvSpPr txBox="1"/>
          <p:nvPr>
            <p:ph idx="11" type="ftr"/>
          </p:nvPr>
        </p:nvSpPr>
        <p:spPr>
          <a:xfrm>
            <a:off x="7807033" y="6493508"/>
            <a:ext cx="411222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50">
                <a:solidFill>
                  <a:srgbClr val="7F7F7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2"/>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SzPts val="4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p:nvPr/>
        </p:nvSpPr>
        <p:spPr>
          <a:xfrm>
            <a:off x="0" y="6360160"/>
            <a:ext cx="12192000" cy="497840"/>
          </a:xfrm>
          <a:prstGeom prst="rect">
            <a:avLst/>
          </a:prstGeom>
          <a:solidFill>
            <a:srgbClr val="33CCCC"/>
          </a:solidFill>
          <a:ln cap="flat" cmpd="sng" w="12700">
            <a:solidFill>
              <a:srgbClr val="1F2B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 name="Google Shape;11;p35"/>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a:bodyPr>
          <a:lstStyle>
            <a:lvl1pPr lvl="0" marR="0" rtl="0" algn="l">
              <a:lnSpc>
                <a:spcPct val="110000"/>
              </a:lnSpc>
              <a:spcBef>
                <a:spcPts val="0"/>
              </a:spcBef>
              <a:spcAft>
                <a:spcPts val="0"/>
              </a:spcAft>
              <a:buClr>
                <a:srgbClr val="003399"/>
              </a:buClr>
              <a:buSzPts val="4000"/>
              <a:buFont typeface="Arial"/>
              <a:buNone/>
              <a:defRPr b="0" i="0" sz="4000" u="none" cap="none" strike="noStrike">
                <a:solidFill>
                  <a:srgbClr val="00339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35"/>
          <p:cNvSpPr txBox="1"/>
          <p:nvPr>
            <p:ph idx="1" type="body"/>
          </p:nvPr>
        </p:nvSpPr>
        <p:spPr>
          <a:xfrm>
            <a:off x="284480" y="1241248"/>
            <a:ext cx="11634776" cy="5003783"/>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1pPr>
            <a:lvl2pPr indent="-358140" lvl="1" marL="914400" marR="0" rtl="0" algn="l">
              <a:lnSpc>
                <a:spcPct val="110000"/>
              </a:lnSpc>
              <a:spcBef>
                <a:spcPts val="500"/>
              </a:spcBef>
              <a:spcAft>
                <a:spcPts val="0"/>
              </a:spcAft>
              <a:buClr>
                <a:schemeClr val="dk2"/>
              </a:buClr>
              <a:buSzPts val="2040"/>
              <a:buFont typeface="Arial"/>
              <a:buChar char="•"/>
              <a:defRPr b="0" i="0" sz="2400" u="none" cap="none" strike="noStrike">
                <a:solidFill>
                  <a:schemeClr val="dk2"/>
                </a:solidFill>
                <a:latin typeface="Arial"/>
                <a:ea typeface="Arial"/>
                <a:cs typeface="Arial"/>
                <a:sym typeface="Arial"/>
              </a:defRPr>
            </a:lvl2pPr>
            <a:lvl3pPr indent="-228600" lvl="2" marL="1371600" marR="0" rtl="0" algn="l">
              <a:lnSpc>
                <a:spcPct val="110000"/>
              </a:lnSpc>
              <a:spcBef>
                <a:spcPts val="500"/>
              </a:spcBef>
              <a:spcAft>
                <a:spcPts val="0"/>
              </a:spcAft>
              <a:buClr>
                <a:schemeClr val="dk2"/>
              </a:buClr>
              <a:buSzPts val="2000"/>
              <a:buFont typeface="Arial"/>
              <a:buNone/>
              <a:defRPr b="0" i="0" sz="2000" u="none" cap="none" strike="noStrike">
                <a:solidFill>
                  <a:schemeClr val="dk2"/>
                </a:solidFill>
                <a:latin typeface="Arial"/>
                <a:ea typeface="Arial"/>
                <a:cs typeface="Arial"/>
                <a:sym typeface="Arial"/>
              </a:defRPr>
            </a:lvl3pPr>
            <a:lvl4pPr indent="-342900" lvl="3" marL="1828800" marR="0" rtl="0" algn="l">
              <a:lnSpc>
                <a:spcPct val="110000"/>
              </a:lnSpc>
              <a:spcBef>
                <a:spcPts val="50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228600" lvl="4" marL="2286000" marR="0" rtl="0" algn="l">
              <a:lnSpc>
                <a:spcPct val="110000"/>
              </a:lnSpc>
              <a:spcBef>
                <a:spcPts val="50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35"/>
          <p:cNvSpPr txBox="1"/>
          <p:nvPr>
            <p:ph idx="12" type="sldNum"/>
          </p:nvPr>
        </p:nvSpPr>
        <p:spPr>
          <a:xfrm>
            <a:off x="11657010" y="6492875"/>
            <a:ext cx="52449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35"/>
          <p:cNvSpPr txBox="1"/>
          <p:nvPr>
            <p:ph idx="11" type="ftr"/>
          </p:nvPr>
        </p:nvSpPr>
        <p:spPr>
          <a:xfrm>
            <a:off x="7807033" y="6493508"/>
            <a:ext cx="411222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rgbClr val="7F7F7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 name="Google Shape;15;p35"/>
          <p:cNvSpPr/>
          <p:nvPr/>
        </p:nvSpPr>
        <p:spPr>
          <a:xfrm>
            <a:off x="0" y="0"/>
            <a:ext cx="12192000" cy="6858000"/>
          </a:xfrm>
          <a:custGeom>
            <a:rect b="b" l="l" r="r" t="t"/>
            <a:pathLst>
              <a:path extrusionOk="0" h="6858000" w="12192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7.jp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hyperlink" Target="https://www.peoplemattersglobal.com/article/technology/five-reasons-why-technology-needs-to-become-more-human-26401" TargetMode="External"/><Relationship Id="rId5" Type="http://schemas.openxmlformats.org/officeDocument/2006/relationships/hyperlink" Target="https://creativecommons.org/licenses/by-nc-sa/3.0/" TargetMode="External"/><Relationship Id="rId6" Type="http://schemas.openxmlformats.org/officeDocument/2006/relationships/image" Target="../media/image2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hyperlink" Target="https://policyoptions.irpp.org/magazines/december-2019/the-problem-with-personalized-health-information/" TargetMode="External"/><Relationship Id="rId5" Type="http://schemas.openxmlformats.org/officeDocument/2006/relationships/hyperlink" Target="https://creativecommons.org/licenses/by-nd/3.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hyperlink" Target="https://elifesciences.org/digests/53275/how-synthetic-data-can-protect-participant-privacy" TargetMode="External"/><Relationship Id="rId4" Type="http://schemas.openxmlformats.org/officeDocument/2006/relationships/hyperlink" Target="https://creativecommons.org/licenses/by/3.0/" TargetMode="External"/><Relationship Id="rId5" Type="http://schemas.openxmlformats.org/officeDocument/2006/relationships/image" Target="../media/image4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hyperlink" Target="https://elifesciences.org/digests/53275/how-synthetic-data-can-protect-participant-privacy" TargetMode="External"/><Relationship Id="rId4" Type="http://schemas.openxmlformats.org/officeDocument/2006/relationships/hyperlink" Target="https://creativecommons.org/licenses/by/3.0/" TargetMode="External"/><Relationship Id="rId5" Type="http://schemas.openxmlformats.org/officeDocument/2006/relationships/hyperlink" Target="https://policyoptions.irpp.org/magazines/may-2020/like-us-our-personal-health-information-is-safest-at-home/" TargetMode="External"/><Relationship Id="rId6" Type="http://schemas.openxmlformats.org/officeDocument/2006/relationships/hyperlink" Target="https://creativecommons.org/licenses/by-nd/3.0/" TargetMode="External"/><Relationship Id="rId7" Type="http://schemas.openxmlformats.org/officeDocument/2006/relationships/image" Target="../media/image40.jpg"/><Relationship Id="rId8"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hyperlink" Target="https://www.wired.it/play/televisione/2015/06/23/ritorno-star-trek/" TargetMode="External"/><Relationship Id="rId4" Type="http://schemas.openxmlformats.org/officeDocument/2006/relationships/hyperlink" Target="https://creativecommons.org/licenses/by-nc-nd/3.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image" Target="../media/image30.jpg"/><Relationship Id="rId5" Type="http://schemas.openxmlformats.org/officeDocument/2006/relationships/image" Target="../media/image15.png"/><Relationship Id="rId6" Type="http://schemas.openxmlformats.org/officeDocument/2006/relationships/image" Target="../media/image11.jpg"/><Relationship Id="rId7" Type="http://schemas.openxmlformats.org/officeDocument/2006/relationships/image" Target="../media/image3.gif"/><Relationship Id="rId8" Type="http://schemas.openxmlformats.org/officeDocument/2006/relationships/image" Target="../media/image7.jpg"/></Relationships>
</file>

<file path=ppt/slides/_rels/slide16.xml.rels><?xml version="1.0" encoding="UTF-8" standalone="yes"?><Relationships xmlns="http://schemas.openxmlformats.org/package/2006/relationships"><Relationship Id="rId11" Type="http://schemas.openxmlformats.org/officeDocument/2006/relationships/image" Target="../media/image39.png"/><Relationship Id="rId10" Type="http://schemas.openxmlformats.org/officeDocument/2006/relationships/image" Target="../media/image25.png"/><Relationship Id="rId13" Type="http://schemas.openxmlformats.org/officeDocument/2006/relationships/image" Target="../media/image34.png"/><Relationship Id="rId12" Type="http://schemas.openxmlformats.org/officeDocument/2006/relationships/image" Target="../media/image22.png"/><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2.png"/><Relationship Id="rId9" Type="http://schemas.openxmlformats.org/officeDocument/2006/relationships/image" Target="../media/image26.png"/><Relationship Id="rId15" Type="http://schemas.openxmlformats.org/officeDocument/2006/relationships/image" Target="../media/image46.png"/><Relationship Id="rId14" Type="http://schemas.openxmlformats.org/officeDocument/2006/relationships/image" Target="../media/image27.png"/><Relationship Id="rId17" Type="http://schemas.openxmlformats.org/officeDocument/2006/relationships/image" Target="../media/image31.png"/><Relationship Id="rId16" Type="http://schemas.openxmlformats.org/officeDocument/2006/relationships/image" Target="../media/image32.jp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image" Target="../media/image24.png"/><Relationship Id="rId8"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28.png"/><Relationship Id="rId5" Type="http://schemas.openxmlformats.org/officeDocument/2006/relationships/image" Target="../media/image42.png"/><Relationship Id="rId6" Type="http://schemas.openxmlformats.org/officeDocument/2006/relationships/image" Target="../media/image38.png"/><Relationship Id="rId7" Type="http://schemas.openxmlformats.org/officeDocument/2006/relationships/image" Target="../media/image3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2.jpg"/><Relationship Id="rId4" Type="http://schemas.openxmlformats.org/officeDocument/2006/relationships/image" Target="../media/image41.jpg"/><Relationship Id="rId5"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61.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43.jpg"/><Relationship Id="rId4" Type="http://schemas.openxmlformats.org/officeDocument/2006/relationships/hyperlink" Target="https://openpress.usask.ca/undergradimaging/chapter/introduction-to-principles-of-imaging-techniques/" TargetMode="External"/><Relationship Id="rId5" Type="http://schemas.openxmlformats.org/officeDocument/2006/relationships/hyperlink" Target="https://creativecommons.org/licenses/by-nc-sa/3.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45.jpg"/><Relationship Id="rId4" Type="http://schemas.openxmlformats.org/officeDocument/2006/relationships/hyperlink" Target="https://www.flickr.com/photos/jurvetson/3656849977" TargetMode="External"/><Relationship Id="rId5" Type="http://schemas.openxmlformats.org/officeDocument/2006/relationships/hyperlink" Target="https://creativecommons.org/licenses/by/3.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54.png"/><Relationship Id="rId4" Type="http://schemas.openxmlformats.org/officeDocument/2006/relationships/hyperlink" Target="https://www.slicer.org/wiki/Documentation/Nightly/Modules/DICOM" TargetMode="External"/><Relationship Id="rId5" Type="http://schemas.openxmlformats.org/officeDocument/2006/relationships/hyperlink" Target="https://creativecommons.org/licenses/by-sa/3.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53.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67.png"/><Relationship Id="rId7"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57.png"/><Relationship Id="rId4" Type="http://schemas.openxmlformats.org/officeDocument/2006/relationships/image" Target="../media/image44.png"/><Relationship Id="rId5" Type="http://schemas.openxmlformats.org/officeDocument/2006/relationships/image" Target="../media/image47.png"/><Relationship Id="rId6" Type="http://schemas.openxmlformats.org/officeDocument/2006/relationships/image" Target="../media/image65.png"/><Relationship Id="rId7" Type="http://schemas.openxmlformats.org/officeDocument/2006/relationships/image" Target="../media/image48.png"/><Relationship Id="rId8"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6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6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6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6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 Id="rId3" Type="http://schemas.openxmlformats.org/officeDocument/2006/relationships/image" Target="../media/image6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 Id="rId3" Type="http://schemas.openxmlformats.org/officeDocument/2006/relationships/image" Target="../media/image7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6.xml"/><Relationship Id="rId3" Type="http://schemas.openxmlformats.org/officeDocument/2006/relationships/image" Target="../media/image62.jpg"/><Relationship Id="rId4" Type="http://schemas.openxmlformats.org/officeDocument/2006/relationships/image" Target="../media/image72.jpg"/><Relationship Id="rId5" Type="http://schemas.openxmlformats.org/officeDocument/2006/relationships/hyperlink" Target="https://betterhealthwhileaging.net/4-steps-to-get-better-medical-advice/" TargetMode="External"/><Relationship Id="rId6" Type="http://schemas.openxmlformats.org/officeDocument/2006/relationships/hyperlink" Target="https://creativecommons.org/licenses/by-nc-nd/3.0/"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7.xml"/><Relationship Id="rId3" Type="http://schemas.openxmlformats.org/officeDocument/2006/relationships/image" Target="../media/image69.jpg"/><Relationship Id="rId4" Type="http://schemas.openxmlformats.org/officeDocument/2006/relationships/hyperlink" Target="https://www.lawtechtv.com/home/2009/07/how-will-the-hitech-act-change-hipaa-enforcement.html" TargetMode="External"/><Relationship Id="rId5" Type="http://schemas.openxmlformats.org/officeDocument/2006/relationships/hyperlink" Target="https://creativecommons.org/licenses/by-sa/3.0/"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2.xml"/><Relationship Id="rId3" Type="http://schemas.openxmlformats.org/officeDocument/2006/relationships/hyperlink" Target="https://www.nexsys.it/blog/un-anno-dal-gdpr/" TargetMode="External"/><Relationship Id="rId4" Type="http://schemas.openxmlformats.org/officeDocument/2006/relationships/hyperlink" Target="https://creativecommons.org/licenses/by-nd/3.0/"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3.xml"/><Relationship Id="rId3" Type="http://schemas.openxmlformats.org/officeDocument/2006/relationships/image" Target="../media/image70.png"/><Relationship Id="rId4" Type="http://schemas.openxmlformats.org/officeDocument/2006/relationships/image" Target="../media/image56.png"/><Relationship Id="rId5" Type="http://schemas.openxmlformats.org/officeDocument/2006/relationships/image" Target="../media/image5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7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5.xml"/><Relationship Id="rId3" Type="http://schemas.openxmlformats.org/officeDocument/2006/relationships/image" Target="../media/image66.jpg"/><Relationship Id="rId4" Type="http://schemas.openxmlformats.org/officeDocument/2006/relationships/hyperlink" Target="https://arkansasgopwing.blogspot.com/2016/11/patients-simply-cant-afford-to-wait.html" TargetMode="External"/><Relationship Id="rId5" Type="http://schemas.openxmlformats.org/officeDocument/2006/relationships/hyperlink" Target="https://creativecommons.org/licenses/by-nc-sa/3.0/"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7.xml"/><Relationship Id="rId3" Type="http://schemas.openxmlformats.org/officeDocument/2006/relationships/image" Target="../media/image64.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9.xml"/><Relationship Id="rId3" Type="http://schemas.openxmlformats.org/officeDocument/2006/relationships/image" Target="../media/image76.jpg"/><Relationship Id="rId4" Type="http://schemas.openxmlformats.org/officeDocument/2006/relationships/image" Target="../media/image89.png"/><Relationship Id="rId5" Type="http://schemas.openxmlformats.org/officeDocument/2006/relationships/image" Target="../media/image68.jpg"/><Relationship Id="rId6" Type="http://schemas.openxmlformats.org/officeDocument/2006/relationships/image" Target="../media/image85.png"/><Relationship Id="rId7" Type="http://schemas.openxmlformats.org/officeDocument/2006/relationships/image" Target="../media/image77.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71.jpg"/><Relationship Id="rId4" Type="http://schemas.openxmlformats.org/officeDocument/2006/relationships/hyperlink" Target="https://technofaq.org/posts/2019/06/6-vital-lessons-we-can-learn-from-high-profile-data-breaches/" TargetMode="External"/><Relationship Id="rId5" Type="http://schemas.openxmlformats.org/officeDocument/2006/relationships/hyperlink" Target="https://creativecommons.org/licenses/by-nc-sa/3.0/"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83.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4.xml"/><Relationship Id="rId3" Type="http://schemas.openxmlformats.org/officeDocument/2006/relationships/image" Target="../media/image78.jpg"/><Relationship Id="rId4" Type="http://schemas.openxmlformats.org/officeDocument/2006/relationships/image" Target="../media/image74.jpg"/><Relationship Id="rId5" Type="http://schemas.openxmlformats.org/officeDocument/2006/relationships/image" Target="../media/image80.png"/><Relationship Id="rId6" Type="http://schemas.openxmlformats.org/officeDocument/2006/relationships/image" Target="../media/image7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6.xml"/><Relationship Id="rId3" Type="http://schemas.openxmlformats.org/officeDocument/2006/relationships/image" Target="../media/image90.jpg"/><Relationship Id="rId4" Type="http://schemas.openxmlformats.org/officeDocument/2006/relationships/image" Target="../media/image88.jpg"/><Relationship Id="rId5" Type="http://schemas.openxmlformats.org/officeDocument/2006/relationships/image" Target="../media/image8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8.xml"/><Relationship Id="rId3" Type="http://schemas.openxmlformats.org/officeDocument/2006/relationships/image" Target="../media/image86.jpg"/><Relationship Id="rId4" Type="http://schemas.openxmlformats.org/officeDocument/2006/relationships/hyperlink" Target="http://www.flickr.com/photos/visionshare/7441458868/" TargetMode="External"/><Relationship Id="rId5" Type="http://schemas.openxmlformats.org/officeDocument/2006/relationships/hyperlink" Target="https://creativecommons.org/licenses/by-nc-sa/3.0/"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 Id="rId3" Type="http://schemas.openxmlformats.org/officeDocument/2006/relationships/image" Target="../media/image84.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1.xml"/><Relationship Id="rId3" Type="http://schemas.openxmlformats.org/officeDocument/2006/relationships/image" Target="../media/image87.jpg"/><Relationship Id="rId4" Type="http://schemas.openxmlformats.org/officeDocument/2006/relationships/hyperlink" Target="https://www.peoplematters.in/article/training-development/how-to-plan-for-your-organization-wide-cyber-security-skills-16063" TargetMode="External"/><Relationship Id="rId5" Type="http://schemas.openxmlformats.org/officeDocument/2006/relationships/hyperlink" Target="https://creativecommons.org/licenses/by-nc-sa/3.0/"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2.xml"/><Relationship Id="rId3" Type="http://schemas.openxmlformats.org/officeDocument/2006/relationships/image" Target="../media/image91.png"/><Relationship Id="rId4" Type="http://schemas.openxmlformats.org/officeDocument/2006/relationships/image" Target="../media/image9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 name="Shape 72"/>
        <p:cNvGrpSpPr/>
        <p:nvPr/>
      </p:nvGrpSpPr>
      <p:grpSpPr>
        <a:xfrm>
          <a:off x="0" y="0"/>
          <a:ext cx="0" cy="0"/>
          <a:chOff x="0" y="0"/>
          <a:chExt cx="0" cy="0"/>
        </a:xfrm>
      </p:grpSpPr>
      <p:sp>
        <p:nvSpPr>
          <p:cNvPr id="73" name="Google Shape;73;p1"/>
          <p:cNvSpPr txBox="1"/>
          <p:nvPr>
            <p:ph idx="4294967295" type="ctrTitle"/>
          </p:nvPr>
        </p:nvSpPr>
        <p:spPr>
          <a:xfrm>
            <a:off x="142875" y="666300"/>
            <a:ext cx="3864600" cy="903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EAS 5850:</a:t>
            </a:r>
            <a:endParaRPr b="1" i="0" sz="2400" u="none" cap="none" strike="noStrike">
              <a:solidFill>
                <a:srgbClr val="003399"/>
              </a:solidFill>
              <a:latin typeface="Arial"/>
              <a:ea typeface="Arial"/>
              <a:cs typeface="Arial"/>
              <a:sym typeface="Arial"/>
            </a:endParaRPr>
          </a:p>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IMAGING INFORMATICS</a:t>
            </a:r>
            <a:endParaRPr b="1" i="0" sz="2400" u="none" cap="none" strike="noStrike">
              <a:solidFill>
                <a:srgbClr val="003399"/>
              </a:solidFill>
              <a:latin typeface="Arial"/>
              <a:ea typeface="Arial"/>
              <a:cs typeface="Arial"/>
              <a:sym typeface="Arial"/>
            </a:endParaRPr>
          </a:p>
        </p:txBody>
      </p:sp>
      <p:sp>
        <p:nvSpPr>
          <p:cNvPr id="74" name="Google Shape;74;p1"/>
          <p:cNvSpPr txBox="1"/>
          <p:nvPr>
            <p:ph idx="4294967295" type="subTitle"/>
          </p:nvPr>
        </p:nvSpPr>
        <p:spPr>
          <a:xfrm>
            <a:off x="142874" y="1950720"/>
            <a:ext cx="3864600" cy="2375580"/>
          </a:xfrm>
          <a:prstGeom prst="rect">
            <a:avLst/>
          </a:prstGeom>
          <a:solidFill>
            <a:schemeClr val="lt1"/>
          </a:solidFill>
          <a:ln cap="flat" cmpd="sng" w="9525">
            <a:solidFill>
              <a:srgbClr val="0033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Arial"/>
              <a:buNone/>
            </a:pPr>
            <a:r>
              <a:rPr b="0" i="0" lang="en-US" sz="3600" u="none" cap="none" strike="noStrike">
                <a:solidFill>
                  <a:schemeClr val="dk2"/>
                </a:solidFill>
                <a:latin typeface="Arial"/>
                <a:ea typeface="Arial"/>
                <a:cs typeface="Arial"/>
                <a:sym typeface="Arial"/>
              </a:rPr>
              <a:t>Introduction to Informatics and Working with Healthcare Data</a:t>
            </a:r>
            <a:endParaRPr b="0" i="0" sz="2800" u="none" cap="none" strike="noStrike">
              <a:solidFill>
                <a:schemeClr val="dk2"/>
              </a:solidFill>
              <a:latin typeface="Arial"/>
              <a:ea typeface="Arial"/>
              <a:cs typeface="Arial"/>
              <a:sym typeface="Arial"/>
            </a:endParaRPr>
          </a:p>
        </p:txBody>
      </p:sp>
      <p:sp>
        <p:nvSpPr>
          <p:cNvPr id="75" name="Google Shape;75;p1"/>
          <p:cNvSpPr txBox="1"/>
          <p:nvPr/>
        </p:nvSpPr>
        <p:spPr>
          <a:xfrm>
            <a:off x="142875" y="5376850"/>
            <a:ext cx="3864600" cy="492600"/>
          </a:xfrm>
          <a:prstGeom prst="rect">
            <a:avLst/>
          </a:prstGeom>
          <a:solidFill>
            <a:schemeClr val="lt1"/>
          </a:solidFill>
          <a:ln cap="flat" cmpd="sng" w="9525">
            <a:solidFill>
              <a:srgbClr val="33CCCC"/>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accent1"/>
                </a:solidFill>
                <a:latin typeface="Arial"/>
                <a:ea typeface="Arial"/>
                <a:cs typeface="Arial"/>
                <a:sym typeface="Arial"/>
              </a:rPr>
              <a:t>Dr. Tessa S. Cook </a:t>
            </a:r>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2"/>
          <p:cNvSpPr txBox="1"/>
          <p:nvPr>
            <p:ph idx="4294967295" type="title"/>
          </p:nvPr>
        </p:nvSpPr>
        <p:spPr>
          <a:xfrm>
            <a:off x="138176" y="247842"/>
            <a:ext cx="8421300" cy="745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Introduction to Module 1</a:t>
            </a:r>
            <a:endParaRPr/>
          </a:p>
        </p:txBody>
      </p:sp>
      <p:grpSp>
        <p:nvGrpSpPr>
          <p:cNvPr id="81" name="Google Shape;81;p2"/>
          <p:cNvGrpSpPr/>
          <p:nvPr/>
        </p:nvGrpSpPr>
        <p:grpSpPr>
          <a:xfrm>
            <a:off x="138176" y="954164"/>
            <a:ext cx="8591296" cy="5275948"/>
            <a:chOff x="0" y="0"/>
            <a:chExt cx="8421370" cy="5002561"/>
          </a:xfrm>
        </p:grpSpPr>
        <p:sp>
          <p:nvSpPr>
            <p:cNvPr id="82" name="Google Shape;82;p2"/>
            <p:cNvSpPr/>
            <p:nvPr/>
          </p:nvSpPr>
          <p:spPr>
            <a:xfrm>
              <a:off x="0" y="0"/>
              <a:ext cx="8421370" cy="2382172"/>
            </a:xfrm>
            <a:prstGeom prst="roundRect">
              <a:avLst>
                <a:gd fmla="val 10000" name="adj"/>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3" name="Google Shape;83;p2"/>
            <p:cNvSpPr txBox="1"/>
            <p:nvPr/>
          </p:nvSpPr>
          <p:spPr>
            <a:xfrm>
              <a:off x="1922491" y="0"/>
              <a:ext cx="6498878" cy="2382172"/>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chemeClr val="lt1"/>
                </a:buClr>
                <a:buSzPts val="3200"/>
                <a:buFont typeface="Arial"/>
                <a:buNone/>
              </a:pPr>
              <a:r>
                <a:rPr b="0" i="0" lang="en-US" sz="2800" u="none" cap="none" strike="noStrike">
                  <a:solidFill>
                    <a:schemeClr val="lt1"/>
                  </a:solidFill>
                  <a:latin typeface="Arial"/>
                  <a:ea typeface="Arial"/>
                  <a:cs typeface="Arial"/>
                  <a:sym typeface="Arial"/>
                </a:rPr>
                <a:t>Lesson 1: What is Informatics?</a:t>
              </a:r>
              <a:endParaRPr b="0" i="0" sz="2800" u="none" cap="none" strike="noStrike">
                <a:solidFill>
                  <a:schemeClr val="lt1"/>
                </a:solidFill>
                <a:latin typeface="Arial"/>
                <a:ea typeface="Arial"/>
                <a:cs typeface="Arial"/>
                <a:sym typeface="Arial"/>
              </a:endParaRPr>
            </a:p>
            <a:p>
              <a:pPr indent="-228600" lvl="1" marL="228600" marR="0" rtl="0" algn="l">
                <a:lnSpc>
                  <a:spcPct val="90000"/>
                </a:lnSpc>
                <a:spcBef>
                  <a:spcPts val="1120"/>
                </a:spcBef>
                <a:spcAft>
                  <a:spcPts val="0"/>
                </a:spcAft>
                <a:buClr>
                  <a:schemeClr val="lt1"/>
                </a:buClr>
                <a:buSzPts val="2500"/>
                <a:buFont typeface="Arial"/>
                <a:buChar char="•"/>
              </a:pPr>
              <a:r>
                <a:rPr b="0" i="0" lang="en-US" sz="2400" u="none" cap="none" strike="noStrike">
                  <a:solidFill>
                    <a:schemeClr val="lt1"/>
                  </a:solidFill>
                  <a:latin typeface="Arial"/>
                  <a:ea typeface="Arial"/>
                  <a:cs typeface="Arial"/>
                  <a:sym typeface="Arial"/>
                </a:rPr>
                <a:t>Different types of informatics</a:t>
              </a:r>
              <a:endParaRPr b="0" i="0" sz="2400" u="none" cap="none" strike="noStrike">
                <a:solidFill>
                  <a:schemeClr val="lt1"/>
                </a:solidFill>
                <a:latin typeface="Arial"/>
                <a:ea typeface="Arial"/>
                <a:cs typeface="Arial"/>
                <a:sym typeface="Arial"/>
              </a:endParaRPr>
            </a:p>
            <a:p>
              <a:pPr indent="-228600" lvl="1" marL="228600" marR="0" rtl="0" algn="l">
                <a:lnSpc>
                  <a:spcPct val="90000"/>
                </a:lnSpc>
                <a:spcBef>
                  <a:spcPts val="375"/>
                </a:spcBef>
                <a:spcAft>
                  <a:spcPts val="0"/>
                </a:spcAft>
                <a:buClr>
                  <a:schemeClr val="lt1"/>
                </a:buClr>
                <a:buSzPts val="2500"/>
                <a:buFont typeface="Arial"/>
                <a:buChar char="•"/>
              </a:pPr>
              <a:r>
                <a:rPr b="0" i="0" lang="en-US" sz="2400" u="none" cap="none" strike="noStrike">
                  <a:solidFill>
                    <a:schemeClr val="lt1"/>
                  </a:solidFill>
                  <a:latin typeface="Arial"/>
                  <a:ea typeface="Arial"/>
                  <a:cs typeface="Arial"/>
                  <a:sym typeface="Arial"/>
                </a:rPr>
                <a:t>Where imaging fits in</a:t>
              </a:r>
              <a:endParaRPr b="0" i="0" sz="2400" u="none" cap="none" strike="noStrike">
                <a:solidFill>
                  <a:schemeClr val="lt1"/>
                </a:solidFill>
                <a:latin typeface="Arial"/>
                <a:ea typeface="Arial"/>
                <a:cs typeface="Arial"/>
                <a:sym typeface="Arial"/>
              </a:endParaRPr>
            </a:p>
            <a:p>
              <a:pPr indent="-228600" lvl="1" marL="228600" marR="0" rtl="0" algn="l">
                <a:lnSpc>
                  <a:spcPct val="90000"/>
                </a:lnSpc>
                <a:spcBef>
                  <a:spcPts val="375"/>
                </a:spcBef>
                <a:spcAft>
                  <a:spcPts val="0"/>
                </a:spcAft>
                <a:buClr>
                  <a:schemeClr val="lt1"/>
                </a:buClr>
                <a:buSzPts val="2500"/>
                <a:buFont typeface="Arial"/>
                <a:buChar char="•"/>
              </a:pPr>
              <a:r>
                <a:rPr b="0" i="0" lang="en-US" sz="2400" u="none" cap="none" strike="noStrike">
                  <a:solidFill>
                    <a:schemeClr val="lt1"/>
                  </a:solidFill>
                  <a:latin typeface="Arial"/>
                  <a:ea typeface="Arial"/>
                  <a:cs typeface="Arial"/>
                  <a:sym typeface="Arial"/>
                </a:rPr>
                <a:t>Relationship between clinical informatics and imaging informatics</a:t>
              </a:r>
              <a:endParaRPr b="0" i="0" sz="2400" u="none" cap="none" strike="noStrike">
                <a:solidFill>
                  <a:schemeClr val="lt1"/>
                </a:solidFill>
                <a:latin typeface="Arial"/>
                <a:ea typeface="Arial"/>
                <a:cs typeface="Arial"/>
                <a:sym typeface="Arial"/>
              </a:endParaRPr>
            </a:p>
          </p:txBody>
        </p:sp>
        <p:sp>
          <p:nvSpPr>
            <p:cNvPr id="84" name="Google Shape;84;p2"/>
            <p:cNvSpPr/>
            <p:nvPr/>
          </p:nvSpPr>
          <p:spPr>
            <a:xfrm>
              <a:off x="238217" y="238217"/>
              <a:ext cx="1684274" cy="1905737"/>
            </a:xfrm>
            <a:prstGeom prst="roundRect">
              <a:avLst>
                <a:gd fmla="val 10000" name="adj"/>
              </a:avLst>
            </a:prstGeom>
            <a:blipFill rotWithShape="1">
              <a:blip r:embed="rId3">
                <a:alphaModFix/>
              </a:blip>
              <a:stretch>
                <a:fillRect b="0" l="-50984" r="-50982"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5" name="Google Shape;85;p2"/>
            <p:cNvSpPr/>
            <p:nvPr/>
          </p:nvSpPr>
          <p:spPr>
            <a:xfrm>
              <a:off x="0" y="2620389"/>
              <a:ext cx="8421370" cy="2382172"/>
            </a:xfrm>
            <a:prstGeom prst="roundRect">
              <a:avLst>
                <a:gd fmla="val 10000" name="adj"/>
              </a:avLst>
            </a:prstGeom>
            <a:solidFill>
              <a:srgbClr val="599FAD"/>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6" name="Google Shape;86;p2"/>
            <p:cNvSpPr txBox="1"/>
            <p:nvPr/>
          </p:nvSpPr>
          <p:spPr>
            <a:xfrm>
              <a:off x="1922491" y="2620389"/>
              <a:ext cx="6498878" cy="2382172"/>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chemeClr val="lt1"/>
                </a:buClr>
                <a:buSzPts val="3200"/>
                <a:buFont typeface="Arial"/>
                <a:buNone/>
              </a:pPr>
              <a:r>
                <a:rPr b="0" i="0" lang="en-US" sz="2800" u="none" cap="none" strike="noStrike">
                  <a:solidFill>
                    <a:schemeClr val="lt1"/>
                  </a:solidFill>
                  <a:latin typeface="Arial"/>
                  <a:ea typeface="Arial"/>
                  <a:cs typeface="Arial"/>
                  <a:sym typeface="Arial"/>
                </a:rPr>
                <a:t>Lesson 2: Healthcare Data and Systems</a:t>
              </a:r>
              <a:endParaRPr b="0" i="0" sz="2800" u="none" cap="none" strike="noStrike">
                <a:solidFill>
                  <a:schemeClr val="lt1"/>
                </a:solidFill>
                <a:latin typeface="Arial"/>
                <a:ea typeface="Arial"/>
                <a:cs typeface="Arial"/>
                <a:sym typeface="Arial"/>
              </a:endParaRPr>
            </a:p>
            <a:p>
              <a:pPr indent="-228600" lvl="1" marL="228600" marR="0" rtl="0" algn="l">
                <a:lnSpc>
                  <a:spcPct val="90000"/>
                </a:lnSpc>
                <a:spcBef>
                  <a:spcPts val="1120"/>
                </a:spcBef>
                <a:spcAft>
                  <a:spcPts val="0"/>
                </a:spcAft>
                <a:buClr>
                  <a:schemeClr val="lt1"/>
                </a:buClr>
                <a:buSzPts val="2500"/>
                <a:buFont typeface="Arial"/>
                <a:buChar char="•"/>
              </a:pPr>
              <a:r>
                <a:rPr b="0" i="0" lang="en-US" sz="2400" u="none" cap="none" strike="noStrike">
                  <a:solidFill>
                    <a:schemeClr val="lt1"/>
                  </a:solidFill>
                  <a:latin typeface="Arial"/>
                  <a:ea typeface="Arial"/>
                  <a:cs typeface="Arial"/>
                  <a:sym typeface="Arial"/>
                </a:rPr>
                <a:t>Patient data vs. non-patient data</a:t>
              </a:r>
              <a:endParaRPr b="0" i="0" sz="2400" u="none" cap="none" strike="noStrike">
                <a:solidFill>
                  <a:schemeClr val="lt1"/>
                </a:solidFill>
                <a:latin typeface="Arial"/>
                <a:ea typeface="Arial"/>
                <a:cs typeface="Arial"/>
                <a:sym typeface="Arial"/>
              </a:endParaRPr>
            </a:p>
            <a:p>
              <a:pPr indent="-228600" lvl="1" marL="228600" marR="0" rtl="0" algn="l">
                <a:lnSpc>
                  <a:spcPct val="90000"/>
                </a:lnSpc>
                <a:spcBef>
                  <a:spcPts val="375"/>
                </a:spcBef>
                <a:spcAft>
                  <a:spcPts val="0"/>
                </a:spcAft>
                <a:buClr>
                  <a:schemeClr val="lt1"/>
                </a:buClr>
                <a:buSzPts val="2500"/>
                <a:buFont typeface="Arial"/>
                <a:buChar char="•"/>
              </a:pPr>
              <a:r>
                <a:rPr b="0" i="0" lang="en-US" sz="2400" u="none" cap="none" strike="noStrike">
                  <a:solidFill>
                    <a:schemeClr val="lt1"/>
                  </a:solidFill>
                  <a:latin typeface="Arial"/>
                  <a:ea typeface="Arial"/>
                  <a:cs typeface="Arial"/>
                  <a:sym typeface="Arial"/>
                </a:rPr>
                <a:t>Confidentiality and compliance</a:t>
              </a:r>
              <a:endParaRPr b="0" i="0" sz="2400" u="none" cap="none" strike="noStrike">
                <a:solidFill>
                  <a:schemeClr val="lt1"/>
                </a:solidFill>
                <a:latin typeface="Arial"/>
                <a:ea typeface="Arial"/>
                <a:cs typeface="Arial"/>
                <a:sym typeface="Arial"/>
              </a:endParaRPr>
            </a:p>
            <a:p>
              <a:pPr indent="-228600" lvl="1" marL="228600" marR="0" rtl="0" algn="l">
                <a:lnSpc>
                  <a:spcPct val="90000"/>
                </a:lnSpc>
                <a:spcBef>
                  <a:spcPts val="375"/>
                </a:spcBef>
                <a:spcAft>
                  <a:spcPts val="0"/>
                </a:spcAft>
                <a:buClr>
                  <a:schemeClr val="lt1"/>
                </a:buClr>
                <a:buSzPts val="2500"/>
                <a:buFont typeface="Arial"/>
                <a:buChar char="•"/>
              </a:pPr>
              <a:r>
                <a:rPr b="0" i="0" lang="en-US" sz="2400" u="none" cap="none" strike="noStrike">
                  <a:solidFill>
                    <a:schemeClr val="lt1"/>
                  </a:solidFill>
                  <a:latin typeface="Arial"/>
                  <a:ea typeface="Arial"/>
                  <a:cs typeface="Arial"/>
                  <a:sym typeface="Arial"/>
                </a:rPr>
                <a:t>De-identification of medical data</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375"/>
                </a:spcBef>
                <a:spcAft>
                  <a:spcPts val="0"/>
                </a:spcAft>
                <a:buClr>
                  <a:schemeClr val="lt1"/>
                </a:buClr>
                <a:buSzPts val="2500"/>
                <a:buFont typeface="Arial"/>
                <a:buChar char="•"/>
              </a:pPr>
              <a:r>
                <a:rPr b="0" i="0" lang="en-US" sz="2400" u="none" cap="none" strike="noStrike">
                  <a:solidFill>
                    <a:schemeClr val="lt1"/>
                  </a:solidFill>
                  <a:latin typeface="Arial"/>
                  <a:ea typeface="Arial"/>
                  <a:cs typeface="Arial"/>
                  <a:sym typeface="Arial"/>
                </a:rPr>
                <a:t>Patient and data safety</a:t>
              </a:r>
              <a:endParaRPr b="0" i="0" sz="2400" u="none" cap="none" strike="noStrike">
                <a:solidFill>
                  <a:schemeClr val="lt1"/>
                </a:solidFill>
                <a:latin typeface="Arial"/>
                <a:ea typeface="Arial"/>
                <a:cs typeface="Arial"/>
                <a:sym typeface="Arial"/>
              </a:endParaRPr>
            </a:p>
          </p:txBody>
        </p:sp>
        <p:sp>
          <p:nvSpPr>
            <p:cNvPr id="87" name="Google Shape;87;p2"/>
            <p:cNvSpPr/>
            <p:nvPr/>
          </p:nvSpPr>
          <p:spPr>
            <a:xfrm>
              <a:off x="238217" y="2858606"/>
              <a:ext cx="1684274" cy="1905737"/>
            </a:xfrm>
            <a:prstGeom prst="roundRect">
              <a:avLst>
                <a:gd fmla="val 10000" name="adj"/>
              </a:avLst>
            </a:prstGeom>
            <a:blipFill rotWithShape="1">
              <a:blip r:embed="rId4">
                <a:alphaModFix/>
              </a:blip>
              <a:stretch>
                <a:fillRect b="0" l="-34993" r="-34993"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txBox="1"/>
          <p:nvPr>
            <p:ph idx="4294967295" type="ctrTitle"/>
          </p:nvPr>
        </p:nvSpPr>
        <p:spPr>
          <a:xfrm>
            <a:off x="142875" y="666300"/>
            <a:ext cx="3864600" cy="903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EAS 5850:</a:t>
            </a:r>
            <a:endParaRPr b="1" i="0" sz="2400" u="none" cap="none" strike="noStrike">
              <a:solidFill>
                <a:srgbClr val="003399"/>
              </a:solidFill>
              <a:latin typeface="Arial"/>
              <a:ea typeface="Arial"/>
              <a:cs typeface="Arial"/>
              <a:sym typeface="Arial"/>
            </a:endParaRPr>
          </a:p>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IMAGING INFORMATICS</a:t>
            </a:r>
            <a:endParaRPr b="1" i="0" sz="2400" u="none" cap="none" strike="noStrike">
              <a:solidFill>
                <a:srgbClr val="003399"/>
              </a:solidFill>
              <a:latin typeface="Arial"/>
              <a:ea typeface="Arial"/>
              <a:cs typeface="Arial"/>
              <a:sym typeface="Arial"/>
            </a:endParaRPr>
          </a:p>
        </p:txBody>
      </p:sp>
      <p:sp>
        <p:nvSpPr>
          <p:cNvPr id="93" name="Google Shape;93;p3"/>
          <p:cNvSpPr txBox="1"/>
          <p:nvPr>
            <p:ph idx="4294967295" type="subTitle"/>
          </p:nvPr>
        </p:nvSpPr>
        <p:spPr>
          <a:xfrm>
            <a:off x="142874" y="2531700"/>
            <a:ext cx="3864600" cy="1794600"/>
          </a:xfrm>
          <a:prstGeom prst="rect">
            <a:avLst/>
          </a:prstGeom>
          <a:solidFill>
            <a:schemeClr val="lt1"/>
          </a:solidFill>
          <a:ln cap="flat" cmpd="sng" w="9525">
            <a:solidFill>
              <a:srgbClr val="0033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Arial"/>
              <a:buNone/>
            </a:pPr>
            <a:r>
              <a:rPr b="0" i="0" lang="en-US" sz="3600" u="none" cap="none" strike="noStrike">
                <a:solidFill>
                  <a:schemeClr val="dk2"/>
                </a:solidFill>
                <a:latin typeface="Arial"/>
                <a:ea typeface="Arial"/>
                <a:cs typeface="Arial"/>
                <a:sym typeface="Arial"/>
              </a:rPr>
              <a:t>Introduction to Informatics </a:t>
            </a:r>
            <a:endParaRPr b="0" i="0" sz="2800" u="none" cap="none" strike="noStrike">
              <a:solidFill>
                <a:schemeClr val="dk2"/>
              </a:solidFill>
              <a:latin typeface="Arial"/>
              <a:ea typeface="Arial"/>
              <a:cs typeface="Arial"/>
              <a:sym typeface="Arial"/>
            </a:endParaRPr>
          </a:p>
        </p:txBody>
      </p:sp>
      <p:sp>
        <p:nvSpPr>
          <p:cNvPr id="94" name="Google Shape;94;p3"/>
          <p:cNvSpPr txBox="1"/>
          <p:nvPr/>
        </p:nvSpPr>
        <p:spPr>
          <a:xfrm>
            <a:off x="142875" y="5376850"/>
            <a:ext cx="3864600" cy="492600"/>
          </a:xfrm>
          <a:prstGeom prst="rect">
            <a:avLst/>
          </a:prstGeom>
          <a:solidFill>
            <a:schemeClr val="lt1"/>
          </a:solidFill>
          <a:ln cap="flat" cmpd="sng" w="9525">
            <a:solidFill>
              <a:srgbClr val="33CCCC"/>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accent1"/>
                </a:solidFill>
                <a:latin typeface="Arial"/>
                <a:ea typeface="Arial"/>
                <a:cs typeface="Arial"/>
                <a:sym typeface="Arial"/>
              </a:rPr>
              <a:t>Dr. Tessa S. Cook </a:t>
            </a:r>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ph idx="4294967295" type="title"/>
          </p:nvPr>
        </p:nvSpPr>
        <p:spPr>
          <a:xfrm>
            <a:off x="284480" y="247842"/>
            <a:ext cx="8421370"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What is Informatics?</a:t>
            </a:r>
            <a:endParaRPr/>
          </a:p>
        </p:txBody>
      </p:sp>
      <p:pic>
        <p:nvPicPr>
          <p:cNvPr descr=" An Image of word cloud with &quot;data&quot; at the center, surrounded by related terms such as &quot;ai,&quot; &quot;coding,&quot; and &quot;software.&quot; " id="101" name="Google Shape;101;p4"/>
          <p:cNvPicPr preferRelativeResize="0"/>
          <p:nvPr/>
        </p:nvPicPr>
        <p:blipFill rotWithShape="1">
          <a:blip r:embed="rId3">
            <a:alphaModFix/>
          </a:blip>
          <a:srcRect b="0" l="0" r="0" t="0"/>
          <a:stretch/>
        </p:blipFill>
        <p:spPr>
          <a:xfrm>
            <a:off x="226058" y="1815179"/>
            <a:ext cx="8538214" cy="3671222"/>
          </a:xfrm>
          <a:prstGeom prst="rect">
            <a:avLst/>
          </a:prstGeom>
          <a:noFill/>
          <a:ln>
            <a:noFill/>
          </a:ln>
        </p:spPr>
      </p:pic>
      <p:grpSp>
        <p:nvGrpSpPr>
          <p:cNvPr id="102" name="Google Shape;102;p4"/>
          <p:cNvGrpSpPr/>
          <p:nvPr/>
        </p:nvGrpSpPr>
        <p:grpSpPr>
          <a:xfrm>
            <a:off x="7243762" y="2714625"/>
            <a:ext cx="4502150" cy="3480857"/>
            <a:chOff x="0" y="0"/>
            <a:chExt cx="4502150" cy="3480857"/>
          </a:xfrm>
        </p:grpSpPr>
        <p:sp>
          <p:nvSpPr>
            <p:cNvPr id="103" name="Google Shape;103;p4"/>
            <p:cNvSpPr/>
            <p:nvPr/>
          </p:nvSpPr>
          <p:spPr>
            <a:xfrm>
              <a:off x="1688306" y="0"/>
              <a:ext cx="1125537" cy="870214"/>
            </a:xfrm>
            <a:prstGeom prst="trapezoid">
              <a:avLst>
                <a:gd fmla="val 64670" name="adj"/>
              </a:avLst>
            </a:prstGeom>
            <a:gradFill>
              <a:gsLst>
                <a:gs pos="0">
                  <a:srgbClr val="B1CBE6"/>
                </a:gs>
                <a:gs pos="50000">
                  <a:srgbClr val="A3C2E1"/>
                </a:gs>
                <a:gs pos="100000">
                  <a:srgbClr val="93BAE0"/>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4"/>
            <p:cNvSpPr txBox="1"/>
            <p:nvPr/>
          </p:nvSpPr>
          <p:spPr>
            <a:xfrm>
              <a:off x="1688306" y="0"/>
              <a:ext cx="1125537" cy="870214"/>
            </a:xfrm>
            <a:prstGeom prst="rect">
              <a:avLst/>
            </a:prstGeom>
            <a:noFill/>
            <a:ln>
              <a:noFill/>
            </a:ln>
          </p:spPr>
          <p:txBody>
            <a:bodyPr anchorCtr="0" anchor="ctr" bIns="17775" lIns="17775" spcFirstLastPara="1" rIns="17775" wrap="square" tIns="17775">
              <a:noAutofit/>
            </a:bodyPr>
            <a:lstStyle/>
            <a:p>
              <a:pPr indent="0" lvl="0" marL="0" marR="0" rtl="0" algn="ctr">
                <a:lnSpc>
                  <a:spcPct val="9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Wisdom</a:t>
              </a:r>
              <a:endParaRPr b="0" i="0" sz="2400" u="none" cap="none" strike="noStrike">
                <a:solidFill>
                  <a:schemeClr val="dk1"/>
                </a:solidFill>
                <a:latin typeface="Arial"/>
                <a:ea typeface="Arial"/>
                <a:cs typeface="Arial"/>
                <a:sym typeface="Arial"/>
              </a:endParaRPr>
            </a:p>
          </p:txBody>
        </p:sp>
        <p:sp>
          <p:nvSpPr>
            <p:cNvPr id="105" name="Google Shape;105;p4"/>
            <p:cNvSpPr/>
            <p:nvPr/>
          </p:nvSpPr>
          <p:spPr>
            <a:xfrm>
              <a:off x="1125537" y="870214"/>
              <a:ext cx="2251075" cy="870214"/>
            </a:xfrm>
            <a:prstGeom prst="trapezoid">
              <a:avLst>
                <a:gd fmla="val 64670" name="adj"/>
              </a:avLst>
            </a:prstGeom>
            <a:gradFill>
              <a:gsLst>
                <a:gs pos="0">
                  <a:srgbClr val="9EBBEA"/>
                </a:gs>
                <a:gs pos="50000">
                  <a:srgbClr val="90B0E5"/>
                </a:gs>
                <a:gs pos="100000">
                  <a:srgbClr val="7BA5E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 pyramid on the right illustrates a hierarchy: &quot;Data,&quot; &quot;Information,&quot; &quot;Knowledge,&quot; and &quot;Wisdom.&quot;" id="106" name="Google Shape;106;p4"/>
            <p:cNvSpPr txBox="1"/>
            <p:nvPr/>
          </p:nvSpPr>
          <p:spPr>
            <a:xfrm>
              <a:off x="1432804" y="870605"/>
              <a:ext cx="1636539" cy="870214"/>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Knowledge</a:t>
              </a:r>
              <a:endParaRPr b="0" i="0" sz="1400" u="none" cap="none" strike="noStrike">
                <a:solidFill>
                  <a:srgbClr val="000000"/>
                </a:solidFill>
                <a:latin typeface="Arial"/>
                <a:ea typeface="Arial"/>
                <a:cs typeface="Arial"/>
                <a:sym typeface="Arial"/>
              </a:endParaRPr>
            </a:p>
          </p:txBody>
        </p:sp>
        <p:sp>
          <p:nvSpPr>
            <p:cNvPr id="107" name="Google Shape;107;p4"/>
            <p:cNvSpPr/>
            <p:nvPr/>
          </p:nvSpPr>
          <p:spPr>
            <a:xfrm>
              <a:off x="562768" y="1740429"/>
              <a:ext cx="3376612" cy="870214"/>
            </a:xfrm>
            <a:prstGeom prst="trapezoid">
              <a:avLst>
                <a:gd fmla="val 64670" name="adj"/>
              </a:avLst>
            </a:prstGeom>
            <a:gradFill>
              <a:gsLst>
                <a:gs pos="0">
                  <a:srgbClr val="BDC4D0"/>
                </a:gs>
                <a:gs pos="50000">
                  <a:srgbClr val="B1B9C8"/>
                </a:gs>
                <a:gs pos="100000">
                  <a:srgbClr val="A5AFC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4"/>
            <p:cNvSpPr txBox="1"/>
            <p:nvPr/>
          </p:nvSpPr>
          <p:spPr>
            <a:xfrm>
              <a:off x="1153675" y="1740429"/>
              <a:ext cx="2194798" cy="870214"/>
            </a:xfrm>
            <a:prstGeom prst="rect">
              <a:avLst/>
            </a:prstGeom>
            <a:noFill/>
            <a:ln>
              <a:noFill/>
            </a:ln>
          </p:spPr>
          <p:txBody>
            <a:bodyPr anchorCtr="0" anchor="ctr" bIns="40625" lIns="40625" spcFirstLastPara="1" rIns="40625" wrap="square" tIns="40625">
              <a:noAutofit/>
            </a:bodyPr>
            <a:lstStyle/>
            <a:p>
              <a:pPr indent="0" lvl="0" marL="0" marR="0" rtl="0" algn="ctr">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Information</a:t>
              </a:r>
              <a:endParaRPr b="0" i="0" sz="2400" u="none" cap="none" strike="noStrike">
                <a:solidFill>
                  <a:schemeClr val="dk1"/>
                </a:solidFill>
                <a:latin typeface="Arial"/>
                <a:ea typeface="Arial"/>
                <a:cs typeface="Arial"/>
                <a:sym typeface="Arial"/>
              </a:endParaRPr>
            </a:p>
          </p:txBody>
        </p:sp>
        <p:sp>
          <p:nvSpPr>
            <p:cNvPr id="109" name="Google Shape;109;p4"/>
            <p:cNvSpPr/>
            <p:nvPr/>
          </p:nvSpPr>
          <p:spPr>
            <a:xfrm>
              <a:off x="0" y="2610643"/>
              <a:ext cx="4502150" cy="870214"/>
            </a:xfrm>
            <a:prstGeom prst="trapezoid">
              <a:avLst>
                <a:gd fmla="val 64670" name="adj"/>
              </a:avLst>
            </a:prstGeom>
            <a:gradFill>
              <a:gsLst>
                <a:gs pos="0">
                  <a:srgbClr val="ADCCD2"/>
                </a:gs>
                <a:gs pos="50000">
                  <a:srgbClr val="9FC3CB"/>
                </a:gs>
                <a:gs pos="100000">
                  <a:srgbClr val="8FBCC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4"/>
            <p:cNvSpPr txBox="1"/>
            <p:nvPr/>
          </p:nvSpPr>
          <p:spPr>
            <a:xfrm>
              <a:off x="787876" y="2610643"/>
              <a:ext cx="2926397" cy="870214"/>
            </a:xfrm>
            <a:prstGeom prst="rect">
              <a:avLst/>
            </a:prstGeom>
            <a:noFill/>
            <a:ln>
              <a:noFill/>
            </a:ln>
          </p:spPr>
          <p:txBody>
            <a:bodyPr anchorCtr="0" anchor="ctr" bIns="50800" lIns="50800" spcFirstLastPara="1" rIns="50800" wrap="square" tIns="50800">
              <a:noAutofit/>
            </a:bodyPr>
            <a:lstStyle/>
            <a:p>
              <a:pPr indent="0" lvl="0" marL="0" marR="0" rtl="0" algn="ctr">
                <a:lnSpc>
                  <a:spcPct val="90000"/>
                </a:lnSpc>
                <a:spcBef>
                  <a:spcPts val="0"/>
                </a:spcBef>
                <a:spcAft>
                  <a:spcPts val="0"/>
                </a:spcAft>
                <a:buClr>
                  <a:schemeClr val="dk1"/>
                </a:buClr>
                <a:buSzPts val="4000"/>
                <a:buFont typeface="Arial"/>
                <a:buNone/>
              </a:pPr>
              <a:r>
                <a:rPr b="0" i="0" lang="en-US" sz="4000" u="none" cap="none" strike="noStrike">
                  <a:solidFill>
                    <a:schemeClr val="dk1"/>
                  </a:solidFill>
                  <a:latin typeface="Arial"/>
                  <a:ea typeface="Arial"/>
                  <a:cs typeface="Arial"/>
                  <a:sym typeface="Arial"/>
                </a:rPr>
                <a:t>Data</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idx="4294967295" type="title"/>
          </p:nvPr>
        </p:nvSpPr>
        <p:spPr>
          <a:xfrm>
            <a:off x="284480" y="247842"/>
            <a:ext cx="8421370"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What is Informatics?</a:t>
            </a:r>
            <a:endParaRPr/>
          </a:p>
        </p:txBody>
      </p:sp>
      <p:grpSp>
        <p:nvGrpSpPr>
          <p:cNvPr id="117" name="Google Shape;117;p5"/>
          <p:cNvGrpSpPr/>
          <p:nvPr/>
        </p:nvGrpSpPr>
        <p:grpSpPr>
          <a:xfrm>
            <a:off x="1459824" y="1362371"/>
            <a:ext cx="6058933" cy="4590457"/>
            <a:chOff x="1181218" y="206671"/>
            <a:chExt cx="6058933" cy="4590457"/>
          </a:xfrm>
        </p:grpSpPr>
        <p:sp>
          <p:nvSpPr>
            <p:cNvPr id="118" name="Google Shape;118;p5"/>
            <p:cNvSpPr/>
            <p:nvPr/>
          </p:nvSpPr>
          <p:spPr>
            <a:xfrm>
              <a:off x="3184117" y="2804626"/>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
            <p:cNvSpPr/>
            <p:nvPr/>
          </p:nvSpPr>
          <p:spPr>
            <a:xfrm>
              <a:off x="3039353" y="3036618"/>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5"/>
            <p:cNvSpPr/>
            <p:nvPr/>
          </p:nvSpPr>
          <p:spPr>
            <a:xfrm>
              <a:off x="2866826" y="3237472"/>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5"/>
            <p:cNvSpPr/>
            <p:nvPr/>
          </p:nvSpPr>
          <p:spPr>
            <a:xfrm>
              <a:off x="3073065" y="469799"/>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5"/>
            <p:cNvSpPr/>
            <p:nvPr/>
          </p:nvSpPr>
          <p:spPr>
            <a:xfrm>
              <a:off x="3293847" y="338235"/>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5"/>
            <p:cNvSpPr/>
            <p:nvPr/>
          </p:nvSpPr>
          <p:spPr>
            <a:xfrm>
              <a:off x="3513967" y="206671"/>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5"/>
            <p:cNvSpPr/>
            <p:nvPr/>
          </p:nvSpPr>
          <p:spPr>
            <a:xfrm>
              <a:off x="3734088" y="338235"/>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5"/>
            <p:cNvSpPr/>
            <p:nvPr/>
          </p:nvSpPr>
          <p:spPr>
            <a:xfrm>
              <a:off x="3954869" y="469799"/>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5"/>
            <p:cNvSpPr/>
            <p:nvPr/>
          </p:nvSpPr>
          <p:spPr>
            <a:xfrm>
              <a:off x="3513967" y="484271"/>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5"/>
            <p:cNvSpPr/>
            <p:nvPr/>
          </p:nvSpPr>
          <p:spPr>
            <a:xfrm>
              <a:off x="3513967" y="761872"/>
              <a:ext cx="165255" cy="165255"/>
            </a:xfrm>
            <a:prstGeom prst="ellipse">
              <a:avLst/>
            </a:prstGeom>
            <a:solidFill>
              <a:srgbClr val="5F9DD1"/>
            </a:solidFill>
            <a:ln cap="flat" cmpd="sng" w="25400">
              <a:solidFill>
                <a:srgbClr val="5F9DD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
            <p:cNvSpPr/>
            <p:nvPr/>
          </p:nvSpPr>
          <p:spPr>
            <a:xfrm>
              <a:off x="2169447" y="3841095"/>
              <a:ext cx="3564233" cy="956033"/>
            </a:xfrm>
            <a:prstGeom prst="roundRect">
              <a:avLst>
                <a:gd fmla="val 16667" name="adj"/>
              </a:avLst>
            </a:prstGeom>
            <a:solidFill>
              <a:srgbClr val="5F9DD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
            <p:cNvSpPr txBox="1"/>
            <p:nvPr/>
          </p:nvSpPr>
          <p:spPr>
            <a:xfrm>
              <a:off x="2216117" y="3887765"/>
              <a:ext cx="3470893" cy="862693"/>
            </a:xfrm>
            <a:prstGeom prst="rect">
              <a:avLst/>
            </a:prstGeom>
            <a:noFill/>
            <a:ln>
              <a:noFill/>
            </a:ln>
          </p:spPr>
          <p:txBody>
            <a:bodyPr anchorCtr="0" anchor="ctr" bIns="68575" lIns="754425" spcFirstLastPara="1" rIns="68575" wrap="square" tIns="68575">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Data, information, knowledge</a:t>
              </a:r>
              <a:endParaRPr b="0" i="0" sz="1800" u="none" cap="none" strike="noStrike">
                <a:solidFill>
                  <a:schemeClr val="lt1"/>
                </a:solidFill>
                <a:latin typeface="Arial"/>
                <a:ea typeface="Arial"/>
                <a:cs typeface="Arial"/>
                <a:sym typeface="Arial"/>
              </a:endParaRPr>
            </a:p>
          </p:txBody>
        </p:sp>
        <p:sp>
          <p:nvSpPr>
            <p:cNvPr id="130" name="Google Shape;130;p5"/>
            <p:cNvSpPr/>
            <p:nvPr/>
          </p:nvSpPr>
          <p:spPr>
            <a:xfrm>
              <a:off x="1181218" y="2904357"/>
              <a:ext cx="1652556" cy="1652446"/>
            </a:xfrm>
            <a:prstGeom prst="ellipse">
              <a:avLst/>
            </a:prstGeom>
            <a:blipFill rotWithShape="1">
              <a:blip r:embed="rId3">
                <a:alphaModFix/>
              </a:blip>
              <a:stretch>
                <a:fillRect b="0" l="-44994" r="-44992" t="0"/>
              </a:stretch>
            </a:blip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
            <p:cNvSpPr/>
            <p:nvPr/>
          </p:nvSpPr>
          <p:spPr>
            <a:xfrm>
              <a:off x="3675918" y="1971128"/>
              <a:ext cx="3564233" cy="956033"/>
            </a:xfrm>
            <a:prstGeom prst="roundRect">
              <a:avLst>
                <a:gd fmla="val 16667" name="adj"/>
              </a:avLst>
            </a:prstGeom>
            <a:solidFill>
              <a:srgbClr val="5F9DD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5"/>
            <p:cNvSpPr txBox="1"/>
            <p:nvPr/>
          </p:nvSpPr>
          <p:spPr>
            <a:xfrm>
              <a:off x="3722588" y="2017798"/>
              <a:ext cx="3470893" cy="862693"/>
            </a:xfrm>
            <a:prstGeom prst="rect">
              <a:avLst/>
            </a:prstGeom>
            <a:noFill/>
            <a:ln>
              <a:noFill/>
            </a:ln>
          </p:spPr>
          <p:txBody>
            <a:bodyPr anchorCtr="0" anchor="ctr" bIns="68575" lIns="754425" spcFirstLastPara="1" rIns="68575" wrap="square" tIns="68575">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Improve human health and the delivery of health care services</a:t>
              </a:r>
              <a:endParaRPr b="0" i="0" sz="1800" u="none" cap="none" strike="noStrike">
                <a:solidFill>
                  <a:schemeClr val="lt1"/>
                </a:solidFill>
                <a:latin typeface="Arial"/>
                <a:ea typeface="Arial"/>
                <a:cs typeface="Arial"/>
                <a:sym typeface="Arial"/>
              </a:endParaRPr>
            </a:p>
          </p:txBody>
        </p:sp>
        <p:sp>
          <p:nvSpPr>
            <p:cNvPr descr="Two images: one of a person with raised arms and another of a data network. A caption emphasizes the role of informatics in improving health care, " id="133" name="Google Shape;133;p5"/>
            <p:cNvSpPr/>
            <p:nvPr/>
          </p:nvSpPr>
          <p:spPr>
            <a:xfrm>
              <a:off x="2687689" y="1034391"/>
              <a:ext cx="1652556" cy="1652446"/>
            </a:xfrm>
            <a:prstGeom prst="ellipse">
              <a:avLst/>
            </a:prstGeom>
            <a:blipFill rotWithShape="1">
              <a:blip r:embed="rId4">
                <a:alphaModFix/>
              </a:blip>
              <a:stretch>
                <a:fillRect b="0" l="-38995" r="-38994" t="0"/>
              </a:stretch>
            </a:blip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 name="Google Shape;134;p5"/>
          <p:cNvSpPr txBox="1"/>
          <p:nvPr/>
        </p:nvSpPr>
        <p:spPr>
          <a:xfrm>
            <a:off x="1200756" y="6014017"/>
            <a:ext cx="657707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https://amia.org/about-amia/why-informatics/informatics-research-and-practice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idx="1" type="body"/>
          </p:nvPr>
        </p:nvSpPr>
        <p:spPr>
          <a:xfrm>
            <a:off x="284480" y="1180828"/>
            <a:ext cx="5811520" cy="508662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2"/>
              </a:buClr>
              <a:buSzPts val="2800"/>
              <a:buFont typeface="Arial"/>
              <a:buNone/>
            </a:pPr>
            <a:r>
              <a:rPr lang="en-US"/>
              <a:t>Informatics</a:t>
            </a:r>
            <a:endParaRPr/>
          </a:p>
          <a:p>
            <a:pPr indent="-457200" lvl="0" marL="457200" rtl="0" algn="l">
              <a:lnSpc>
                <a:spcPct val="110000"/>
              </a:lnSpc>
              <a:spcBef>
                <a:spcPts val="1000"/>
              </a:spcBef>
              <a:spcAft>
                <a:spcPts val="0"/>
              </a:spcAft>
              <a:buClr>
                <a:schemeClr val="dk2"/>
              </a:buClr>
              <a:buSzPts val="2800"/>
              <a:buFont typeface="Noto Sans Symbols"/>
              <a:buChar char="❖"/>
            </a:pPr>
            <a:r>
              <a:rPr lang="en-US"/>
              <a:t>Human-computer interaction</a:t>
            </a:r>
            <a:endParaRPr/>
          </a:p>
          <a:p>
            <a:pPr indent="0" lvl="0" marL="0" rtl="0" algn="l">
              <a:lnSpc>
                <a:spcPct val="110000"/>
              </a:lnSpc>
              <a:spcBef>
                <a:spcPts val="1000"/>
              </a:spcBef>
              <a:spcAft>
                <a:spcPts val="0"/>
              </a:spcAft>
              <a:buClr>
                <a:schemeClr val="dk2"/>
              </a:buClr>
              <a:buSzPts val="2800"/>
              <a:buFont typeface="Arial"/>
              <a:buNone/>
            </a:pPr>
            <a:r>
              <a:t/>
            </a:r>
            <a:endParaRPr/>
          </a:p>
        </p:txBody>
      </p:sp>
      <p:sp>
        <p:nvSpPr>
          <p:cNvPr id="141" name="Google Shape;141;p6"/>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2"/>
              </a:buClr>
              <a:buSzPts val="2800"/>
              <a:buFont typeface="Arial"/>
              <a:buNone/>
            </a:pPr>
            <a:r>
              <a:rPr lang="en-US"/>
              <a:t>IT</a:t>
            </a:r>
            <a:endParaRPr/>
          </a:p>
          <a:p>
            <a:pPr indent="-457200" lvl="0" marL="457200" rtl="0" algn="l">
              <a:lnSpc>
                <a:spcPct val="110000"/>
              </a:lnSpc>
              <a:spcBef>
                <a:spcPts val="1000"/>
              </a:spcBef>
              <a:spcAft>
                <a:spcPts val="0"/>
              </a:spcAft>
              <a:buClr>
                <a:schemeClr val="dk2"/>
              </a:buClr>
              <a:buSzPts val="2800"/>
              <a:buFont typeface="Noto Sans Symbols"/>
              <a:buChar char="❖"/>
            </a:pPr>
            <a:r>
              <a:rPr lang="en-US"/>
              <a:t>Computers &amp; networking</a:t>
            </a:r>
            <a:endParaRPr/>
          </a:p>
        </p:txBody>
      </p:sp>
      <p:sp>
        <p:nvSpPr>
          <p:cNvPr id="142" name="Google Shape;142;p6"/>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Informatics vs. Information Technology (IT)</a:t>
            </a:r>
            <a:endParaRPr/>
          </a:p>
        </p:txBody>
      </p:sp>
      <p:pic>
        <p:nvPicPr>
          <p:cNvPr descr="Image of a human robot interaction by showing a human arm and robotic arm pointing towards each other." id="143" name="Google Shape;143;p6"/>
          <p:cNvPicPr preferRelativeResize="0"/>
          <p:nvPr/>
        </p:nvPicPr>
        <p:blipFill rotWithShape="1">
          <a:blip r:embed="rId3">
            <a:alphaModFix/>
          </a:blip>
          <a:srcRect b="0" l="0" r="0" t="0"/>
          <a:stretch/>
        </p:blipFill>
        <p:spPr>
          <a:xfrm>
            <a:off x="350787" y="2770322"/>
            <a:ext cx="5176369" cy="2906850"/>
          </a:xfrm>
          <a:prstGeom prst="rect">
            <a:avLst/>
          </a:prstGeom>
          <a:noFill/>
          <a:ln>
            <a:noFill/>
          </a:ln>
        </p:spPr>
      </p:pic>
      <p:sp>
        <p:nvSpPr>
          <p:cNvPr id="144" name="Google Shape;144;p6"/>
          <p:cNvSpPr txBox="1"/>
          <p:nvPr/>
        </p:nvSpPr>
        <p:spPr>
          <a:xfrm>
            <a:off x="0" y="6890394"/>
            <a:ext cx="42291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chemeClr val="dk1"/>
                </a:solidFill>
                <a:latin typeface="Arial"/>
                <a:ea typeface="Arial"/>
                <a:cs typeface="Arial"/>
                <a:sym typeface="Arial"/>
                <a:hlinkClick r:id="rId4">
                  <a:extLst>
                    <a:ext uri="{A12FA001-AC4F-418D-AE19-62706E023703}">
                      <ahyp:hlinkClr val="tx"/>
                    </a:ext>
                  </a:extLst>
                </a:hlinkClick>
              </a:rPr>
              <a:t>This Photo</a:t>
            </a:r>
            <a:r>
              <a:rPr b="0" i="0" lang="en-US" sz="900" u="none" cap="none" strike="noStrike">
                <a:solidFill>
                  <a:schemeClr val="dk1"/>
                </a:solidFill>
                <a:latin typeface="Arial"/>
                <a:ea typeface="Arial"/>
                <a:cs typeface="Arial"/>
                <a:sym typeface="Arial"/>
              </a:rPr>
              <a:t> by Unknown Author is licensed under </a:t>
            </a:r>
            <a:r>
              <a:rPr b="0" i="0" lang="en-US" sz="900" u="sng" cap="none" strike="noStrike">
                <a:solidFill>
                  <a:schemeClr val="dk1"/>
                </a:solidFill>
                <a:latin typeface="Arial"/>
                <a:ea typeface="Arial"/>
                <a:cs typeface="Arial"/>
                <a:sym typeface="Arial"/>
                <a:hlinkClick r:id="rId5">
                  <a:extLst>
                    <a:ext uri="{A12FA001-AC4F-418D-AE19-62706E023703}">
                      <ahyp:hlinkClr val="tx"/>
                    </a:ext>
                  </a:extLst>
                </a:hlinkClick>
              </a:rPr>
              <a:t>CC BY-SA-NC</a:t>
            </a:r>
            <a:endParaRPr b="0" i="0" sz="900" u="none" cap="none" strike="noStrike">
              <a:solidFill>
                <a:schemeClr val="dk1"/>
              </a:solidFill>
              <a:latin typeface="Arial"/>
              <a:ea typeface="Arial"/>
              <a:cs typeface="Arial"/>
              <a:sym typeface="Arial"/>
            </a:endParaRPr>
          </a:p>
        </p:txBody>
      </p:sp>
      <p:pic>
        <p:nvPicPr>
          <p:cNvPr descr="Image containing computer" id="145" name="Google Shape;145;p6"/>
          <p:cNvPicPr preferRelativeResize="0"/>
          <p:nvPr/>
        </p:nvPicPr>
        <p:blipFill rotWithShape="1">
          <a:blip r:embed="rId6">
            <a:alphaModFix/>
          </a:blip>
          <a:srcRect b="20761" l="0" r="0" t="-10519"/>
          <a:stretch/>
        </p:blipFill>
        <p:spPr>
          <a:xfrm>
            <a:off x="6328148" y="2384425"/>
            <a:ext cx="5513065" cy="3292747"/>
          </a:xfrm>
          <a:prstGeom prst="rect">
            <a:avLst/>
          </a:prstGeom>
          <a:noFill/>
          <a:ln>
            <a:noFill/>
          </a:ln>
        </p:spPr>
      </p:pic>
      <p:sp>
        <p:nvSpPr>
          <p:cNvPr id="146" name="Google Shape;146;p6"/>
          <p:cNvSpPr txBox="1"/>
          <p:nvPr/>
        </p:nvSpPr>
        <p:spPr>
          <a:xfrm>
            <a:off x="3042047" y="5959713"/>
            <a:ext cx="6107906"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https://www.ncbi.nlm.nih.gov/books/NBK470564/</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idx="4294967295" type="title"/>
          </p:nvPr>
        </p:nvSpPr>
        <p:spPr>
          <a:xfrm>
            <a:off x="284474" y="247850"/>
            <a:ext cx="6490800" cy="745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Precursors to Informatics</a:t>
            </a:r>
            <a:endParaRPr/>
          </a:p>
        </p:txBody>
      </p:sp>
      <p:grpSp>
        <p:nvGrpSpPr>
          <p:cNvPr id="153" name="Google Shape;153;p7"/>
          <p:cNvGrpSpPr/>
          <p:nvPr/>
        </p:nvGrpSpPr>
        <p:grpSpPr>
          <a:xfrm>
            <a:off x="-5289994" y="368882"/>
            <a:ext cx="11241748" cy="6637761"/>
            <a:chOff x="-5574157" y="-853493"/>
            <a:chExt cx="11241748" cy="6637761"/>
          </a:xfrm>
        </p:grpSpPr>
        <p:sp>
          <p:nvSpPr>
            <p:cNvPr id="154" name="Google Shape;154;p7"/>
            <p:cNvSpPr/>
            <p:nvPr/>
          </p:nvSpPr>
          <p:spPr>
            <a:xfrm>
              <a:off x="-5574157" y="-853493"/>
              <a:ext cx="6637761" cy="6637761"/>
            </a:xfrm>
            <a:prstGeom prst="blockArc">
              <a:avLst>
                <a:gd fmla="val 18900000" name="adj1"/>
                <a:gd fmla="val 2700000" name="adj2"/>
                <a:gd fmla="val 325" name="adj3"/>
              </a:avLst>
            </a:prstGeom>
            <a:noFill/>
            <a:ln cap="flat" cmpd="sng" w="12700">
              <a:solidFill>
                <a:srgbClr val="374E88"/>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7"/>
            <p:cNvSpPr/>
            <p:nvPr/>
          </p:nvSpPr>
          <p:spPr>
            <a:xfrm>
              <a:off x="684391" y="493077"/>
              <a:ext cx="4983200" cy="986155"/>
            </a:xfrm>
            <a:prstGeom prst="rect">
              <a:avLst/>
            </a:prstGeom>
            <a:solidFill>
              <a:schemeClr val="accent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7"/>
            <p:cNvSpPr txBox="1"/>
            <p:nvPr/>
          </p:nvSpPr>
          <p:spPr>
            <a:xfrm>
              <a:off x="684391" y="493077"/>
              <a:ext cx="4983200" cy="986155"/>
            </a:xfrm>
            <a:prstGeom prst="rect">
              <a:avLst/>
            </a:prstGeom>
            <a:noFill/>
            <a:ln>
              <a:noFill/>
            </a:ln>
          </p:spPr>
          <p:txBody>
            <a:bodyPr anchorCtr="0" anchor="ctr" bIns="78725" lIns="782750" spcFirstLastPara="1" rIns="78725" wrap="square" tIns="78725">
              <a:noAutofit/>
            </a:bodyPr>
            <a:lstStyle/>
            <a:p>
              <a:pPr indent="0" lvl="0" marL="0" marR="0" rtl="0" algn="l">
                <a:lnSpc>
                  <a:spcPct val="90000"/>
                </a:lnSpc>
                <a:spcBef>
                  <a:spcPts val="0"/>
                </a:spcBef>
                <a:spcAft>
                  <a:spcPts val="0"/>
                </a:spcAft>
                <a:buClr>
                  <a:schemeClr val="lt1"/>
                </a:buClr>
                <a:buSzPts val="3100"/>
                <a:buFont typeface="Arial"/>
                <a:buNone/>
              </a:pPr>
              <a:r>
                <a:rPr b="0" i="0" lang="en-US" sz="3100" u="none" cap="none" strike="noStrike">
                  <a:solidFill>
                    <a:schemeClr val="lt1"/>
                  </a:solidFill>
                  <a:latin typeface="Arial"/>
                  <a:ea typeface="Arial"/>
                  <a:cs typeface="Arial"/>
                  <a:sym typeface="Arial"/>
                </a:rPr>
                <a:t>Biomedical computing</a:t>
              </a:r>
              <a:endParaRPr b="0" i="0" sz="1400" u="none" cap="none" strike="noStrike">
                <a:solidFill>
                  <a:srgbClr val="000000"/>
                </a:solidFill>
                <a:latin typeface="Arial"/>
                <a:ea typeface="Arial"/>
                <a:cs typeface="Arial"/>
                <a:sym typeface="Arial"/>
              </a:endParaRPr>
            </a:p>
          </p:txBody>
        </p:sp>
        <p:sp>
          <p:nvSpPr>
            <p:cNvPr id="157" name="Google Shape;157;p7"/>
            <p:cNvSpPr/>
            <p:nvPr/>
          </p:nvSpPr>
          <p:spPr>
            <a:xfrm>
              <a:off x="68044" y="369808"/>
              <a:ext cx="1232693" cy="1232693"/>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7"/>
            <p:cNvSpPr/>
            <p:nvPr/>
          </p:nvSpPr>
          <p:spPr>
            <a:xfrm>
              <a:off x="1042858" y="1972310"/>
              <a:ext cx="4624733" cy="986155"/>
            </a:xfrm>
            <a:prstGeom prst="rect">
              <a:avLst/>
            </a:prstGeom>
            <a:solidFill>
              <a:schemeClr val="accent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7"/>
            <p:cNvSpPr txBox="1"/>
            <p:nvPr/>
          </p:nvSpPr>
          <p:spPr>
            <a:xfrm>
              <a:off x="1042858" y="1972310"/>
              <a:ext cx="4624733" cy="986155"/>
            </a:xfrm>
            <a:prstGeom prst="rect">
              <a:avLst/>
            </a:prstGeom>
            <a:noFill/>
            <a:ln>
              <a:noFill/>
            </a:ln>
          </p:spPr>
          <p:txBody>
            <a:bodyPr anchorCtr="0" anchor="ctr" bIns="78725" lIns="782750" spcFirstLastPara="1" rIns="78725" wrap="square" tIns="78725">
              <a:noAutofit/>
            </a:bodyPr>
            <a:lstStyle/>
            <a:p>
              <a:pPr indent="0" lvl="0" marL="0" marR="0" rtl="0" algn="l">
                <a:lnSpc>
                  <a:spcPct val="90000"/>
                </a:lnSpc>
                <a:spcBef>
                  <a:spcPts val="0"/>
                </a:spcBef>
                <a:spcAft>
                  <a:spcPts val="0"/>
                </a:spcAft>
                <a:buClr>
                  <a:schemeClr val="lt1"/>
                </a:buClr>
                <a:buSzPts val="3100"/>
                <a:buFont typeface="Arial"/>
                <a:buNone/>
              </a:pPr>
              <a:r>
                <a:rPr b="0" i="0" lang="en-US" sz="3100" u="none" cap="none" strike="noStrike">
                  <a:solidFill>
                    <a:schemeClr val="lt1"/>
                  </a:solidFill>
                  <a:latin typeface="Arial"/>
                  <a:ea typeface="Arial"/>
                  <a:cs typeface="Arial"/>
                  <a:sym typeface="Arial"/>
                </a:rPr>
                <a:t>Medical information science</a:t>
              </a:r>
              <a:endParaRPr b="0" i="0" sz="1400" u="none" cap="none" strike="noStrike">
                <a:solidFill>
                  <a:srgbClr val="000000"/>
                </a:solidFill>
                <a:latin typeface="Arial"/>
                <a:ea typeface="Arial"/>
                <a:cs typeface="Arial"/>
                <a:sym typeface="Arial"/>
              </a:endParaRPr>
            </a:p>
          </p:txBody>
        </p:sp>
        <p:sp>
          <p:nvSpPr>
            <p:cNvPr id="160" name="Google Shape;160;p7"/>
            <p:cNvSpPr/>
            <p:nvPr/>
          </p:nvSpPr>
          <p:spPr>
            <a:xfrm>
              <a:off x="426512" y="1849040"/>
              <a:ext cx="1232693" cy="1232693"/>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7"/>
            <p:cNvSpPr/>
            <p:nvPr/>
          </p:nvSpPr>
          <p:spPr>
            <a:xfrm>
              <a:off x="684391" y="3451542"/>
              <a:ext cx="4983200" cy="986155"/>
            </a:xfrm>
            <a:prstGeom prst="rect">
              <a:avLst/>
            </a:prstGeom>
            <a:solidFill>
              <a:schemeClr val="accent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7"/>
            <p:cNvSpPr txBox="1"/>
            <p:nvPr/>
          </p:nvSpPr>
          <p:spPr>
            <a:xfrm>
              <a:off x="684391" y="3451542"/>
              <a:ext cx="4983200" cy="986155"/>
            </a:xfrm>
            <a:prstGeom prst="rect">
              <a:avLst/>
            </a:prstGeom>
            <a:noFill/>
            <a:ln>
              <a:noFill/>
            </a:ln>
          </p:spPr>
          <p:txBody>
            <a:bodyPr anchorCtr="0" anchor="ctr" bIns="78725" lIns="782750" spcFirstLastPara="1" rIns="78725" wrap="square" tIns="78725">
              <a:noAutofit/>
            </a:bodyPr>
            <a:lstStyle/>
            <a:p>
              <a:pPr indent="0" lvl="0" marL="0" marR="0" rtl="0" algn="l">
                <a:lnSpc>
                  <a:spcPct val="90000"/>
                </a:lnSpc>
                <a:spcBef>
                  <a:spcPts val="0"/>
                </a:spcBef>
                <a:spcAft>
                  <a:spcPts val="0"/>
                </a:spcAft>
                <a:buClr>
                  <a:schemeClr val="lt1"/>
                </a:buClr>
                <a:buSzPts val="3100"/>
                <a:buFont typeface="Arial"/>
                <a:buNone/>
              </a:pPr>
              <a:r>
                <a:rPr b="0" i="0" lang="en-US" sz="3100" u="none" cap="none" strike="noStrike">
                  <a:solidFill>
                    <a:schemeClr val="lt1"/>
                  </a:solidFill>
                  <a:latin typeface="Arial"/>
                  <a:ea typeface="Arial"/>
                  <a:cs typeface="Arial"/>
                  <a:sym typeface="Arial"/>
                </a:rPr>
                <a:t>“informatique” 🡪 Medical informatics</a:t>
              </a:r>
              <a:endParaRPr b="0" i="0" sz="3100" u="none" cap="none" strike="noStrike">
                <a:solidFill>
                  <a:schemeClr val="lt1"/>
                </a:solidFill>
                <a:latin typeface="Arial"/>
                <a:ea typeface="Arial"/>
                <a:cs typeface="Arial"/>
                <a:sym typeface="Arial"/>
              </a:endParaRPr>
            </a:p>
          </p:txBody>
        </p:sp>
        <p:sp>
          <p:nvSpPr>
            <p:cNvPr id="163" name="Google Shape;163;p7"/>
            <p:cNvSpPr/>
            <p:nvPr/>
          </p:nvSpPr>
          <p:spPr>
            <a:xfrm>
              <a:off x="68044" y="3328273"/>
              <a:ext cx="1232693" cy="1232693"/>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4" name="Google Shape;164;p7"/>
          <p:cNvSpPr txBox="1"/>
          <p:nvPr/>
        </p:nvSpPr>
        <p:spPr>
          <a:xfrm>
            <a:off x="64295" y="5968484"/>
            <a:ext cx="6637761"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E.H. Shortliffe, J.J. Cimino (eds.), Biomedical Informatics, 2021</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idx="4294967295" type="title"/>
          </p:nvPr>
        </p:nvSpPr>
        <p:spPr>
          <a:xfrm>
            <a:off x="393880" y="303892"/>
            <a:ext cx="8421300" cy="745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Health Informatics</a:t>
            </a:r>
            <a:endParaRPr/>
          </a:p>
        </p:txBody>
      </p:sp>
      <p:pic>
        <p:nvPicPr>
          <p:cNvPr descr=" An image of a person interacting with a virtual medical interface, with icons like medicine and heartbeat. It references &quot;Biomedical Informatics, 2021&quot; by E.H. Shortliffe and J.J. Cimino." id="171" name="Google Shape;171;p8"/>
          <p:cNvPicPr preferRelativeResize="0"/>
          <p:nvPr/>
        </p:nvPicPr>
        <p:blipFill rotWithShape="1">
          <a:blip r:embed="rId3">
            <a:alphaModFix/>
          </a:blip>
          <a:srcRect b="0" l="0" r="0" t="0"/>
          <a:stretch/>
        </p:blipFill>
        <p:spPr>
          <a:xfrm>
            <a:off x="614363" y="1395222"/>
            <a:ext cx="7772400" cy="4067556"/>
          </a:xfrm>
          <a:prstGeom prst="rect">
            <a:avLst/>
          </a:prstGeom>
          <a:noFill/>
          <a:ln>
            <a:noFill/>
          </a:ln>
        </p:spPr>
      </p:pic>
      <p:sp>
        <p:nvSpPr>
          <p:cNvPr id="172" name="Google Shape;172;p8"/>
          <p:cNvSpPr txBox="1"/>
          <p:nvPr/>
        </p:nvSpPr>
        <p:spPr>
          <a:xfrm>
            <a:off x="284480" y="6893760"/>
            <a:ext cx="77724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chemeClr val="dk1"/>
                </a:solidFill>
                <a:latin typeface="Arial"/>
                <a:ea typeface="Arial"/>
                <a:cs typeface="Arial"/>
                <a:sym typeface="Arial"/>
                <a:hlinkClick r:id="rId4">
                  <a:extLst>
                    <a:ext uri="{A12FA001-AC4F-418D-AE19-62706E023703}">
                      <ahyp:hlinkClr val="tx"/>
                    </a:ext>
                  </a:extLst>
                </a:hlinkClick>
              </a:rPr>
              <a:t>This Photo</a:t>
            </a:r>
            <a:r>
              <a:rPr b="0" i="0" lang="en-US" sz="900" u="none" cap="none" strike="noStrike">
                <a:solidFill>
                  <a:schemeClr val="dk1"/>
                </a:solidFill>
                <a:latin typeface="Arial"/>
                <a:ea typeface="Arial"/>
                <a:cs typeface="Arial"/>
                <a:sym typeface="Arial"/>
              </a:rPr>
              <a:t> by Unknown Author is licensed under </a:t>
            </a:r>
            <a:r>
              <a:rPr b="0" i="0" lang="en-US" sz="900" u="sng" cap="none" strike="noStrike">
                <a:solidFill>
                  <a:schemeClr val="dk1"/>
                </a:solidFill>
                <a:latin typeface="Arial"/>
                <a:ea typeface="Arial"/>
                <a:cs typeface="Arial"/>
                <a:sym typeface="Arial"/>
                <a:hlinkClick r:id="rId5">
                  <a:extLst>
                    <a:ext uri="{A12FA001-AC4F-418D-AE19-62706E023703}">
                      <ahyp:hlinkClr val="tx"/>
                    </a:ext>
                  </a:extLst>
                </a:hlinkClick>
              </a:rPr>
              <a:t>CC BY-ND</a:t>
            </a:r>
            <a:endParaRPr b="0" i="0" sz="900" u="none" cap="none" strike="noStrike">
              <a:solidFill>
                <a:schemeClr val="dk1"/>
              </a:solidFill>
              <a:latin typeface="Arial"/>
              <a:ea typeface="Arial"/>
              <a:cs typeface="Arial"/>
              <a:sym typeface="Arial"/>
            </a:endParaRPr>
          </a:p>
        </p:txBody>
      </p:sp>
      <p:sp>
        <p:nvSpPr>
          <p:cNvPr id="173" name="Google Shape;173;p8"/>
          <p:cNvSpPr txBox="1"/>
          <p:nvPr/>
        </p:nvSpPr>
        <p:spPr>
          <a:xfrm>
            <a:off x="3396853" y="5808541"/>
            <a:ext cx="6107906"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E.H. Shortliffe, J.J. Cimino (eds.), Biomedical Informatics, 2021</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txBox="1"/>
          <p:nvPr>
            <p:ph idx="4294967295" type="title"/>
          </p:nvPr>
        </p:nvSpPr>
        <p:spPr>
          <a:xfrm>
            <a:off x="284480" y="247842"/>
            <a:ext cx="8421370"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Bioinformatics</a:t>
            </a:r>
            <a:endParaRPr/>
          </a:p>
        </p:txBody>
      </p:sp>
      <p:sp>
        <p:nvSpPr>
          <p:cNvPr id="180" name="Google Shape;180;p9"/>
          <p:cNvSpPr txBox="1"/>
          <p:nvPr/>
        </p:nvSpPr>
        <p:spPr>
          <a:xfrm>
            <a:off x="3396853" y="5922843"/>
            <a:ext cx="6107906"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E.H. Shortliffe, J.J. Cimino (eds.), Biomedical Informatics, 2021</a:t>
            </a:r>
            <a:endParaRPr b="0" i="0" sz="1400" u="none" cap="none" strike="noStrike">
              <a:solidFill>
                <a:schemeClr val="dk1"/>
              </a:solidFill>
              <a:latin typeface="Arial"/>
              <a:ea typeface="Arial"/>
              <a:cs typeface="Arial"/>
              <a:sym typeface="Arial"/>
            </a:endParaRPr>
          </a:p>
        </p:txBody>
      </p:sp>
      <p:sp>
        <p:nvSpPr>
          <p:cNvPr id="181" name="Google Shape;181;p9"/>
          <p:cNvSpPr txBox="1"/>
          <p:nvPr/>
        </p:nvSpPr>
        <p:spPr>
          <a:xfrm>
            <a:off x="0" y="6858000"/>
            <a:ext cx="626745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chemeClr val="dk1"/>
                </a:solidFill>
                <a:latin typeface="Arial"/>
                <a:ea typeface="Arial"/>
                <a:cs typeface="Arial"/>
                <a:sym typeface="Arial"/>
                <a:hlinkClick r:id="rId3">
                  <a:extLst>
                    <a:ext uri="{A12FA001-AC4F-418D-AE19-62706E023703}">
                      <ahyp:hlinkClr val="tx"/>
                    </a:ext>
                  </a:extLst>
                </a:hlinkClick>
              </a:rPr>
              <a:t>This Photo</a:t>
            </a:r>
            <a:r>
              <a:rPr b="0" i="0" lang="en-US" sz="900" u="none" cap="none" strike="noStrike">
                <a:solidFill>
                  <a:schemeClr val="dk1"/>
                </a:solidFill>
                <a:latin typeface="Arial"/>
                <a:ea typeface="Arial"/>
                <a:cs typeface="Arial"/>
                <a:sym typeface="Arial"/>
              </a:rPr>
              <a:t> by Unknown Author is licensed under </a:t>
            </a:r>
            <a:r>
              <a:rPr b="0" i="0" lang="en-US" sz="900" u="sng" cap="none" strike="noStrike">
                <a:solidFill>
                  <a:schemeClr val="dk1"/>
                </a:solidFill>
                <a:latin typeface="Arial"/>
                <a:ea typeface="Arial"/>
                <a:cs typeface="Arial"/>
                <a:sym typeface="Arial"/>
                <a:hlinkClick r:id="rId4">
                  <a:extLst>
                    <a:ext uri="{A12FA001-AC4F-418D-AE19-62706E023703}">
                      <ahyp:hlinkClr val="tx"/>
                    </a:ext>
                  </a:extLst>
                </a:hlinkClick>
              </a:rPr>
              <a:t>CC BY</a:t>
            </a:r>
            <a:endParaRPr b="0" i="0" sz="900" u="none" cap="none" strike="noStrike">
              <a:solidFill>
                <a:schemeClr val="dk1"/>
              </a:solidFill>
              <a:latin typeface="Arial"/>
              <a:ea typeface="Arial"/>
              <a:cs typeface="Arial"/>
              <a:sym typeface="Arial"/>
            </a:endParaRPr>
          </a:p>
        </p:txBody>
      </p:sp>
      <p:pic>
        <p:nvPicPr>
          <p:cNvPr descr="Image of a digital DNA double helix is connected to data servers, representing the fusion of biology and data technology. " id="182" name="Google Shape;182;p9"/>
          <p:cNvPicPr preferRelativeResize="0"/>
          <p:nvPr/>
        </p:nvPicPr>
        <p:blipFill rotWithShape="1">
          <a:blip r:embed="rId5">
            <a:alphaModFix/>
          </a:blip>
          <a:srcRect b="0" l="0" r="0" t="0"/>
          <a:stretch/>
        </p:blipFill>
        <p:spPr>
          <a:xfrm>
            <a:off x="713645" y="1233244"/>
            <a:ext cx="6587267" cy="439151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0"/>
          <p:cNvSpPr txBox="1"/>
          <p:nvPr>
            <p:ph idx="4294967295" type="title"/>
          </p:nvPr>
        </p:nvSpPr>
        <p:spPr>
          <a:xfrm>
            <a:off x="284480" y="247842"/>
            <a:ext cx="8421370"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Biomedical Informatics</a:t>
            </a:r>
            <a:endParaRPr/>
          </a:p>
        </p:txBody>
      </p:sp>
      <p:sp>
        <p:nvSpPr>
          <p:cNvPr id="189" name="Google Shape;189;p10"/>
          <p:cNvSpPr txBox="1"/>
          <p:nvPr/>
        </p:nvSpPr>
        <p:spPr>
          <a:xfrm>
            <a:off x="0" y="6858000"/>
            <a:ext cx="626745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chemeClr val="dk1"/>
                </a:solidFill>
                <a:latin typeface="Arial"/>
                <a:ea typeface="Arial"/>
                <a:cs typeface="Arial"/>
                <a:sym typeface="Arial"/>
                <a:hlinkClick r:id="rId3">
                  <a:extLst>
                    <a:ext uri="{A12FA001-AC4F-418D-AE19-62706E023703}">
                      <ahyp:hlinkClr val="tx"/>
                    </a:ext>
                  </a:extLst>
                </a:hlinkClick>
              </a:rPr>
              <a:t>This Photo</a:t>
            </a:r>
            <a:r>
              <a:rPr b="0" i="0" lang="en-US" sz="900" u="none" cap="none" strike="noStrike">
                <a:solidFill>
                  <a:schemeClr val="dk1"/>
                </a:solidFill>
                <a:latin typeface="Arial"/>
                <a:ea typeface="Arial"/>
                <a:cs typeface="Arial"/>
                <a:sym typeface="Arial"/>
              </a:rPr>
              <a:t> by Unknown Author is licensed under </a:t>
            </a:r>
            <a:r>
              <a:rPr b="0" i="0" lang="en-US" sz="900" u="sng" cap="none" strike="noStrike">
                <a:solidFill>
                  <a:schemeClr val="dk1"/>
                </a:solidFill>
                <a:latin typeface="Arial"/>
                <a:ea typeface="Arial"/>
                <a:cs typeface="Arial"/>
                <a:sym typeface="Arial"/>
                <a:hlinkClick r:id="rId4">
                  <a:extLst>
                    <a:ext uri="{A12FA001-AC4F-418D-AE19-62706E023703}">
                      <ahyp:hlinkClr val="tx"/>
                    </a:ext>
                  </a:extLst>
                </a:hlinkClick>
              </a:rPr>
              <a:t>CC BY</a:t>
            </a:r>
            <a:endParaRPr b="0" i="0" sz="900" u="none" cap="none" strike="noStrike">
              <a:solidFill>
                <a:schemeClr val="dk1"/>
              </a:solidFill>
              <a:latin typeface="Arial"/>
              <a:ea typeface="Arial"/>
              <a:cs typeface="Arial"/>
              <a:sym typeface="Arial"/>
            </a:endParaRPr>
          </a:p>
        </p:txBody>
      </p:sp>
      <p:sp>
        <p:nvSpPr>
          <p:cNvPr id="190" name="Google Shape;190;p10"/>
          <p:cNvSpPr txBox="1"/>
          <p:nvPr/>
        </p:nvSpPr>
        <p:spPr>
          <a:xfrm>
            <a:off x="4495165" y="6973416"/>
            <a:ext cx="77724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chemeClr val="dk1"/>
                </a:solidFill>
                <a:latin typeface="Arial"/>
                <a:ea typeface="Arial"/>
                <a:cs typeface="Arial"/>
                <a:sym typeface="Arial"/>
                <a:hlinkClick r:id="rId5">
                  <a:extLst>
                    <a:ext uri="{A12FA001-AC4F-418D-AE19-62706E023703}">
                      <ahyp:hlinkClr val="tx"/>
                    </a:ext>
                  </a:extLst>
                </a:hlinkClick>
              </a:rPr>
              <a:t>This Photo</a:t>
            </a:r>
            <a:r>
              <a:rPr b="0" i="0" lang="en-US" sz="900" u="none" cap="none" strike="noStrike">
                <a:solidFill>
                  <a:schemeClr val="dk1"/>
                </a:solidFill>
                <a:latin typeface="Arial"/>
                <a:ea typeface="Arial"/>
                <a:cs typeface="Arial"/>
                <a:sym typeface="Arial"/>
              </a:rPr>
              <a:t> by Unknown Author is licensed under </a:t>
            </a:r>
            <a:r>
              <a:rPr b="0" i="0" lang="en-US" sz="900" u="sng" cap="none" strike="noStrike">
                <a:solidFill>
                  <a:schemeClr val="dk1"/>
                </a:solidFill>
                <a:latin typeface="Arial"/>
                <a:ea typeface="Arial"/>
                <a:cs typeface="Arial"/>
                <a:sym typeface="Arial"/>
                <a:hlinkClick r:id="rId6">
                  <a:extLst>
                    <a:ext uri="{A12FA001-AC4F-418D-AE19-62706E023703}">
                      <ahyp:hlinkClr val="tx"/>
                    </a:ext>
                  </a:extLst>
                </a:hlinkClick>
              </a:rPr>
              <a:t>CC BY-ND</a:t>
            </a:r>
            <a:endParaRPr b="0" i="0" sz="900" u="none" cap="none" strike="noStrike">
              <a:solidFill>
                <a:schemeClr val="dk1"/>
              </a:solidFill>
              <a:latin typeface="Arial"/>
              <a:ea typeface="Arial"/>
              <a:cs typeface="Arial"/>
              <a:sym typeface="Arial"/>
            </a:endParaRPr>
          </a:p>
        </p:txBody>
      </p:sp>
      <p:pic>
        <p:nvPicPr>
          <p:cNvPr descr="A picture containing screenshot, graphics&#10;&#10;Description automatically generated" id="191" name="Google Shape;191;p10"/>
          <p:cNvPicPr preferRelativeResize="0"/>
          <p:nvPr/>
        </p:nvPicPr>
        <p:blipFill rotWithShape="1">
          <a:blip r:embed="rId7">
            <a:alphaModFix/>
          </a:blip>
          <a:srcRect b="0" l="0" r="0" t="0"/>
          <a:stretch/>
        </p:blipFill>
        <p:spPr>
          <a:xfrm>
            <a:off x="1751523" y="1116771"/>
            <a:ext cx="2783220" cy="1855480"/>
          </a:xfrm>
          <a:prstGeom prst="rect">
            <a:avLst/>
          </a:prstGeom>
          <a:noFill/>
          <a:ln>
            <a:noFill/>
          </a:ln>
        </p:spPr>
      </p:pic>
      <p:pic>
        <p:nvPicPr>
          <p:cNvPr descr="A picture containing person, computer, clothing, indoor&#10;&#10;Description automatically generated" id="192" name="Google Shape;192;p10"/>
          <p:cNvPicPr preferRelativeResize="0"/>
          <p:nvPr/>
        </p:nvPicPr>
        <p:blipFill rotWithShape="1">
          <a:blip r:embed="rId8">
            <a:alphaModFix/>
          </a:blip>
          <a:srcRect b="0" l="8727" r="5894" t="0"/>
          <a:stretch/>
        </p:blipFill>
        <p:spPr>
          <a:xfrm>
            <a:off x="1755460" y="4216852"/>
            <a:ext cx="2783220" cy="1705991"/>
          </a:xfrm>
          <a:prstGeom prst="rect">
            <a:avLst/>
          </a:prstGeom>
          <a:noFill/>
          <a:ln>
            <a:noFill/>
          </a:ln>
        </p:spPr>
      </p:pic>
      <p:grpSp>
        <p:nvGrpSpPr>
          <p:cNvPr id="193" name="Google Shape;193;p10"/>
          <p:cNvGrpSpPr/>
          <p:nvPr/>
        </p:nvGrpSpPr>
        <p:grpSpPr>
          <a:xfrm>
            <a:off x="2645098" y="3112547"/>
            <a:ext cx="982513" cy="982513"/>
            <a:chOff x="360509" y="1854400"/>
            <a:chExt cx="982513" cy="982513"/>
          </a:xfrm>
        </p:grpSpPr>
        <p:sp>
          <p:nvSpPr>
            <p:cNvPr id="194" name="Google Shape;194;p10"/>
            <p:cNvSpPr/>
            <p:nvPr/>
          </p:nvSpPr>
          <p:spPr>
            <a:xfrm>
              <a:off x="360509" y="1854400"/>
              <a:ext cx="982513" cy="982513"/>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0"/>
            <p:cNvSpPr txBox="1"/>
            <p:nvPr/>
          </p:nvSpPr>
          <p:spPr>
            <a:xfrm>
              <a:off x="490741" y="2230113"/>
              <a:ext cx="722049" cy="231087"/>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grpSp>
      <p:grpSp>
        <p:nvGrpSpPr>
          <p:cNvPr id="196" name="Google Shape;196;p10"/>
          <p:cNvGrpSpPr/>
          <p:nvPr/>
        </p:nvGrpSpPr>
        <p:grpSpPr>
          <a:xfrm>
            <a:off x="4840304" y="1909813"/>
            <a:ext cx="4150275" cy="3387979"/>
            <a:chOff x="4020862" y="1735010"/>
            <a:chExt cx="4150275" cy="3387979"/>
          </a:xfrm>
        </p:grpSpPr>
        <p:grpSp>
          <p:nvGrpSpPr>
            <p:cNvPr id="197" name="Google Shape;197;p10"/>
            <p:cNvGrpSpPr/>
            <p:nvPr/>
          </p:nvGrpSpPr>
          <p:grpSpPr>
            <a:xfrm>
              <a:off x="4020862" y="3113917"/>
              <a:ext cx="538688" cy="630164"/>
              <a:chOff x="1952859" y="2030574"/>
              <a:chExt cx="538688" cy="630164"/>
            </a:xfrm>
          </p:grpSpPr>
          <p:sp>
            <p:nvSpPr>
              <p:cNvPr id="198" name="Google Shape;198;p10"/>
              <p:cNvSpPr/>
              <p:nvPr/>
            </p:nvSpPr>
            <p:spPr>
              <a:xfrm>
                <a:off x="1952859" y="2030574"/>
                <a:ext cx="538688" cy="630164"/>
              </a:xfrm>
              <a:prstGeom prst="rightArrow">
                <a:avLst>
                  <a:gd fmla="val 60000" name="adj1"/>
                  <a:gd fmla="val 50000" name="adj2"/>
                </a:avLst>
              </a:prstGeom>
              <a:solidFill>
                <a:srgbClr val="599F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0"/>
              <p:cNvSpPr txBox="1"/>
              <p:nvPr/>
            </p:nvSpPr>
            <p:spPr>
              <a:xfrm>
                <a:off x="1952859" y="2156607"/>
                <a:ext cx="377082" cy="37809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grpSp>
        <p:grpSp>
          <p:nvGrpSpPr>
            <p:cNvPr id="200" name="Google Shape;200;p10"/>
            <p:cNvGrpSpPr/>
            <p:nvPr/>
          </p:nvGrpSpPr>
          <p:grpSpPr>
            <a:xfrm>
              <a:off x="4783158" y="1735010"/>
              <a:ext cx="3387979" cy="3387979"/>
              <a:chOff x="2715155" y="651667"/>
              <a:chExt cx="3387979" cy="3387979"/>
            </a:xfrm>
          </p:grpSpPr>
          <p:sp>
            <p:nvSpPr>
              <p:cNvPr id="201" name="Google Shape;201;p10"/>
              <p:cNvSpPr/>
              <p:nvPr/>
            </p:nvSpPr>
            <p:spPr>
              <a:xfrm>
                <a:off x="2715155" y="651667"/>
                <a:ext cx="3387979" cy="3387979"/>
              </a:xfrm>
              <a:prstGeom prst="ellipse">
                <a:avLst/>
              </a:prstGeom>
              <a:solidFill>
                <a:srgbClr val="599FAD"/>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The &quot;Biomedical Informatics&quot; slide combines elements of bioinformatics and a digital medical interface, indicating the integration of biology and clinical informatics. " id="202" name="Google Shape;202;p10"/>
              <p:cNvSpPr txBox="1"/>
              <p:nvPr/>
            </p:nvSpPr>
            <p:spPr>
              <a:xfrm>
                <a:off x="3001291" y="1147825"/>
                <a:ext cx="2605685" cy="2395663"/>
              </a:xfrm>
              <a:prstGeom prst="rect">
                <a:avLst/>
              </a:prstGeom>
              <a:noFill/>
              <a:ln>
                <a:noFill/>
              </a:ln>
            </p:spPr>
            <p:txBody>
              <a:bodyPr anchorCtr="0" anchor="ctr" bIns="50800" lIns="50800" spcFirstLastPara="1" rIns="50800" wrap="square" tIns="50800">
                <a:noAutofit/>
              </a:bodyPr>
              <a:lstStyle/>
              <a:p>
                <a:pPr indent="0" lvl="0" marL="0" marR="0" rtl="0" algn="ctr">
                  <a:lnSpc>
                    <a:spcPct val="90000"/>
                  </a:lnSpc>
                  <a:spcBef>
                    <a:spcPts val="0"/>
                  </a:spcBef>
                  <a:spcAft>
                    <a:spcPts val="0"/>
                  </a:spcAft>
                  <a:buClr>
                    <a:schemeClr val="lt1"/>
                  </a:buClr>
                  <a:buSzPts val="4000"/>
                  <a:buFont typeface="Arial"/>
                  <a:buNone/>
                </a:pPr>
                <a:r>
                  <a:rPr b="0" i="0" lang="en-US" sz="4000" u="none" cap="none" strike="noStrike">
                    <a:solidFill>
                      <a:schemeClr val="lt1"/>
                    </a:solidFill>
                    <a:latin typeface="Arial"/>
                    <a:ea typeface="Arial"/>
                    <a:cs typeface="Arial"/>
                    <a:sym typeface="Arial"/>
                  </a:rPr>
                  <a:t>Biomedical informatics</a:t>
                </a:r>
                <a:endParaRPr b="0" i="0" sz="1400" u="none" cap="none" strike="noStrike">
                  <a:solidFill>
                    <a:srgbClr val="000000"/>
                  </a:solidFill>
                  <a:latin typeface="Arial"/>
                  <a:ea typeface="Arial"/>
                  <a:cs typeface="Arial"/>
                  <a:sym typeface="Arial"/>
                </a:endParaRPr>
              </a:p>
            </p:txBody>
          </p:sp>
        </p:grpSp>
      </p:grpSp>
      <p:sp>
        <p:nvSpPr>
          <p:cNvPr id="203" name="Google Shape;203;p10"/>
          <p:cNvSpPr txBox="1"/>
          <p:nvPr/>
        </p:nvSpPr>
        <p:spPr>
          <a:xfrm>
            <a:off x="3213497" y="6007353"/>
            <a:ext cx="6107906"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E.H. Shortliffe, J.J. Cimino (eds.), Biomedical Informatics, 2021</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grpSp>
        <p:nvGrpSpPr>
          <p:cNvPr id="209" name="Google Shape;209;p11"/>
          <p:cNvGrpSpPr/>
          <p:nvPr/>
        </p:nvGrpSpPr>
        <p:grpSpPr>
          <a:xfrm>
            <a:off x="88170" y="1231826"/>
            <a:ext cx="6420948" cy="4727896"/>
            <a:chOff x="413607" y="50863"/>
            <a:chExt cx="6420948" cy="4727896"/>
          </a:xfrm>
        </p:grpSpPr>
        <p:sp>
          <p:nvSpPr>
            <p:cNvPr id="210" name="Google Shape;210;p11"/>
            <p:cNvSpPr/>
            <p:nvPr/>
          </p:nvSpPr>
          <p:spPr>
            <a:xfrm>
              <a:off x="1583467" y="50863"/>
              <a:ext cx="2644902" cy="2644902"/>
            </a:xfrm>
            <a:prstGeom prst="ellipse">
              <a:avLst/>
            </a:prstGeom>
            <a:gradFill>
              <a:gsLst>
                <a:gs pos="0">
                  <a:srgbClr val="73A7D6">
                    <a:alpha val="49019"/>
                  </a:srgbClr>
                </a:gs>
                <a:gs pos="50000">
                  <a:srgbClr val="589DD6">
                    <a:alpha val="49019"/>
                  </a:srgbClr>
                </a:gs>
                <a:gs pos="100000">
                  <a:srgbClr val="478BC3">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1"/>
            <p:cNvSpPr txBox="1"/>
            <p:nvPr/>
          </p:nvSpPr>
          <p:spPr>
            <a:xfrm>
              <a:off x="1888648" y="406907"/>
              <a:ext cx="2034540" cy="839247"/>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Bioinformatics</a:t>
              </a:r>
              <a:endParaRPr b="0" i="0" sz="1400" u="none" cap="none" strike="noStrike">
                <a:solidFill>
                  <a:srgbClr val="000000"/>
                </a:solidFill>
                <a:latin typeface="Arial"/>
                <a:ea typeface="Arial"/>
                <a:cs typeface="Arial"/>
                <a:sym typeface="Arial"/>
              </a:endParaRPr>
            </a:p>
          </p:txBody>
        </p:sp>
        <p:sp>
          <p:nvSpPr>
            <p:cNvPr id="212" name="Google Shape;212;p11"/>
            <p:cNvSpPr/>
            <p:nvPr/>
          </p:nvSpPr>
          <p:spPr>
            <a:xfrm>
              <a:off x="2753328" y="1220724"/>
              <a:ext cx="2644902" cy="2644902"/>
            </a:xfrm>
            <a:prstGeom prst="ellipse">
              <a:avLst/>
            </a:prstGeom>
            <a:gradFill>
              <a:gsLst>
                <a:gs pos="0">
                  <a:srgbClr val="4D8DDD">
                    <a:alpha val="49019"/>
                  </a:srgbClr>
                </a:gs>
                <a:gs pos="50000">
                  <a:srgbClr val="1C7FDD">
                    <a:alpha val="49019"/>
                  </a:srgbClr>
                </a:gs>
                <a:gs pos="100000">
                  <a:srgbClr val="106FCA">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1"/>
            <p:cNvSpPr txBox="1"/>
            <p:nvPr/>
          </p:nvSpPr>
          <p:spPr>
            <a:xfrm>
              <a:off x="3445740" y="1525867"/>
              <a:ext cx="1170000" cy="2034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Imaging Informatics</a:t>
              </a:r>
              <a:endParaRPr b="0" i="0" sz="1400" u="none" cap="none" strike="noStrike">
                <a:solidFill>
                  <a:srgbClr val="000000"/>
                </a:solidFill>
                <a:latin typeface="Arial"/>
                <a:ea typeface="Arial"/>
                <a:cs typeface="Arial"/>
                <a:sym typeface="Arial"/>
              </a:endParaRPr>
            </a:p>
          </p:txBody>
        </p:sp>
        <p:sp>
          <p:nvSpPr>
            <p:cNvPr id="214" name="Google Shape;214;p11"/>
            <p:cNvSpPr/>
            <p:nvPr/>
          </p:nvSpPr>
          <p:spPr>
            <a:xfrm>
              <a:off x="4189755" y="2133959"/>
              <a:ext cx="2644800" cy="2644800"/>
            </a:xfrm>
            <a:prstGeom prst="ellipse">
              <a:avLst/>
            </a:prstGeom>
            <a:gradFill>
              <a:gsLst>
                <a:gs pos="0">
                  <a:srgbClr val="8D9AB1">
                    <a:alpha val="49019"/>
                  </a:srgbClr>
                </a:gs>
                <a:gs pos="50000">
                  <a:srgbClr val="7B8EAB">
                    <a:alpha val="49019"/>
                  </a:srgbClr>
                </a:gs>
                <a:gs pos="100000">
                  <a:srgbClr val="6B7D98">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1"/>
            <p:cNvSpPr txBox="1"/>
            <p:nvPr/>
          </p:nvSpPr>
          <p:spPr>
            <a:xfrm>
              <a:off x="4838962" y="3266563"/>
              <a:ext cx="1560900" cy="839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Clinical Informatics</a:t>
              </a:r>
              <a:endParaRPr b="0" i="0" sz="1400" u="none" cap="none" strike="noStrike">
                <a:solidFill>
                  <a:srgbClr val="000000"/>
                </a:solidFill>
                <a:latin typeface="Arial"/>
                <a:ea typeface="Arial"/>
                <a:cs typeface="Arial"/>
                <a:sym typeface="Arial"/>
              </a:endParaRPr>
            </a:p>
          </p:txBody>
        </p:sp>
        <p:sp>
          <p:nvSpPr>
            <p:cNvPr id="216" name="Google Shape;216;p11"/>
            <p:cNvSpPr/>
            <p:nvPr/>
          </p:nvSpPr>
          <p:spPr>
            <a:xfrm>
              <a:off x="413607" y="1220724"/>
              <a:ext cx="2644902" cy="2644902"/>
            </a:xfrm>
            <a:prstGeom prst="ellipse">
              <a:avLst/>
            </a:prstGeom>
            <a:gradFill>
              <a:gsLst>
                <a:gs pos="0">
                  <a:srgbClr val="6EAAB6">
                    <a:alpha val="49019"/>
                  </a:srgbClr>
                </a:gs>
                <a:gs pos="50000">
                  <a:srgbClr val="54A5B2">
                    <a:alpha val="49019"/>
                  </a:srgbClr>
                </a:gs>
                <a:gs pos="100000">
                  <a:srgbClr val="4695A1">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1"/>
            <p:cNvSpPr txBox="1"/>
            <p:nvPr/>
          </p:nvSpPr>
          <p:spPr>
            <a:xfrm>
              <a:off x="617061" y="1525904"/>
              <a:ext cx="1169860" cy="203454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Public Health Informatics</a:t>
              </a:r>
              <a:endParaRPr b="0" i="0" sz="1400" u="none" cap="none" strike="noStrike">
                <a:solidFill>
                  <a:srgbClr val="000000"/>
                </a:solidFill>
                <a:latin typeface="Arial"/>
                <a:ea typeface="Arial"/>
                <a:cs typeface="Arial"/>
                <a:sym typeface="Arial"/>
              </a:endParaRPr>
            </a:p>
          </p:txBody>
        </p:sp>
      </p:grpSp>
      <p:sp>
        <p:nvSpPr>
          <p:cNvPr id="218" name="Google Shape;218;p11"/>
          <p:cNvSpPr txBox="1"/>
          <p:nvPr>
            <p:ph idx="2" type="body"/>
          </p:nvPr>
        </p:nvSpPr>
        <p:spPr>
          <a:xfrm>
            <a:off x="6784650" y="1180825"/>
            <a:ext cx="5407500" cy="50865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2"/>
              </a:buClr>
              <a:buSzPts val="3200"/>
              <a:buFont typeface="Arial"/>
              <a:buNone/>
            </a:pPr>
            <a:r>
              <a:rPr lang="en-US" sz="3200"/>
              <a:t>Clinical informatics</a:t>
            </a:r>
            <a:endParaRPr/>
          </a:p>
          <a:p>
            <a:pPr indent="-342899" lvl="1" marL="617220" rtl="0" algn="l">
              <a:lnSpc>
                <a:spcPct val="110000"/>
              </a:lnSpc>
              <a:spcBef>
                <a:spcPts val="500"/>
              </a:spcBef>
              <a:spcAft>
                <a:spcPts val="0"/>
              </a:spcAft>
              <a:buClr>
                <a:schemeClr val="dk2"/>
              </a:buClr>
              <a:buSzPts val="2380"/>
              <a:buChar char="•"/>
            </a:pPr>
            <a:r>
              <a:rPr lang="en-US" sz="2800"/>
              <a:t>Medical</a:t>
            </a:r>
            <a:endParaRPr/>
          </a:p>
          <a:p>
            <a:pPr indent="-342899" lvl="1" marL="617220" rtl="0" algn="l">
              <a:lnSpc>
                <a:spcPct val="110000"/>
              </a:lnSpc>
              <a:spcBef>
                <a:spcPts val="500"/>
              </a:spcBef>
              <a:spcAft>
                <a:spcPts val="0"/>
              </a:spcAft>
              <a:buClr>
                <a:schemeClr val="dk2"/>
              </a:buClr>
              <a:buSzPts val="2380"/>
              <a:buChar char="•"/>
            </a:pPr>
            <a:r>
              <a:rPr lang="en-US" sz="2800"/>
              <a:t>Dental</a:t>
            </a:r>
            <a:endParaRPr/>
          </a:p>
          <a:p>
            <a:pPr indent="-342899" lvl="1" marL="617220" rtl="0" algn="l">
              <a:lnSpc>
                <a:spcPct val="110000"/>
              </a:lnSpc>
              <a:spcBef>
                <a:spcPts val="500"/>
              </a:spcBef>
              <a:spcAft>
                <a:spcPts val="0"/>
              </a:spcAft>
              <a:buClr>
                <a:schemeClr val="dk2"/>
              </a:buClr>
              <a:buSzPts val="2380"/>
              <a:buChar char="•"/>
            </a:pPr>
            <a:r>
              <a:rPr lang="en-US" sz="2800"/>
              <a:t>Nursing</a:t>
            </a:r>
            <a:endParaRPr/>
          </a:p>
          <a:p>
            <a:pPr indent="-342899" lvl="1" marL="617220" rtl="0" algn="l">
              <a:lnSpc>
                <a:spcPct val="110000"/>
              </a:lnSpc>
              <a:spcBef>
                <a:spcPts val="500"/>
              </a:spcBef>
              <a:spcAft>
                <a:spcPts val="0"/>
              </a:spcAft>
              <a:buClr>
                <a:schemeClr val="dk2"/>
              </a:buClr>
              <a:buSzPts val="2380"/>
              <a:buChar char="•"/>
            </a:pPr>
            <a:r>
              <a:rPr lang="en-US" sz="2800"/>
              <a:t>Veterinary</a:t>
            </a:r>
            <a:endParaRPr/>
          </a:p>
          <a:p>
            <a:pPr indent="0" lvl="0" marL="0" rtl="0" algn="l">
              <a:lnSpc>
                <a:spcPct val="110000"/>
              </a:lnSpc>
              <a:spcBef>
                <a:spcPts val="1000"/>
              </a:spcBef>
              <a:spcAft>
                <a:spcPts val="0"/>
              </a:spcAft>
              <a:buClr>
                <a:schemeClr val="dk2"/>
              </a:buClr>
              <a:buSzPts val="3200"/>
              <a:buFont typeface="Arial"/>
              <a:buNone/>
            </a:pPr>
            <a:r>
              <a:rPr lang="en-US" sz="3200"/>
              <a:t>Public health informatics</a:t>
            </a:r>
            <a:endParaRPr/>
          </a:p>
          <a:p>
            <a:pPr indent="-342899" lvl="1" marL="617220" rtl="0" algn="l">
              <a:lnSpc>
                <a:spcPct val="110000"/>
              </a:lnSpc>
              <a:spcBef>
                <a:spcPts val="500"/>
              </a:spcBef>
              <a:spcAft>
                <a:spcPts val="0"/>
              </a:spcAft>
              <a:buClr>
                <a:schemeClr val="dk2"/>
              </a:buClr>
              <a:buSzPts val="2380"/>
              <a:buChar char="•"/>
            </a:pPr>
            <a:r>
              <a:rPr lang="en-US" sz="2800"/>
              <a:t>Individual 🡪 population</a:t>
            </a:r>
            <a:endParaRPr sz="2800"/>
          </a:p>
        </p:txBody>
      </p:sp>
      <p:sp>
        <p:nvSpPr>
          <p:cNvPr id="219" name="Google Shape;219;p11"/>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Domains of Biomedical Informatics</a:t>
            </a:r>
            <a:endParaRPr/>
          </a:p>
        </p:txBody>
      </p:sp>
      <p:sp>
        <p:nvSpPr>
          <p:cNvPr id="220" name="Google Shape;220;p11"/>
          <p:cNvSpPr txBox="1"/>
          <p:nvPr/>
        </p:nvSpPr>
        <p:spPr>
          <a:xfrm>
            <a:off x="5600227" y="5959713"/>
            <a:ext cx="6107906"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E.H. Shortliffe, J.J. Cimino (eds.), Biomedical Informatics, 2021</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2"/>
          <p:cNvSpPr txBox="1"/>
          <p:nvPr>
            <p:ph idx="4294967295" type="title"/>
          </p:nvPr>
        </p:nvSpPr>
        <p:spPr>
          <a:xfrm>
            <a:off x="284474" y="247850"/>
            <a:ext cx="6883500" cy="7455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Next: Imaging Informatics</a:t>
            </a:r>
            <a:endParaRPr/>
          </a:p>
        </p:txBody>
      </p:sp>
      <p:sp>
        <p:nvSpPr>
          <p:cNvPr id="227" name="Google Shape;227;p12"/>
          <p:cNvSpPr txBox="1"/>
          <p:nvPr/>
        </p:nvSpPr>
        <p:spPr>
          <a:xfrm>
            <a:off x="-85344" y="6836040"/>
            <a:ext cx="57357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chemeClr val="dk1"/>
                </a:solidFill>
                <a:latin typeface="Arial"/>
                <a:ea typeface="Arial"/>
                <a:cs typeface="Arial"/>
                <a:sym typeface="Arial"/>
                <a:hlinkClick r:id="rId3">
                  <a:extLst>
                    <a:ext uri="{A12FA001-AC4F-418D-AE19-62706E023703}">
                      <ahyp:hlinkClr val="tx"/>
                    </a:ext>
                  </a:extLst>
                </a:hlinkClick>
              </a:rPr>
              <a:t>This Photo</a:t>
            </a:r>
            <a:r>
              <a:rPr b="0" i="0" lang="en-US" sz="900" u="none" cap="none" strike="noStrike">
                <a:solidFill>
                  <a:schemeClr val="dk1"/>
                </a:solidFill>
                <a:latin typeface="Arial"/>
                <a:ea typeface="Arial"/>
                <a:cs typeface="Arial"/>
                <a:sym typeface="Arial"/>
              </a:rPr>
              <a:t> by Unknown Author is licensed under </a:t>
            </a:r>
            <a:r>
              <a:rPr b="0" i="0" lang="en-US" sz="900" u="sng" cap="none" strike="noStrike">
                <a:solidFill>
                  <a:schemeClr val="dk1"/>
                </a:solidFill>
                <a:latin typeface="Arial"/>
                <a:ea typeface="Arial"/>
                <a:cs typeface="Arial"/>
                <a:sym typeface="Arial"/>
                <a:hlinkClick r:id="rId4">
                  <a:extLst>
                    <a:ext uri="{A12FA001-AC4F-418D-AE19-62706E023703}">
                      <ahyp:hlinkClr val="tx"/>
                    </a:ext>
                  </a:extLst>
                </a:hlinkClick>
              </a:rPr>
              <a:t>CC BY-NC-ND</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3"/>
          <p:cNvSpPr txBox="1"/>
          <p:nvPr>
            <p:ph idx="4294967295" type="ctrTitle"/>
          </p:nvPr>
        </p:nvSpPr>
        <p:spPr>
          <a:xfrm>
            <a:off x="142875" y="666300"/>
            <a:ext cx="3864600" cy="903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EAS 5850:</a:t>
            </a:r>
            <a:endParaRPr b="1" i="0" sz="2400" u="none" cap="none" strike="noStrike">
              <a:solidFill>
                <a:srgbClr val="003399"/>
              </a:solidFill>
              <a:latin typeface="Arial"/>
              <a:ea typeface="Arial"/>
              <a:cs typeface="Arial"/>
              <a:sym typeface="Arial"/>
            </a:endParaRPr>
          </a:p>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IMAGING INFORMATICS</a:t>
            </a:r>
            <a:endParaRPr b="1" i="0" sz="2400" u="none" cap="none" strike="noStrike">
              <a:solidFill>
                <a:srgbClr val="003399"/>
              </a:solidFill>
              <a:latin typeface="Arial"/>
              <a:ea typeface="Arial"/>
              <a:cs typeface="Arial"/>
              <a:sym typeface="Arial"/>
            </a:endParaRPr>
          </a:p>
        </p:txBody>
      </p:sp>
      <p:sp>
        <p:nvSpPr>
          <p:cNvPr id="233" name="Google Shape;233;p13"/>
          <p:cNvSpPr txBox="1"/>
          <p:nvPr>
            <p:ph idx="4294967295" type="subTitle"/>
          </p:nvPr>
        </p:nvSpPr>
        <p:spPr>
          <a:xfrm>
            <a:off x="142874" y="2531700"/>
            <a:ext cx="3864600" cy="1794600"/>
          </a:xfrm>
          <a:prstGeom prst="rect">
            <a:avLst/>
          </a:prstGeom>
          <a:solidFill>
            <a:schemeClr val="lt1"/>
          </a:solidFill>
          <a:ln cap="flat" cmpd="sng" w="9525">
            <a:solidFill>
              <a:srgbClr val="0033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Arial"/>
              <a:buNone/>
            </a:pPr>
            <a:r>
              <a:rPr b="0" i="0" lang="en-US" sz="3600" u="none" cap="none" strike="noStrike">
                <a:solidFill>
                  <a:schemeClr val="dk2"/>
                </a:solidFill>
                <a:latin typeface="Arial"/>
                <a:ea typeface="Arial"/>
                <a:cs typeface="Arial"/>
                <a:sym typeface="Arial"/>
              </a:rPr>
              <a:t>Introduction to Imaging Informatics </a:t>
            </a:r>
            <a:endParaRPr b="0" i="0" sz="2800" u="none" cap="none" strike="noStrike">
              <a:solidFill>
                <a:schemeClr val="dk2"/>
              </a:solidFill>
              <a:latin typeface="Arial"/>
              <a:ea typeface="Arial"/>
              <a:cs typeface="Arial"/>
              <a:sym typeface="Arial"/>
            </a:endParaRPr>
          </a:p>
        </p:txBody>
      </p:sp>
      <p:sp>
        <p:nvSpPr>
          <p:cNvPr id="234" name="Google Shape;234;p13"/>
          <p:cNvSpPr txBox="1"/>
          <p:nvPr/>
        </p:nvSpPr>
        <p:spPr>
          <a:xfrm>
            <a:off x="142875" y="5376850"/>
            <a:ext cx="3864600" cy="492600"/>
          </a:xfrm>
          <a:prstGeom prst="rect">
            <a:avLst/>
          </a:prstGeom>
          <a:solidFill>
            <a:schemeClr val="lt1"/>
          </a:solidFill>
          <a:ln cap="flat" cmpd="sng" w="9525">
            <a:solidFill>
              <a:srgbClr val="33CCCC"/>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accent1"/>
                </a:solidFill>
                <a:latin typeface="Arial"/>
                <a:ea typeface="Arial"/>
                <a:cs typeface="Arial"/>
                <a:sym typeface="Arial"/>
              </a:rPr>
              <a:t>Dr. Tessa S. Cook </a:t>
            </a:r>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txBox="1"/>
          <p:nvPr>
            <p:ph type="title"/>
          </p:nvPr>
        </p:nvSpPr>
        <p:spPr>
          <a:xfrm>
            <a:off x="1254741" y="2766391"/>
            <a:ext cx="2961504" cy="1325218"/>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10000"/>
              </a:lnSpc>
              <a:spcBef>
                <a:spcPts val="0"/>
              </a:spcBef>
              <a:spcAft>
                <a:spcPts val="0"/>
              </a:spcAft>
              <a:buClr>
                <a:srgbClr val="003399"/>
              </a:buClr>
              <a:buSzPct val="100000"/>
              <a:buFont typeface="Arial"/>
              <a:buNone/>
            </a:pPr>
            <a:r>
              <a:rPr lang="en-US"/>
              <a:t>Imaging</a:t>
            </a:r>
            <a:br>
              <a:rPr lang="en-US"/>
            </a:br>
            <a:r>
              <a:rPr lang="en-US"/>
              <a:t>Informatics</a:t>
            </a:r>
            <a:endParaRPr/>
          </a:p>
        </p:txBody>
      </p:sp>
      <p:grpSp>
        <p:nvGrpSpPr>
          <p:cNvPr id="241" name="Google Shape;241;p14"/>
          <p:cNvGrpSpPr/>
          <p:nvPr/>
        </p:nvGrpSpPr>
        <p:grpSpPr>
          <a:xfrm>
            <a:off x="5282008" y="820145"/>
            <a:ext cx="5403662" cy="5100262"/>
            <a:chOff x="666759" y="65387"/>
            <a:chExt cx="5403662" cy="5100262"/>
          </a:xfrm>
        </p:grpSpPr>
        <p:sp>
          <p:nvSpPr>
            <p:cNvPr id="242" name="Google Shape;242;p14"/>
            <p:cNvSpPr/>
            <p:nvPr/>
          </p:nvSpPr>
          <p:spPr>
            <a:xfrm>
              <a:off x="1799279" y="65387"/>
              <a:ext cx="3138622" cy="3138622"/>
            </a:xfrm>
            <a:prstGeom prst="ellipse">
              <a:avLst/>
            </a:prstGeom>
            <a:gradFill>
              <a:gsLst>
                <a:gs pos="0">
                  <a:srgbClr val="8D9AB1">
                    <a:alpha val="49019"/>
                  </a:srgbClr>
                </a:gs>
                <a:gs pos="50000">
                  <a:srgbClr val="7B8EAB">
                    <a:alpha val="49019"/>
                  </a:srgbClr>
                </a:gs>
                <a:gs pos="100000">
                  <a:srgbClr val="6B7D98">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4"/>
            <p:cNvSpPr txBox="1"/>
            <p:nvPr/>
          </p:nvSpPr>
          <p:spPr>
            <a:xfrm>
              <a:off x="2217762" y="614646"/>
              <a:ext cx="2301656" cy="14123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400"/>
                <a:buFont typeface="Arial"/>
                <a:buNone/>
              </a:pPr>
              <a:r>
                <a:rPr b="0" i="0" lang="en-US" sz="3400" u="none" cap="none" strike="noStrike">
                  <a:solidFill>
                    <a:schemeClr val="dk1"/>
                  </a:solidFill>
                  <a:latin typeface="Arial"/>
                  <a:ea typeface="Arial"/>
                  <a:cs typeface="Arial"/>
                  <a:sym typeface="Arial"/>
                </a:rPr>
                <a:t>Information science</a:t>
              </a:r>
              <a:endParaRPr b="0" i="0" sz="1400" u="none" cap="none" strike="noStrike">
                <a:solidFill>
                  <a:srgbClr val="000000"/>
                </a:solidFill>
                <a:latin typeface="Arial"/>
                <a:ea typeface="Arial"/>
                <a:cs typeface="Arial"/>
                <a:sym typeface="Arial"/>
              </a:endParaRPr>
            </a:p>
          </p:txBody>
        </p:sp>
        <p:sp>
          <p:nvSpPr>
            <p:cNvPr id="244" name="Google Shape;244;p14"/>
            <p:cNvSpPr/>
            <p:nvPr/>
          </p:nvSpPr>
          <p:spPr>
            <a:xfrm>
              <a:off x="2931799" y="2027027"/>
              <a:ext cx="3138622" cy="3138622"/>
            </a:xfrm>
            <a:prstGeom prst="ellipse">
              <a:avLst/>
            </a:prstGeom>
            <a:gradFill>
              <a:gsLst>
                <a:gs pos="0">
                  <a:srgbClr val="7D9CB2">
                    <a:alpha val="49019"/>
                  </a:srgbClr>
                </a:gs>
                <a:gs pos="50000">
                  <a:srgbClr val="6791AD">
                    <a:alpha val="49019"/>
                  </a:srgbClr>
                </a:gs>
                <a:gs pos="100000">
                  <a:srgbClr val="58809B">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4"/>
            <p:cNvSpPr txBox="1"/>
            <p:nvPr/>
          </p:nvSpPr>
          <p:spPr>
            <a:xfrm>
              <a:off x="3805382" y="2837838"/>
              <a:ext cx="1969486" cy="172624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400"/>
                <a:buFont typeface="Arial"/>
                <a:buNone/>
              </a:pPr>
              <a:r>
                <a:rPr b="0" i="0" lang="en-US" sz="3400" u="none" cap="none" strike="noStrike">
                  <a:solidFill>
                    <a:schemeClr val="dk1"/>
                  </a:solidFill>
                  <a:latin typeface="Arial"/>
                  <a:ea typeface="Arial"/>
                  <a:cs typeface="Arial"/>
                  <a:sym typeface="Arial"/>
                </a:rPr>
                <a:t>Computer science</a:t>
              </a:r>
              <a:endParaRPr b="0" i="0" sz="1400" u="none" cap="none" strike="noStrike">
                <a:solidFill>
                  <a:srgbClr val="000000"/>
                </a:solidFill>
                <a:latin typeface="Arial"/>
                <a:ea typeface="Arial"/>
                <a:cs typeface="Arial"/>
                <a:sym typeface="Arial"/>
              </a:endParaRPr>
            </a:p>
          </p:txBody>
        </p:sp>
        <p:sp>
          <p:nvSpPr>
            <p:cNvPr id="246" name="Google Shape;246;p14"/>
            <p:cNvSpPr/>
            <p:nvPr/>
          </p:nvSpPr>
          <p:spPr>
            <a:xfrm>
              <a:off x="666759" y="2027027"/>
              <a:ext cx="3138622" cy="3138622"/>
            </a:xfrm>
            <a:prstGeom prst="ellipse">
              <a:avLst/>
            </a:prstGeom>
            <a:gradFill>
              <a:gsLst>
                <a:gs pos="0">
                  <a:srgbClr val="6DA8B5">
                    <a:alpha val="49019"/>
                  </a:srgbClr>
                </a:gs>
                <a:gs pos="50000">
                  <a:srgbClr val="53A1B1">
                    <a:alpha val="49019"/>
                  </a:srgbClr>
                </a:gs>
                <a:gs pos="100000">
                  <a:srgbClr val="4590A0">
                    <a:alpha val="49019"/>
                  </a:srgbClr>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4"/>
            <p:cNvSpPr txBox="1"/>
            <p:nvPr/>
          </p:nvSpPr>
          <p:spPr>
            <a:xfrm>
              <a:off x="855633" y="2837838"/>
              <a:ext cx="2131188" cy="172624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400"/>
                <a:buFont typeface="Arial"/>
                <a:buNone/>
              </a:pPr>
              <a:r>
                <a:rPr b="0" i="0" lang="en-US" sz="3400" u="none" cap="none" strike="noStrike">
                  <a:solidFill>
                    <a:schemeClr val="dk1"/>
                  </a:solidFill>
                  <a:latin typeface="Arial"/>
                  <a:ea typeface="Arial"/>
                  <a:cs typeface="Arial"/>
                  <a:sym typeface="Arial"/>
                </a:rPr>
                <a:t>Healthcare</a:t>
              </a:r>
              <a:endParaRPr b="0" i="0" sz="1400" u="none" cap="none" strike="noStrike">
                <a:solidFill>
                  <a:srgbClr val="000000"/>
                </a:solidFill>
                <a:latin typeface="Arial"/>
                <a:ea typeface="Arial"/>
                <a:cs typeface="Arial"/>
                <a:sym typeface="Arial"/>
              </a:endParaRPr>
            </a:p>
          </p:txBody>
        </p:sp>
      </p:grpSp>
      <p:sp>
        <p:nvSpPr>
          <p:cNvPr id="248" name="Google Shape;248;p14"/>
          <p:cNvSpPr txBox="1"/>
          <p:nvPr/>
        </p:nvSpPr>
        <p:spPr>
          <a:xfrm>
            <a:off x="4006751" y="2766391"/>
            <a:ext cx="1436959" cy="1325218"/>
          </a:xfrm>
          <a:prstGeom prst="rect">
            <a:avLst/>
          </a:prstGeom>
          <a:noFill/>
          <a:ln>
            <a:noFill/>
          </a:ln>
        </p:spPr>
        <p:txBody>
          <a:bodyPr anchorCtr="0" anchor="ctr" bIns="45700" lIns="91400" spcFirstLastPara="1" rIns="91400" wrap="square" tIns="45700">
            <a:normAutofit/>
          </a:bodyPr>
          <a:lstStyle/>
          <a:p>
            <a:pPr indent="0" lvl="0" marL="0" marR="0" rtl="0" algn="ctr">
              <a:lnSpc>
                <a:spcPct val="90000"/>
              </a:lnSpc>
              <a:spcBef>
                <a:spcPts val="0"/>
              </a:spcBef>
              <a:spcAft>
                <a:spcPts val="0"/>
              </a:spcAft>
              <a:buClr>
                <a:schemeClr val="dk1"/>
              </a:buClr>
              <a:buSzPts val="4399"/>
              <a:buFont typeface="Arial"/>
              <a:buNone/>
            </a:pPr>
            <a:r>
              <a:rPr b="0" i="0" lang="en-US" sz="4399"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249" name="Google Shape;249;p14"/>
          <p:cNvPicPr preferRelativeResize="0"/>
          <p:nvPr/>
        </p:nvPicPr>
        <p:blipFill rotWithShape="1">
          <a:blip r:embed="rId3">
            <a:alphaModFix/>
          </a:blip>
          <a:srcRect b="0" l="0" r="0" t="0"/>
          <a:stretch/>
        </p:blipFill>
        <p:spPr>
          <a:xfrm>
            <a:off x="231775" y="288004"/>
            <a:ext cx="4699000" cy="1168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descr="An image of a network web." id="255" name="Google Shape;255;p15"/>
          <p:cNvPicPr preferRelativeResize="0"/>
          <p:nvPr>
            <p:ph idx="1" type="body"/>
          </p:nvPr>
        </p:nvPicPr>
        <p:blipFill rotWithShape="1">
          <a:blip r:embed="rId3">
            <a:alphaModFix/>
          </a:blip>
          <a:srcRect b="12204" l="0" r="0" t="18958"/>
          <a:stretch/>
        </p:blipFill>
        <p:spPr>
          <a:xfrm>
            <a:off x="2355553" y="545049"/>
            <a:ext cx="7759903" cy="5341674"/>
          </a:xfrm>
          <a:prstGeom prst="rect">
            <a:avLst/>
          </a:prstGeom>
          <a:noFill/>
          <a:ln>
            <a:noFill/>
          </a:ln>
        </p:spPr>
      </p:pic>
      <p:pic>
        <p:nvPicPr>
          <p:cNvPr descr="An image of chest xray" id="256" name="Google Shape;256;p15"/>
          <p:cNvPicPr preferRelativeResize="0"/>
          <p:nvPr/>
        </p:nvPicPr>
        <p:blipFill rotWithShape="1">
          <a:blip r:embed="rId4">
            <a:alphaModFix/>
          </a:blip>
          <a:srcRect b="0" l="0" r="0" t="0"/>
          <a:stretch/>
        </p:blipFill>
        <p:spPr>
          <a:xfrm>
            <a:off x="280596" y="343319"/>
            <a:ext cx="1975923" cy="1481943"/>
          </a:xfrm>
          <a:prstGeom prst="rect">
            <a:avLst/>
          </a:prstGeom>
          <a:noFill/>
          <a:ln>
            <a:noFill/>
          </a:ln>
        </p:spPr>
      </p:pic>
      <p:pic>
        <p:nvPicPr>
          <p:cNvPr descr="An image of spinal xray." id="257" name="Google Shape;257;p15"/>
          <p:cNvPicPr preferRelativeResize="0"/>
          <p:nvPr/>
        </p:nvPicPr>
        <p:blipFill rotWithShape="1">
          <a:blip r:embed="rId5">
            <a:alphaModFix/>
          </a:blip>
          <a:srcRect b="0" l="28967" r="18937" t="0"/>
          <a:stretch/>
        </p:blipFill>
        <p:spPr>
          <a:xfrm>
            <a:off x="10249610" y="2542144"/>
            <a:ext cx="1377911" cy="2021992"/>
          </a:xfrm>
          <a:prstGeom prst="rect">
            <a:avLst/>
          </a:prstGeom>
          <a:noFill/>
          <a:ln>
            <a:noFill/>
          </a:ln>
        </p:spPr>
      </p:pic>
      <p:pic>
        <p:nvPicPr>
          <p:cNvPr descr="A screenshot of a computer&#10;&#10;Description automatically generated" id="258" name="Google Shape;258;p15"/>
          <p:cNvPicPr preferRelativeResize="0"/>
          <p:nvPr/>
        </p:nvPicPr>
        <p:blipFill rotWithShape="1">
          <a:blip r:embed="rId6">
            <a:alphaModFix/>
          </a:blip>
          <a:srcRect b="0" l="0" r="0" t="0"/>
          <a:stretch/>
        </p:blipFill>
        <p:spPr>
          <a:xfrm>
            <a:off x="9814069" y="343319"/>
            <a:ext cx="2031471" cy="1523603"/>
          </a:xfrm>
          <a:prstGeom prst="rect">
            <a:avLst/>
          </a:prstGeom>
          <a:noFill/>
          <a:ln>
            <a:noFill/>
          </a:ln>
        </p:spPr>
      </p:pic>
      <p:pic>
        <p:nvPicPr>
          <p:cNvPr descr="A screenshot of a cell phone&#10;&#10;Description automatically generated" id="259" name="Google Shape;259;p15"/>
          <p:cNvPicPr preferRelativeResize="0"/>
          <p:nvPr/>
        </p:nvPicPr>
        <p:blipFill rotWithShape="1">
          <a:blip r:embed="rId7">
            <a:alphaModFix/>
          </a:blip>
          <a:srcRect b="0" l="0" r="0" t="0"/>
          <a:stretch/>
        </p:blipFill>
        <p:spPr>
          <a:xfrm>
            <a:off x="236802" y="4606509"/>
            <a:ext cx="2089921" cy="1481944"/>
          </a:xfrm>
          <a:prstGeom prst="rect">
            <a:avLst/>
          </a:prstGeom>
          <a:noFill/>
          <a:ln>
            <a:noFill/>
          </a:ln>
        </p:spPr>
      </p:pic>
      <p:pic>
        <p:nvPicPr>
          <p:cNvPr descr="A picture containing computer, blue, standing, night&#10;&#10;Description automatically generated" id="260" name="Google Shape;260;p15"/>
          <p:cNvPicPr preferRelativeResize="0"/>
          <p:nvPr/>
        </p:nvPicPr>
        <p:blipFill rotWithShape="1">
          <a:blip r:embed="rId8">
            <a:alphaModFix/>
          </a:blip>
          <a:srcRect b="0" l="0" r="0" t="0"/>
          <a:stretch/>
        </p:blipFill>
        <p:spPr>
          <a:xfrm>
            <a:off x="9865277" y="5191866"/>
            <a:ext cx="1584565" cy="950739"/>
          </a:xfrm>
          <a:prstGeom prst="rect">
            <a:avLst/>
          </a:prstGeom>
          <a:noFill/>
          <a:ln>
            <a:noFill/>
          </a:ln>
        </p:spPr>
      </p:pic>
      <p:cxnSp>
        <p:nvCxnSpPr>
          <p:cNvPr id="261" name="Google Shape;261;p15"/>
          <p:cNvCxnSpPr>
            <a:stCxn id="256" idx="3"/>
          </p:cNvCxnSpPr>
          <p:nvPr/>
        </p:nvCxnSpPr>
        <p:spPr>
          <a:xfrm>
            <a:off x="2256519" y="1084291"/>
            <a:ext cx="759000" cy="345000"/>
          </a:xfrm>
          <a:prstGeom prst="straightConnector1">
            <a:avLst/>
          </a:prstGeom>
          <a:noFill/>
          <a:ln cap="flat" cmpd="sng" w="9525">
            <a:solidFill>
              <a:schemeClr val="accent1"/>
            </a:solidFill>
            <a:prstDash val="solid"/>
            <a:miter lim="800000"/>
            <a:headEnd len="sm" w="sm" type="none"/>
            <a:tailEnd len="med" w="med" type="triangle"/>
          </a:ln>
        </p:spPr>
      </p:cxnSp>
      <p:cxnSp>
        <p:nvCxnSpPr>
          <p:cNvPr id="262" name="Google Shape;262;p15"/>
          <p:cNvCxnSpPr>
            <a:stCxn id="258" idx="1"/>
          </p:cNvCxnSpPr>
          <p:nvPr/>
        </p:nvCxnSpPr>
        <p:spPr>
          <a:xfrm flipH="1">
            <a:off x="8857669" y="1105120"/>
            <a:ext cx="956400" cy="595500"/>
          </a:xfrm>
          <a:prstGeom prst="straightConnector1">
            <a:avLst/>
          </a:prstGeom>
          <a:noFill/>
          <a:ln cap="flat" cmpd="sng" w="9525">
            <a:solidFill>
              <a:schemeClr val="accent1"/>
            </a:solidFill>
            <a:prstDash val="solid"/>
            <a:miter lim="800000"/>
            <a:headEnd len="sm" w="sm" type="none"/>
            <a:tailEnd len="med" w="med" type="triangle"/>
          </a:ln>
        </p:spPr>
      </p:cxnSp>
      <p:cxnSp>
        <p:nvCxnSpPr>
          <p:cNvPr id="263" name="Google Shape;263;p15"/>
          <p:cNvCxnSpPr>
            <a:stCxn id="257" idx="1"/>
          </p:cNvCxnSpPr>
          <p:nvPr/>
        </p:nvCxnSpPr>
        <p:spPr>
          <a:xfrm flipH="1">
            <a:off x="9335810" y="3553140"/>
            <a:ext cx="913800" cy="345000"/>
          </a:xfrm>
          <a:prstGeom prst="straightConnector1">
            <a:avLst/>
          </a:prstGeom>
          <a:noFill/>
          <a:ln cap="flat" cmpd="sng" w="9525">
            <a:solidFill>
              <a:schemeClr val="accent1"/>
            </a:solidFill>
            <a:prstDash val="solid"/>
            <a:miter lim="800000"/>
            <a:headEnd len="sm" w="sm" type="none"/>
            <a:tailEnd len="med" w="med" type="triangle"/>
          </a:ln>
        </p:spPr>
      </p:cxnSp>
      <p:cxnSp>
        <p:nvCxnSpPr>
          <p:cNvPr id="264" name="Google Shape;264;p15"/>
          <p:cNvCxnSpPr>
            <a:stCxn id="260" idx="1"/>
          </p:cNvCxnSpPr>
          <p:nvPr/>
        </p:nvCxnSpPr>
        <p:spPr>
          <a:xfrm rot="10800000">
            <a:off x="8530877" y="5191736"/>
            <a:ext cx="1334400" cy="475500"/>
          </a:xfrm>
          <a:prstGeom prst="straightConnector1">
            <a:avLst/>
          </a:prstGeom>
          <a:noFill/>
          <a:ln cap="flat" cmpd="sng" w="9525">
            <a:solidFill>
              <a:schemeClr val="accent1"/>
            </a:solidFill>
            <a:prstDash val="solid"/>
            <a:miter lim="800000"/>
            <a:headEnd len="sm" w="sm" type="none"/>
            <a:tailEnd len="med" w="med" type="triangle"/>
          </a:ln>
        </p:spPr>
      </p:cxnSp>
      <p:cxnSp>
        <p:nvCxnSpPr>
          <p:cNvPr id="265" name="Google Shape;265;p15"/>
          <p:cNvCxnSpPr>
            <a:stCxn id="259" idx="3"/>
          </p:cNvCxnSpPr>
          <p:nvPr/>
        </p:nvCxnSpPr>
        <p:spPr>
          <a:xfrm flipH="1" rot="10800000">
            <a:off x="2326723" y="4243481"/>
            <a:ext cx="1688100" cy="11040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16"/>
          <p:cNvPicPr preferRelativeResize="0"/>
          <p:nvPr/>
        </p:nvPicPr>
        <p:blipFill rotWithShape="1">
          <a:blip r:embed="rId3">
            <a:alphaModFix/>
          </a:blip>
          <a:srcRect b="0" l="0" r="0" t="0"/>
          <a:stretch/>
        </p:blipFill>
        <p:spPr>
          <a:xfrm>
            <a:off x="9482119" y="1962691"/>
            <a:ext cx="1973565" cy="1036620"/>
          </a:xfrm>
          <a:prstGeom prst="rect">
            <a:avLst/>
          </a:prstGeom>
          <a:noFill/>
          <a:ln>
            <a:noFill/>
          </a:ln>
        </p:spPr>
      </p:pic>
      <p:pic>
        <p:nvPicPr>
          <p:cNvPr id="272" name="Google Shape;272;p16"/>
          <p:cNvPicPr preferRelativeResize="0"/>
          <p:nvPr/>
        </p:nvPicPr>
        <p:blipFill rotWithShape="1">
          <a:blip r:embed="rId4">
            <a:alphaModFix/>
          </a:blip>
          <a:srcRect b="0" l="0" r="0" t="0"/>
          <a:stretch/>
        </p:blipFill>
        <p:spPr>
          <a:xfrm>
            <a:off x="376907" y="959423"/>
            <a:ext cx="1955683" cy="1160151"/>
          </a:xfrm>
          <a:prstGeom prst="rect">
            <a:avLst/>
          </a:prstGeom>
          <a:noFill/>
          <a:ln>
            <a:noFill/>
          </a:ln>
        </p:spPr>
      </p:pic>
      <p:pic>
        <p:nvPicPr>
          <p:cNvPr id="273" name="Google Shape;273;p16"/>
          <p:cNvPicPr preferRelativeResize="0"/>
          <p:nvPr/>
        </p:nvPicPr>
        <p:blipFill rotWithShape="1">
          <a:blip r:embed="rId5">
            <a:alphaModFix/>
          </a:blip>
          <a:srcRect b="0" l="0" r="0" t="0"/>
          <a:stretch/>
        </p:blipFill>
        <p:spPr>
          <a:xfrm>
            <a:off x="298714" y="3750389"/>
            <a:ext cx="2539858" cy="816912"/>
          </a:xfrm>
          <a:prstGeom prst="rect">
            <a:avLst/>
          </a:prstGeom>
          <a:noFill/>
          <a:ln>
            <a:noFill/>
          </a:ln>
        </p:spPr>
      </p:pic>
      <p:pic>
        <p:nvPicPr>
          <p:cNvPr id="274" name="Google Shape;274;p16"/>
          <p:cNvPicPr preferRelativeResize="0"/>
          <p:nvPr/>
        </p:nvPicPr>
        <p:blipFill rotWithShape="1">
          <a:blip r:embed="rId6">
            <a:alphaModFix/>
          </a:blip>
          <a:srcRect b="0" l="0" r="0" t="0"/>
          <a:stretch/>
        </p:blipFill>
        <p:spPr>
          <a:xfrm>
            <a:off x="1469235" y="2526525"/>
            <a:ext cx="1336767" cy="816912"/>
          </a:xfrm>
          <a:prstGeom prst="rect">
            <a:avLst/>
          </a:prstGeom>
          <a:noFill/>
          <a:ln>
            <a:noFill/>
          </a:ln>
        </p:spPr>
      </p:pic>
      <p:pic>
        <p:nvPicPr>
          <p:cNvPr descr="Slide with many logo of Informatics specialty societies." id="275" name="Google Shape;275;p16"/>
          <p:cNvPicPr preferRelativeResize="0"/>
          <p:nvPr/>
        </p:nvPicPr>
        <p:blipFill rotWithShape="1">
          <a:blip r:embed="rId7">
            <a:alphaModFix/>
          </a:blip>
          <a:srcRect b="0" l="0" r="0" t="0"/>
          <a:stretch/>
        </p:blipFill>
        <p:spPr>
          <a:xfrm>
            <a:off x="4825090" y="3803107"/>
            <a:ext cx="3551803" cy="816913"/>
          </a:xfrm>
          <a:prstGeom prst="rect">
            <a:avLst/>
          </a:prstGeom>
          <a:noFill/>
          <a:ln>
            <a:noFill/>
          </a:ln>
        </p:spPr>
      </p:pic>
      <p:pic>
        <p:nvPicPr>
          <p:cNvPr id="276" name="Google Shape;276;p16"/>
          <p:cNvPicPr preferRelativeResize="0"/>
          <p:nvPr/>
        </p:nvPicPr>
        <p:blipFill rotWithShape="1">
          <a:blip r:embed="rId8">
            <a:alphaModFix/>
          </a:blip>
          <a:srcRect b="0" l="0" r="0" t="0"/>
          <a:stretch/>
        </p:blipFill>
        <p:spPr>
          <a:xfrm>
            <a:off x="8703745" y="5257088"/>
            <a:ext cx="2674797" cy="822500"/>
          </a:xfrm>
          <a:prstGeom prst="rect">
            <a:avLst/>
          </a:prstGeom>
          <a:noFill/>
          <a:ln>
            <a:noFill/>
          </a:ln>
        </p:spPr>
      </p:pic>
      <p:pic>
        <p:nvPicPr>
          <p:cNvPr id="277" name="Google Shape;277;p16"/>
          <p:cNvPicPr preferRelativeResize="0"/>
          <p:nvPr/>
        </p:nvPicPr>
        <p:blipFill rotWithShape="1">
          <a:blip r:embed="rId9">
            <a:alphaModFix/>
          </a:blip>
          <a:srcRect b="0" l="0" r="0" t="0"/>
          <a:stretch/>
        </p:blipFill>
        <p:spPr>
          <a:xfrm>
            <a:off x="4972056" y="5040674"/>
            <a:ext cx="2395531" cy="1215731"/>
          </a:xfrm>
          <a:prstGeom prst="rect">
            <a:avLst/>
          </a:prstGeom>
          <a:noFill/>
          <a:ln>
            <a:noFill/>
          </a:ln>
        </p:spPr>
      </p:pic>
      <p:pic>
        <p:nvPicPr>
          <p:cNvPr id="278" name="Google Shape;278;p16"/>
          <p:cNvPicPr preferRelativeResize="0"/>
          <p:nvPr/>
        </p:nvPicPr>
        <p:blipFill rotWithShape="1">
          <a:blip r:embed="rId10">
            <a:alphaModFix/>
          </a:blip>
          <a:srcRect b="0" l="0" r="0" t="0"/>
          <a:stretch/>
        </p:blipFill>
        <p:spPr>
          <a:xfrm>
            <a:off x="8777511" y="3741830"/>
            <a:ext cx="2456130" cy="939469"/>
          </a:xfrm>
          <a:prstGeom prst="rect">
            <a:avLst/>
          </a:prstGeom>
          <a:noFill/>
          <a:ln>
            <a:noFill/>
          </a:ln>
        </p:spPr>
      </p:pic>
      <p:pic>
        <p:nvPicPr>
          <p:cNvPr id="279" name="Google Shape;279;p16"/>
          <p:cNvPicPr preferRelativeResize="0"/>
          <p:nvPr/>
        </p:nvPicPr>
        <p:blipFill rotWithShape="1">
          <a:blip r:embed="rId11">
            <a:alphaModFix/>
          </a:blip>
          <a:srcRect b="0" l="0" r="0" t="0"/>
          <a:stretch/>
        </p:blipFill>
        <p:spPr>
          <a:xfrm>
            <a:off x="3522991" y="1252597"/>
            <a:ext cx="1574390" cy="1548997"/>
          </a:xfrm>
          <a:prstGeom prst="rect">
            <a:avLst/>
          </a:prstGeom>
          <a:noFill/>
          <a:ln>
            <a:noFill/>
          </a:ln>
        </p:spPr>
      </p:pic>
      <p:sp>
        <p:nvSpPr>
          <p:cNvPr id="280" name="Google Shape;280;p16"/>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Informatics Specialty Societies</a:t>
            </a:r>
            <a:endParaRPr/>
          </a:p>
        </p:txBody>
      </p:sp>
      <p:pic>
        <p:nvPicPr>
          <p:cNvPr id="281" name="Google Shape;281;p16"/>
          <p:cNvPicPr preferRelativeResize="0"/>
          <p:nvPr/>
        </p:nvPicPr>
        <p:blipFill rotWithShape="1">
          <a:blip r:embed="rId12">
            <a:alphaModFix/>
          </a:blip>
          <a:srcRect b="0" l="0" r="0" t="0"/>
          <a:stretch/>
        </p:blipFill>
        <p:spPr>
          <a:xfrm>
            <a:off x="6123211" y="2105593"/>
            <a:ext cx="2654300" cy="1257300"/>
          </a:xfrm>
          <a:prstGeom prst="rect">
            <a:avLst/>
          </a:prstGeom>
          <a:noFill/>
          <a:ln>
            <a:noFill/>
          </a:ln>
        </p:spPr>
      </p:pic>
      <p:pic>
        <p:nvPicPr>
          <p:cNvPr id="282" name="Google Shape;282;p16"/>
          <p:cNvPicPr preferRelativeResize="0"/>
          <p:nvPr/>
        </p:nvPicPr>
        <p:blipFill rotWithShape="1">
          <a:blip r:embed="rId13">
            <a:alphaModFix/>
          </a:blip>
          <a:srcRect b="0" l="0" r="0" t="0"/>
          <a:stretch/>
        </p:blipFill>
        <p:spPr>
          <a:xfrm>
            <a:off x="4743575" y="2579717"/>
            <a:ext cx="1350056" cy="802736"/>
          </a:xfrm>
          <a:prstGeom prst="rect">
            <a:avLst/>
          </a:prstGeom>
          <a:noFill/>
          <a:ln>
            <a:noFill/>
          </a:ln>
        </p:spPr>
      </p:pic>
      <p:pic>
        <p:nvPicPr>
          <p:cNvPr id="283" name="Google Shape;283;p16"/>
          <p:cNvPicPr preferRelativeResize="0"/>
          <p:nvPr/>
        </p:nvPicPr>
        <p:blipFill rotWithShape="1">
          <a:blip r:embed="rId14">
            <a:alphaModFix/>
          </a:blip>
          <a:srcRect b="0" l="0" r="0" t="0"/>
          <a:stretch/>
        </p:blipFill>
        <p:spPr>
          <a:xfrm>
            <a:off x="1151489" y="4877317"/>
            <a:ext cx="2362200" cy="1320800"/>
          </a:xfrm>
          <a:prstGeom prst="rect">
            <a:avLst/>
          </a:prstGeom>
          <a:noFill/>
          <a:ln>
            <a:noFill/>
          </a:ln>
        </p:spPr>
      </p:pic>
      <p:pic>
        <p:nvPicPr>
          <p:cNvPr id="284" name="Google Shape;284;p16"/>
          <p:cNvPicPr preferRelativeResize="0"/>
          <p:nvPr/>
        </p:nvPicPr>
        <p:blipFill rotWithShape="1">
          <a:blip r:embed="rId15">
            <a:alphaModFix/>
          </a:blip>
          <a:srcRect b="0" l="0" r="0" t="0"/>
          <a:stretch/>
        </p:blipFill>
        <p:spPr>
          <a:xfrm>
            <a:off x="9334938" y="407913"/>
            <a:ext cx="2480155" cy="820285"/>
          </a:xfrm>
          <a:prstGeom prst="rect">
            <a:avLst/>
          </a:prstGeom>
          <a:noFill/>
          <a:ln>
            <a:noFill/>
          </a:ln>
        </p:spPr>
      </p:pic>
      <p:pic>
        <p:nvPicPr>
          <p:cNvPr id="285" name="Google Shape;285;p16"/>
          <p:cNvPicPr preferRelativeResize="0"/>
          <p:nvPr/>
        </p:nvPicPr>
        <p:blipFill rotWithShape="1">
          <a:blip r:embed="rId16">
            <a:alphaModFix/>
          </a:blip>
          <a:srcRect b="0" l="0" r="0" t="0"/>
          <a:stretch/>
        </p:blipFill>
        <p:spPr>
          <a:xfrm>
            <a:off x="3236997" y="3028326"/>
            <a:ext cx="1189669" cy="1129323"/>
          </a:xfrm>
          <a:prstGeom prst="rect">
            <a:avLst/>
          </a:prstGeom>
          <a:noFill/>
          <a:ln>
            <a:noFill/>
          </a:ln>
        </p:spPr>
      </p:pic>
      <p:pic>
        <p:nvPicPr>
          <p:cNvPr id="286" name="Google Shape;286;p16"/>
          <p:cNvPicPr preferRelativeResize="0"/>
          <p:nvPr/>
        </p:nvPicPr>
        <p:blipFill rotWithShape="1">
          <a:blip r:embed="rId17">
            <a:alphaModFix/>
          </a:blip>
          <a:srcRect b="0" l="0" r="0" t="0"/>
          <a:stretch/>
        </p:blipFill>
        <p:spPr>
          <a:xfrm>
            <a:off x="5801989" y="962528"/>
            <a:ext cx="3314700" cy="1041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descr="A vertical 'RADIOLOGY' text on the left. It includes blue icons representing a person getting an X-ray, an MRI scanner, and abstract hexagonal patterns symbolizing informatics. On the right side, there's a photo of a person holding and examining two X-ray films." id="292" name="Google Shape;292;p43"/>
          <p:cNvSpPr txBox="1"/>
          <p:nvPr>
            <p:ph idx="4294967295" type="title"/>
          </p:nvPr>
        </p:nvSpPr>
        <p:spPr>
          <a:xfrm>
            <a:off x="284480" y="247842"/>
            <a:ext cx="8421370"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50000"/>
              <a:buNone/>
            </a:pPr>
            <a:r>
              <a:rPr lang="en-US"/>
              <a:t>Where Imaging Informatics Began</a:t>
            </a:r>
            <a:endParaRPr/>
          </a:p>
        </p:txBody>
      </p:sp>
      <p:pic>
        <p:nvPicPr>
          <p:cNvPr descr="A picture containing symbol, design&#10;&#10;Description automatically generated" id="293" name="Google Shape;293;p43"/>
          <p:cNvPicPr preferRelativeResize="0"/>
          <p:nvPr/>
        </p:nvPicPr>
        <p:blipFill rotWithShape="1">
          <a:blip r:embed="rId3">
            <a:alphaModFix/>
          </a:blip>
          <a:srcRect b="0" l="0" r="0" t="0"/>
          <a:stretch/>
        </p:blipFill>
        <p:spPr>
          <a:xfrm>
            <a:off x="2748642" y="1524000"/>
            <a:ext cx="1905000" cy="1905000"/>
          </a:xfrm>
          <a:prstGeom prst="rect">
            <a:avLst/>
          </a:prstGeom>
          <a:noFill/>
          <a:ln>
            <a:noFill/>
          </a:ln>
        </p:spPr>
      </p:pic>
      <p:pic>
        <p:nvPicPr>
          <p:cNvPr descr="A blue line drawing of a machine&#10;&#10;Description automatically generated with low confidence" id="294" name="Google Shape;294;p43"/>
          <p:cNvPicPr preferRelativeResize="0"/>
          <p:nvPr/>
        </p:nvPicPr>
        <p:blipFill rotWithShape="1">
          <a:blip r:embed="rId4">
            <a:alphaModFix/>
          </a:blip>
          <a:srcRect b="0" l="0" r="0" t="0"/>
          <a:stretch/>
        </p:blipFill>
        <p:spPr>
          <a:xfrm>
            <a:off x="5143500" y="1524000"/>
            <a:ext cx="1905000" cy="1905000"/>
          </a:xfrm>
          <a:prstGeom prst="rect">
            <a:avLst/>
          </a:prstGeom>
          <a:noFill/>
          <a:ln>
            <a:noFill/>
          </a:ln>
        </p:spPr>
      </p:pic>
      <p:pic>
        <p:nvPicPr>
          <p:cNvPr descr="A blue outline of a machine&#10;&#10;Description automatically generated with medium confidence" id="295" name="Google Shape;295;p43"/>
          <p:cNvPicPr preferRelativeResize="0"/>
          <p:nvPr/>
        </p:nvPicPr>
        <p:blipFill rotWithShape="1">
          <a:blip r:embed="rId5">
            <a:alphaModFix/>
          </a:blip>
          <a:srcRect b="0" l="0" r="0" t="0"/>
          <a:stretch/>
        </p:blipFill>
        <p:spPr>
          <a:xfrm>
            <a:off x="2748642" y="3860523"/>
            <a:ext cx="1905000" cy="1905000"/>
          </a:xfrm>
          <a:prstGeom prst="rect">
            <a:avLst/>
          </a:prstGeom>
          <a:noFill/>
          <a:ln>
            <a:noFill/>
          </a:ln>
        </p:spPr>
      </p:pic>
      <p:pic>
        <p:nvPicPr>
          <p:cNvPr descr="A blue hexagons on a black background&#10;&#10;Description automatically generated with medium confidence" id="296" name="Google Shape;296;p43"/>
          <p:cNvPicPr preferRelativeResize="0"/>
          <p:nvPr/>
        </p:nvPicPr>
        <p:blipFill rotWithShape="1">
          <a:blip r:embed="rId6">
            <a:alphaModFix/>
          </a:blip>
          <a:srcRect b="0" l="0" r="0" t="0"/>
          <a:stretch/>
        </p:blipFill>
        <p:spPr>
          <a:xfrm>
            <a:off x="5143500" y="3860523"/>
            <a:ext cx="1905000" cy="1905000"/>
          </a:xfrm>
          <a:prstGeom prst="rect">
            <a:avLst/>
          </a:prstGeom>
          <a:noFill/>
          <a:ln>
            <a:noFill/>
          </a:ln>
        </p:spPr>
      </p:pic>
      <p:sp>
        <p:nvSpPr>
          <p:cNvPr id="297" name="Google Shape;297;p43"/>
          <p:cNvSpPr txBox="1"/>
          <p:nvPr/>
        </p:nvSpPr>
        <p:spPr>
          <a:xfrm>
            <a:off x="856343" y="1277192"/>
            <a:ext cx="944105" cy="46189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5"/>
                </a:solidFill>
                <a:latin typeface="Arial Black"/>
                <a:ea typeface="Arial Black"/>
                <a:cs typeface="Arial Black"/>
                <a:sym typeface="Arial Black"/>
              </a:rPr>
              <a:t>RADIOLOGY</a:t>
            </a:r>
            <a:endParaRPr b="0" i="0" sz="1400" u="none" cap="none" strike="noStrike">
              <a:solidFill>
                <a:srgbClr val="000000"/>
              </a:solidFill>
              <a:latin typeface="Arial"/>
              <a:ea typeface="Arial"/>
              <a:cs typeface="Arial"/>
              <a:sym typeface="Arial"/>
            </a:endParaRPr>
          </a:p>
        </p:txBody>
      </p:sp>
      <p:pic>
        <p:nvPicPr>
          <p:cNvPr descr="A person looking at an x-ray&#10;&#10;Description automatically generated" id="298" name="Google Shape;298;p43"/>
          <p:cNvPicPr preferRelativeResize="0"/>
          <p:nvPr/>
        </p:nvPicPr>
        <p:blipFill rotWithShape="1">
          <a:blip r:embed="rId7">
            <a:alphaModFix/>
          </a:blip>
          <a:srcRect b="14358" l="0" r="26724" t="0"/>
          <a:stretch/>
        </p:blipFill>
        <p:spPr>
          <a:xfrm>
            <a:off x="7570832" y="2902857"/>
            <a:ext cx="4126049" cy="32189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par>
                                <p:cTn fill="hold" nodeType="withEffect" presetClass="entr" presetID="1" presetSubtype="0">
                                  <p:stCondLst>
                                    <p:cond delay="1000"/>
                                  </p:stCondLst>
                                  <p:childTnLst>
                                    <p:set>
                                      <p:cBhvr>
                                        <p:cTn dur="1" fill="hold">
                                          <p:stCondLst>
                                            <p:cond delay="0"/>
                                          </p:stCondLst>
                                        </p:cTn>
                                        <p:tgtEl>
                                          <p:spTgt spid="293"/>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1000"/>
                                  </p:stCondLst>
                                  <p:childTnLst>
                                    <p:set>
                                      <p:cBhvr>
                                        <p:cTn dur="1" fill="hold">
                                          <p:stCondLst>
                                            <p:cond delay="0"/>
                                          </p:stCondLst>
                                        </p:cTn>
                                        <p:tgtEl>
                                          <p:spTgt spid="294"/>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1000"/>
                                  </p:stCondLst>
                                  <p:childTnLst>
                                    <p:set>
                                      <p:cBhvr>
                                        <p:cTn dur="1" fill="hold">
                                          <p:stCondLst>
                                            <p:cond delay="0"/>
                                          </p:stCondLst>
                                        </p:cTn>
                                        <p:tgtEl>
                                          <p:spTgt spid="295"/>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100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7"/>
          <p:cNvSpPr txBox="1"/>
          <p:nvPr>
            <p:ph idx="1" type="body"/>
          </p:nvPr>
        </p:nvSpPr>
        <p:spPr>
          <a:xfrm>
            <a:off x="284480" y="1180828"/>
            <a:ext cx="5811520" cy="508662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2"/>
              </a:buClr>
              <a:buSzPts val="2800"/>
              <a:buFont typeface="Arial"/>
              <a:buNone/>
            </a:pPr>
            <a:r>
              <a:rPr lang="en-US"/>
              <a:t>Godfrey Hounsfield, EMI Central Research Labs</a:t>
            </a:r>
            <a:endParaRPr/>
          </a:p>
        </p:txBody>
      </p:sp>
      <p:sp>
        <p:nvSpPr>
          <p:cNvPr id="305" name="Google Shape;305;p17"/>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2"/>
              </a:buClr>
              <a:buSzPts val="2800"/>
              <a:buFont typeface="Arial"/>
              <a:buNone/>
            </a:pPr>
            <a:r>
              <a:rPr lang="en-US"/>
              <a:t>October 1, 1971: Atkinson Morley’s Hospital</a:t>
            </a:r>
            <a:endParaRPr/>
          </a:p>
          <a:p>
            <a:pPr indent="0" lvl="0" marL="0" rtl="0" algn="l">
              <a:lnSpc>
                <a:spcPct val="110000"/>
              </a:lnSpc>
              <a:spcBef>
                <a:spcPts val="1000"/>
              </a:spcBef>
              <a:spcAft>
                <a:spcPts val="0"/>
              </a:spcAft>
              <a:buClr>
                <a:schemeClr val="dk2"/>
              </a:buClr>
              <a:buSzPts val="2800"/>
              <a:buFont typeface="Arial"/>
              <a:buNone/>
            </a:pPr>
            <a:r>
              <a:t/>
            </a:r>
            <a:endParaRPr/>
          </a:p>
          <a:p>
            <a:pPr indent="0" lvl="0" marL="0" rtl="0" algn="l">
              <a:lnSpc>
                <a:spcPct val="110000"/>
              </a:lnSpc>
              <a:spcBef>
                <a:spcPts val="1000"/>
              </a:spcBef>
              <a:spcAft>
                <a:spcPts val="0"/>
              </a:spcAft>
              <a:buClr>
                <a:schemeClr val="dk2"/>
              </a:buClr>
              <a:buSzPts val="2800"/>
              <a:buFont typeface="Arial"/>
              <a:buNone/>
            </a:pPr>
            <a:r>
              <a:t/>
            </a:r>
            <a:endParaRPr/>
          </a:p>
          <a:p>
            <a:pPr indent="0" lvl="0" marL="0" rtl="0" algn="l">
              <a:lnSpc>
                <a:spcPct val="110000"/>
              </a:lnSpc>
              <a:spcBef>
                <a:spcPts val="1000"/>
              </a:spcBef>
              <a:spcAft>
                <a:spcPts val="0"/>
              </a:spcAft>
              <a:buClr>
                <a:schemeClr val="dk2"/>
              </a:buClr>
              <a:buSzPts val="2800"/>
              <a:buFont typeface="Arial"/>
              <a:buNone/>
            </a:pPr>
            <a:r>
              <a:t/>
            </a:r>
            <a:endParaRPr/>
          </a:p>
          <a:p>
            <a:pPr indent="0" lvl="0" marL="0" rtl="0" algn="l">
              <a:lnSpc>
                <a:spcPct val="110000"/>
              </a:lnSpc>
              <a:spcBef>
                <a:spcPts val="1000"/>
              </a:spcBef>
              <a:spcAft>
                <a:spcPts val="0"/>
              </a:spcAft>
              <a:buClr>
                <a:schemeClr val="dk2"/>
              </a:buClr>
              <a:buSzPts val="2800"/>
              <a:buFont typeface="Arial"/>
              <a:buNone/>
            </a:pPr>
            <a:r>
              <a:t/>
            </a:r>
            <a:endParaRPr/>
          </a:p>
          <a:p>
            <a:pPr indent="0" lvl="0" marL="0" rtl="0" algn="l">
              <a:lnSpc>
                <a:spcPct val="110000"/>
              </a:lnSpc>
              <a:spcBef>
                <a:spcPts val="1000"/>
              </a:spcBef>
              <a:spcAft>
                <a:spcPts val="0"/>
              </a:spcAft>
              <a:buClr>
                <a:schemeClr val="dk2"/>
              </a:buClr>
              <a:buSzPts val="2800"/>
              <a:buFont typeface="Arial"/>
              <a:buNone/>
            </a:pPr>
            <a:r>
              <a:t/>
            </a:r>
            <a:endParaRPr/>
          </a:p>
          <a:p>
            <a:pPr indent="0" lvl="0" marL="0" rtl="0" algn="l">
              <a:lnSpc>
                <a:spcPct val="110000"/>
              </a:lnSpc>
              <a:spcBef>
                <a:spcPts val="1000"/>
              </a:spcBef>
              <a:spcAft>
                <a:spcPts val="0"/>
              </a:spcAft>
              <a:buClr>
                <a:schemeClr val="dk2"/>
              </a:buClr>
              <a:buSzPts val="2800"/>
              <a:buFont typeface="Arial"/>
              <a:buNone/>
            </a:pPr>
            <a:r>
              <a:t/>
            </a:r>
            <a:endParaRPr/>
          </a:p>
        </p:txBody>
      </p:sp>
      <p:sp>
        <p:nvSpPr>
          <p:cNvPr id="306" name="Google Shape;306;p17"/>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The First Head CT</a:t>
            </a:r>
            <a:endParaRPr/>
          </a:p>
        </p:txBody>
      </p:sp>
      <p:pic>
        <p:nvPicPr>
          <p:cNvPr descr="Image of xray of brain at Atkinson Morley's Hospital." id="307" name="Google Shape;307;p17"/>
          <p:cNvPicPr preferRelativeResize="0"/>
          <p:nvPr/>
        </p:nvPicPr>
        <p:blipFill rotWithShape="1">
          <a:blip r:embed="rId3">
            <a:alphaModFix/>
          </a:blip>
          <a:srcRect b="0" l="0" r="0" t="0"/>
          <a:stretch/>
        </p:blipFill>
        <p:spPr>
          <a:xfrm>
            <a:off x="7751014" y="2483210"/>
            <a:ext cx="2635981" cy="3193962"/>
          </a:xfrm>
          <a:prstGeom prst="rect">
            <a:avLst/>
          </a:prstGeom>
          <a:noFill/>
          <a:ln>
            <a:noFill/>
          </a:ln>
        </p:spPr>
      </p:pic>
      <p:pic>
        <p:nvPicPr>
          <p:cNvPr descr="Image of an old xray machine by EMI" id="308" name="Google Shape;308;p17"/>
          <p:cNvPicPr preferRelativeResize="0"/>
          <p:nvPr/>
        </p:nvPicPr>
        <p:blipFill rotWithShape="1">
          <a:blip r:embed="rId4">
            <a:alphaModFix/>
          </a:blip>
          <a:srcRect b="81" l="0" r="0" t="-765"/>
          <a:stretch/>
        </p:blipFill>
        <p:spPr>
          <a:xfrm>
            <a:off x="1508684" y="2569960"/>
            <a:ext cx="4114800" cy="3107212"/>
          </a:xfrm>
          <a:prstGeom prst="rect">
            <a:avLst/>
          </a:prstGeom>
          <a:noFill/>
          <a:ln>
            <a:noFill/>
          </a:ln>
        </p:spPr>
      </p:pic>
      <p:sp>
        <p:nvSpPr>
          <p:cNvPr id="309" name="Google Shape;309;p17"/>
          <p:cNvSpPr/>
          <p:nvPr/>
        </p:nvSpPr>
        <p:spPr>
          <a:xfrm>
            <a:off x="6824532" y="5864594"/>
            <a:ext cx="4488944"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http://www.impactscan.org/CThistory.htm</a:t>
            </a:r>
            <a:endParaRPr b="0" i="0" sz="1400" u="none" cap="none" strike="noStrike">
              <a:solidFill>
                <a:schemeClr val="dk1"/>
              </a:solidFill>
              <a:latin typeface="Arial"/>
              <a:ea typeface="Arial"/>
              <a:cs typeface="Arial"/>
              <a:sym typeface="Arial"/>
            </a:endParaRPr>
          </a:p>
        </p:txBody>
      </p:sp>
      <p:pic>
        <p:nvPicPr>
          <p:cNvPr id="310" name="Google Shape;310;p17"/>
          <p:cNvPicPr preferRelativeResize="0"/>
          <p:nvPr/>
        </p:nvPicPr>
        <p:blipFill rotWithShape="1">
          <a:blip r:embed="rId5">
            <a:alphaModFix/>
          </a:blip>
          <a:srcRect b="0" l="0" r="0" t="0"/>
          <a:stretch/>
        </p:blipFill>
        <p:spPr>
          <a:xfrm>
            <a:off x="409544" y="4578032"/>
            <a:ext cx="1099140" cy="10991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8"/>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Radiology of “Old” (pre-1990s)</a:t>
            </a:r>
            <a:endParaRPr/>
          </a:p>
        </p:txBody>
      </p:sp>
      <p:sp>
        <p:nvSpPr>
          <p:cNvPr id="317" name="Google Shape;317;p18"/>
          <p:cNvSpPr/>
          <p:nvPr/>
        </p:nvSpPr>
        <p:spPr>
          <a:xfrm>
            <a:off x="4471033" y="5961426"/>
            <a:ext cx="3249932"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http://mexindia.tradeindia.com</a:t>
            </a:r>
            <a:endParaRPr b="0" i="0" sz="1400" u="none" cap="none" strike="noStrike">
              <a:solidFill>
                <a:schemeClr val="dk1"/>
              </a:solidFill>
              <a:latin typeface="Arial"/>
              <a:ea typeface="Arial"/>
              <a:cs typeface="Arial"/>
              <a:sym typeface="Arial"/>
            </a:endParaRPr>
          </a:p>
        </p:txBody>
      </p:sp>
      <p:pic>
        <p:nvPicPr>
          <p:cNvPr descr="An image of a Xray film viewer and two doctors looking at different xrays." id="318" name="Google Shape;318;p18"/>
          <p:cNvPicPr preferRelativeResize="0"/>
          <p:nvPr/>
        </p:nvPicPr>
        <p:blipFill rotWithShape="1">
          <a:blip r:embed="rId3">
            <a:alphaModFix/>
          </a:blip>
          <a:srcRect b="16659" l="0" r="0" t="13174"/>
          <a:stretch/>
        </p:blipFill>
        <p:spPr>
          <a:xfrm>
            <a:off x="2677902" y="1079132"/>
            <a:ext cx="6836195" cy="479656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9"/>
          <p:cNvSpPr txBox="1"/>
          <p:nvPr>
            <p:ph idx="4294967295" type="title"/>
          </p:nvPr>
        </p:nvSpPr>
        <p:spPr>
          <a:xfrm>
            <a:off x="284480" y="247842"/>
            <a:ext cx="5735320"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Before PACS</a:t>
            </a:r>
            <a:endParaRPr/>
          </a:p>
        </p:txBody>
      </p:sp>
      <p:sp>
        <p:nvSpPr>
          <p:cNvPr id="324" name="Google Shape;324;p19"/>
          <p:cNvSpPr txBox="1"/>
          <p:nvPr>
            <p:ph idx="4294967295" type="body"/>
          </p:nvPr>
        </p:nvSpPr>
        <p:spPr>
          <a:xfrm>
            <a:off x="284479" y="1221919"/>
            <a:ext cx="5735321" cy="493177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0000"/>
              </a:lnSpc>
              <a:spcBef>
                <a:spcPts val="0"/>
              </a:spcBef>
              <a:spcAft>
                <a:spcPts val="0"/>
              </a:spcAft>
              <a:buClr>
                <a:schemeClr val="dk2"/>
              </a:buClr>
              <a:buSzPts val="2800"/>
              <a:buFont typeface="Arial"/>
              <a:buNone/>
            </a:pPr>
            <a:r>
              <a:rPr lang="en-US"/>
              <a:t>PACS = picture archiving and communication system</a:t>
            </a:r>
            <a:endParaRPr/>
          </a:p>
          <a:p>
            <a:pPr indent="0" lvl="0" marL="0" rtl="0" algn="l">
              <a:lnSpc>
                <a:spcPct val="110000"/>
              </a:lnSpc>
              <a:spcBef>
                <a:spcPts val="1000"/>
              </a:spcBef>
              <a:spcAft>
                <a:spcPts val="0"/>
              </a:spcAft>
              <a:buClr>
                <a:schemeClr val="dk2"/>
              </a:buClr>
              <a:buSzPts val="2800"/>
              <a:buFont typeface="Arial"/>
              <a:buNone/>
            </a:pPr>
            <a:r>
              <a:rPr lang="en-US"/>
              <a:t>Before PACS, radiology was entirely film-based</a:t>
            </a:r>
            <a:endParaRPr/>
          </a:p>
          <a:p>
            <a:pPr indent="-228600" lvl="1" marL="274320" rtl="0" algn="l">
              <a:lnSpc>
                <a:spcPct val="110000"/>
              </a:lnSpc>
              <a:spcBef>
                <a:spcPts val="500"/>
              </a:spcBef>
              <a:spcAft>
                <a:spcPts val="0"/>
              </a:spcAft>
              <a:buClr>
                <a:schemeClr val="dk2"/>
              </a:buClr>
              <a:buSzPts val="2040"/>
              <a:buChar char="•"/>
            </a:pPr>
            <a:r>
              <a:rPr b="1" lang="en-US"/>
              <a:t>Slow</a:t>
            </a:r>
            <a:r>
              <a:rPr lang="en-US"/>
              <a:t> image acquisition &amp; film post-processing</a:t>
            </a:r>
            <a:endParaRPr/>
          </a:p>
          <a:p>
            <a:pPr indent="-228600" lvl="1" marL="274320" rtl="0" algn="l">
              <a:lnSpc>
                <a:spcPct val="110000"/>
              </a:lnSpc>
              <a:spcBef>
                <a:spcPts val="500"/>
              </a:spcBef>
              <a:spcAft>
                <a:spcPts val="0"/>
              </a:spcAft>
              <a:buClr>
                <a:schemeClr val="dk2"/>
              </a:buClr>
              <a:buSzPts val="2040"/>
              <a:buChar char="•"/>
            </a:pPr>
            <a:r>
              <a:rPr lang="en-US"/>
              <a:t>Fewer imaging studies each day</a:t>
            </a:r>
            <a:endParaRPr/>
          </a:p>
          <a:p>
            <a:pPr indent="-228600" lvl="1" marL="274320" rtl="0" algn="l">
              <a:lnSpc>
                <a:spcPct val="110000"/>
              </a:lnSpc>
              <a:spcBef>
                <a:spcPts val="500"/>
              </a:spcBef>
              <a:spcAft>
                <a:spcPts val="0"/>
              </a:spcAft>
              <a:buClr>
                <a:schemeClr val="dk2"/>
              </a:buClr>
              <a:buSzPts val="2040"/>
              <a:buChar char="•"/>
            </a:pPr>
            <a:r>
              <a:rPr lang="en-US"/>
              <a:t>Films hung up before for review by radiologist</a:t>
            </a:r>
            <a:endParaRPr/>
          </a:p>
          <a:p>
            <a:pPr indent="-228600" lvl="1" marL="274320" rtl="0" algn="l">
              <a:lnSpc>
                <a:spcPct val="110000"/>
              </a:lnSpc>
              <a:spcBef>
                <a:spcPts val="500"/>
              </a:spcBef>
              <a:spcAft>
                <a:spcPts val="0"/>
              </a:spcAft>
              <a:buClr>
                <a:schemeClr val="dk2"/>
              </a:buClr>
              <a:buSzPts val="2040"/>
              <a:buChar char="•"/>
            </a:pPr>
            <a:r>
              <a:rPr lang="en-US"/>
              <a:t>Reports handwritten or tape-recorded 🡪 transcriptionist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20"/>
          <p:cNvPicPr preferRelativeResize="0"/>
          <p:nvPr/>
        </p:nvPicPr>
        <p:blipFill rotWithShape="1">
          <a:blip r:embed="rId3">
            <a:alphaModFix/>
          </a:blip>
          <a:srcRect b="0" l="0" r="0" t="0"/>
          <a:stretch/>
        </p:blipFill>
        <p:spPr>
          <a:xfrm>
            <a:off x="1486744" y="5751922"/>
            <a:ext cx="9226296" cy="493479"/>
          </a:xfrm>
          <a:prstGeom prst="rect">
            <a:avLst/>
          </a:prstGeom>
          <a:noFill/>
          <a:ln>
            <a:noFill/>
          </a:ln>
        </p:spPr>
      </p:pic>
      <p:sp>
        <p:nvSpPr>
          <p:cNvPr id="330" name="Google Shape;330;p20"/>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PACS </a:t>
            </a:r>
            <a:r>
              <a:rPr i="1" lang="en-US"/>
              <a:t>in utero</a:t>
            </a:r>
            <a:endParaRPr/>
          </a:p>
        </p:txBody>
      </p:sp>
      <p:pic>
        <p:nvPicPr>
          <p:cNvPr descr="A scientific paper's header, titled 'PACS in utero', detailing the application of image processing to cranial CT scans. The authors are associated with the COMPACT Project Group at Technische Universität Berlin." id="331" name="Google Shape;331;p20"/>
          <p:cNvPicPr preferRelativeResize="0"/>
          <p:nvPr>
            <p:ph idx="1" type="body"/>
          </p:nvPr>
        </p:nvPicPr>
        <p:blipFill rotWithShape="1">
          <a:blip r:embed="rId4">
            <a:alphaModFix/>
          </a:blip>
          <a:srcRect b="0" l="0" r="0" t="0"/>
          <a:stretch/>
        </p:blipFill>
        <p:spPr>
          <a:xfrm>
            <a:off x="1486744" y="984241"/>
            <a:ext cx="9229624" cy="5003800"/>
          </a:xfrm>
          <a:prstGeom prst="rect">
            <a:avLst/>
          </a:prstGeom>
          <a:noFill/>
          <a:ln>
            <a:noFill/>
          </a:ln>
        </p:spPr>
      </p:pic>
      <p:sp>
        <p:nvSpPr>
          <p:cNvPr id="332" name="Google Shape;332;p20"/>
          <p:cNvSpPr/>
          <p:nvPr/>
        </p:nvSpPr>
        <p:spPr>
          <a:xfrm>
            <a:off x="1705931" y="5194042"/>
            <a:ext cx="4252909" cy="357200"/>
          </a:xfrm>
          <a:prstGeom prst="roundRect">
            <a:avLst>
              <a:gd fmla="val 16667" name="adj"/>
            </a:avLst>
          </a:prstGeom>
          <a:no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rgbClr val="FFFFFF"/>
              </a:solidFill>
              <a:latin typeface="Quattrocento Sans"/>
              <a:ea typeface="Quattrocento Sans"/>
              <a:cs typeface="Quattrocento Sans"/>
              <a:sym typeface="Quattrocento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1"/>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1982: PACS is Born</a:t>
            </a:r>
            <a:endParaRPr/>
          </a:p>
        </p:txBody>
      </p:sp>
      <p:sp>
        <p:nvSpPr>
          <p:cNvPr id="339" name="Google Shape;339;p21"/>
          <p:cNvSpPr txBox="1"/>
          <p:nvPr>
            <p:ph idx="1" type="body"/>
          </p:nvPr>
        </p:nvSpPr>
        <p:spPr>
          <a:xfrm>
            <a:off x="508000" y="1411553"/>
            <a:ext cx="5486400" cy="5068666"/>
          </a:xfrm>
          <a:prstGeom prst="rect">
            <a:avLst/>
          </a:prstGeom>
          <a:noFill/>
          <a:ln>
            <a:noFill/>
          </a:ln>
        </p:spPr>
        <p:txBody>
          <a:bodyPr anchorCtr="0" anchor="t" bIns="45700" lIns="91425" spcFirstLastPara="1" rIns="91425" wrap="square" tIns="45700">
            <a:normAutofit/>
          </a:bodyPr>
          <a:lstStyle/>
          <a:p>
            <a:pPr indent="-339976" lvl="0" marL="339976" rtl="0" algn="l">
              <a:lnSpc>
                <a:spcPct val="90000"/>
              </a:lnSpc>
              <a:spcBef>
                <a:spcPts val="0"/>
              </a:spcBef>
              <a:spcAft>
                <a:spcPts val="0"/>
              </a:spcAft>
              <a:buClr>
                <a:schemeClr val="dk2"/>
              </a:buClr>
              <a:buSzPts val="2800"/>
              <a:buFont typeface="Arial"/>
              <a:buNone/>
            </a:pPr>
            <a:r>
              <a:rPr lang="en-US" sz="3200"/>
              <a:t>Great deal of research in the 1980s-90s</a:t>
            </a:r>
            <a:endParaRPr sz="3200"/>
          </a:p>
          <a:p>
            <a:pPr indent="-339976" lvl="0" marL="339976" rtl="0" algn="l">
              <a:lnSpc>
                <a:spcPct val="90000"/>
              </a:lnSpc>
              <a:spcBef>
                <a:spcPts val="1000"/>
              </a:spcBef>
              <a:spcAft>
                <a:spcPts val="0"/>
              </a:spcAft>
              <a:buClr>
                <a:schemeClr val="dk2"/>
              </a:buClr>
              <a:buSzPts val="2800"/>
              <a:buFont typeface="Arial"/>
              <a:buNone/>
            </a:pPr>
            <a:r>
              <a:rPr lang="en-US" sz="3200"/>
              <a:t>Considerations of scale</a:t>
            </a:r>
            <a:endParaRPr sz="3200"/>
          </a:p>
          <a:p>
            <a:pPr indent="-325424" lvl="1" marL="673338" rtl="0" algn="l">
              <a:lnSpc>
                <a:spcPct val="90000"/>
              </a:lnSpc>
              <a:spcBef>
                <a:spcPts val="500"/>
              </a:spcBef>
              <a:spcAft>
                <a:spcPts val="0"/>
              </a:spcAft>
              <a:buClr>
                <a:schemeClr val="dk2"/>
              </a:buClr>
              <a:buSzPts val="2040"/>
              <a:buChar char="•"/>
            </a:pPr>
            <a:r>
              <a:rPr lang="en-US" sz="2800"/>
              <a:t>Workstations</a:t>
            </a:r>
            <a:endParaRPr sz="2800"/>
          </a:p>
          <a:p>
            <a:pPr indent="-325424" lvl="1" marL="673338" rtl="0" algn="l">
              <a:lnSpc>
                <a:spcPct val="90000"/>
              </a:lnSpc>
              <a:spcBef>
                <a:spcPts val="500"/>
              </a:spcBef>
              <a:spcAft>
                <a:spcPts val="0"/>
              </a:spcAft>
              <a:buClr>
                <a:schemeClr val="dk2"/>
              </a:buClr>
              <a:buSzPts val="2040"/>
              <a:buChar char="•"/>
            </a:pPr>
            <a:r>
              <a:rPr lang="en-US" sz="2800"/>
              <a:t>Networking</a:t>
            </a:r>
            <a:endParaRPr sz="2800"/>
          </a:p>
          <a:p>
            <a:pPr indent="-325424" lvl="1" marL="673338" rtl="0" algn="l">
              <a:lnSpc>
                <a:spcPct val="90000"/>
              </a:lnSpc>
              <a:spcBef>
                <a:spcPts val="500"/>
              </a:spcBef>
              <a:spcAft>
                <a:spcPts val="0"/>
              </a:spcAft>
              <a:buClr>
                <a:schemeClr val="dk2"/>
              </a:buClr>
              <a:buSzPts val="2040"/>
              <a:buChar char="•"/>
            </a:pPr>
            <a:r>
              <a:rPr lang="en-US" sz="2800"/>
              <a:t>Storage</a:t>
            </a:r>
            <a:endParaRPr sz="2800"/>
          </a:p>
          <a:p>
            <a:pPr indent="-339976" lvl="0" marL="339976" rtl="0" algn="l">
              <a:lnSpc>
                <a:spcPct val="90000"/>
              </a:lnSpc>
              <a:spcBef>
                <a:spcPts val="1000"/>
              </a:spcBef>
              <a:spcAft>
                <a:spcPts val="0"/>
              </a:spcAft>
              <a:buClr>
                <a:schemeClr val="dk2"/>
              </a:buClr>
              <a:buSzPts val="2800"/>
              <a:buFont typeface="Arial"/>
              <a:buNone/>
            </a:pPr>
            <a:r>
              <a:rPr lang="en-US" sz="3200"/>
              <a:t>Considerations of cost</a:t>
            </a:r>
            <a:endParaRPr sz="3200"/>
          </a:p>
          <a:p>
            <a:pPr indent="-325424" lvl="1" marL="673338" rtl="0" algn="l">
              <a:lnSpc>
                <a:spcPct val="90000"/>
              </a:lnSpc>
              <a:spcBef>
                <a:spcPts val="500"/>
              </a:spcBef>
              <a:spcAft>
                <a:spcPts val="0"/>
              </a:spcAft>
              <a:buClr>
                <a:schemeClr val="dk2"/>
              </a:buClr>
              <a:buSzPts val="2040"/>
              <a:buChar char="•"/>
            </a:pPr>
            <a:r>
              <a:rPr lang="en-US" sz="2800"/>
              <a:t>Save money? Replace film entirely?</a:t>
            </a:r>
            <a:endParaRPr sz="2800"/>
          </a:p>
        </p:txBody>
      </p:sp>
      <p:pic>
        <p:nvPicPr>
          <p:cNvPr descr="A picture showing two abdomen X-rays and a computer with some data." id="340" name="Google Shape;340;p21"/>
          <p:cNvPicPr preferRelativeResize="0"/>
          <p:nvPr>
            <p:ph idx="2" type="body"/>
          </p:nvPr>
        </p:nvPicPr>
        <p:blipFill rotWithShape="1">
          <a:blip r:embed="rId3">
            <a:alphaModFix/>
          </a:blip>
          <a:srcRect b="0" l="0" r="0" t="0"/>
          <a:stretch/>
        </p:blipFill>
        <p:spPr>
          <a:xfrm>
            <a:off x="6197600" y="1371600"/>
            <a:ext cx="5486400" cy="4114800"/>
          </a:xfrm>
          <a:prstGeom prst="rect">
            <a:avLst/>
          </a:prstGeom>
          <a:noFill/>
          <a:ln>
            <a:noFill/>
          </a:ln>
        </p:spPr>
      </p:pic>
      <p:sp>
        <p:nvSpPr>
          <p:cNvPr id="341" name="Google Shape;341;p21"/>
          <p:cNvSpPr/>
          <p:nvPr/>
        </p:nvSpPr>
        <p:spPr>
          <a:xfrm>
            <a:off x="4963159" y="5719591"/>
            <a:ext cx="6720841" cy="30773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H.K. Huang / European Journal of Radiology 78 (2011) 163–176</a:t>
            </a:r>
            <a:endParaRPr b="0" i="0" sz="1400" u="none" cap="none" strike="noStrike">
              <a:solidFill>
                <a:schemeClr val="dk1"/>
              </a:solidFill>
              <a:latin typeface="Arial"/>
              <a:ea typeface="Arial"/>
              <a:cs typeface="Arial"/>
              <a:sym typeface="Arial"/>
            </a:endParaRPr>
          </a:p>
        </p:txBody>
      </p:sp>
      <p:sp>
        <p:nvSpPr>
          <p:cNvPr id="342" name="Google Shape;342;p21"/>
          <p:cNvSpPr txBox="1"/>
          <p:nvPr/>
        </p:nvSpPr>
        <p:spPr>
          <a:xfrm>
            <a:off x="4600183" y="6898056"/>
            <a:ext cx="54864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chemeClr val="dk1"/>
                </a:solidFill>
                <a:latin typeface="Arial"/>
                <a:ea typeface="Arial"/>
                <a:cs typeface="Arial"/>
                <a:sym typeface="Arial"/>
                <a:hlinkClick r:id="rId4">
                  <a:extLst>
                    <a:ext uri="{A12FA001-AC4F-418D-AE19-62706E023703}">
                      <ahyp:hlinkClr val="tx"/>
                    </a:ext>
                  </a:extLst>
                </a:hlinkClick>
              </a:rPr>
              <a:t>This Photo</a:t>
            </a:r>
            <a:r>
              <a:rPr b="0" i="0" lang="en-US" sz="900" u="none" cap="none" strike="noStrike">
                <a:solidFill>
                  <a:schemeClr val="dk1"/>
                </a:solidFill>
                <a:latin typeface="Arial"/>
                <a:ea typeface="Arial"/>
                <a:cs typeface="Arial"/>
                <a:sym typeface="Arial"/>
              </a:rPr>
              <a:t> by Unknown Author is licensed under </a:t>
            </a:r>
            <a:r>
              <a:rPr b="0" i="0" lang="en-US" sz="900" u="sng" cap="none" strike="noStrike">
                <a:solidFill>
                  <a:schemeClr val="dk1"/>
                </a:solidFill>
                <a:latin typeface="Arial"/>
                <a:ea typeface="Arial"/>
                <a:cs typeface="Arial"/>
                <a:sym typeface="Arial"/>
                <a:hlinkClick r:id="rId5">
                  <a:extLst>
                    <a:ext uri="{A12FA001-AC4F-418D-AE19-62706E023703}">
                      <ahyp:hlinkClr val="tx"/>
                    </a:ext>
                  </a:extLst>
                </a:hlinkClick>
              </a:rPr>
              <a:t>CC BY-SA-NC</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2"/>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The Finances Were Problematic</a:t>
            </a:r>
            <a:endParaRPr/>
          </a:p>
        </p:txBody>
      </p:sp>
      <p:sp>
        <p:nvSpPr>
          <p:cNvPr id="349" name="Google Shape;349;p22"/>
          <p:cNvSpPr txBox="1"/>
          <p:nvPr>
            <p:ph idx="1" type="body"/>
          </p:nvPr>
        </p:nvSpPr>
        <p:spPr>
          <a:xfrm>
            <a:off x="284480" y="1241248"/>
            <a:ext cx="11634776" cy="5003783"/>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2"/>
              </a:buClr>
              <a:buSzPts val="2800"/>
              <a:buFont typeface="Arial"/>
              <a:buNone/>
            </a:pPr>
            <a:r>
              <a:rPr lang="en-US"/>
              <a:t>Cost of a CT scanner in the 1980s:</a:t>
            </a:r>
            <a:endParaRPr/>
          </a:p>
          <a:p>
            <a:pPr indent="0" lvl="0" marL="0" rtl="0" algn="l">
              <a:lnSpc>
                <a:spcPct val="110000"/>
              </a:lnSpc>
              <a:spcBef>
                <a:spcPts val="1000"/>
              </a:spcBef>
              <a:spcAft>
                <a:spcPts val="0"/>
              </a:spcAft>
              <a:buClr>
                <a:schemeClr val="dk2"/>
              </a:buClr>
              <a:buSzPts val="2800"/>
              <a:buFont typeface="Arial"/>
              <a:buNone/>
            </a:pPr>
            <a:r>
              <a:t/>
            </a:r>
            <a:endParaRPr/>
          </a:p>
          <a:p>
            <a:pPr indent="0" lvl="0" marL="0" rtl="0" algn="ctr">
              <a:lnSpc>
                <a:spcPct val="110000"/>
              </a:lnSpc>
              <a:spcBef>
                <a:spcPts val="1000"/>
              </a:spcBef>
              <a:spcAft>
                <a:spcPts val="0"/>
              </a:spcAft>
              <a:buClr>
                <a:schemeClr val="accent1"/>
              </a:buClr>
              <a:buSzPts val="4400"/>
              <a:buFont typeface="Arial"/>
              <a:buNone/>
            </a:pPr>
            <a:r>
              <a:rPr b="1" lang="en-US" sz="4400">
                <a:solidFill>
                  <a:schemeClr val="accent1"/>
                </a:solidFill>
              </a:rPr>
              <a:t>$2,000,000</a:t>
            </a:r>
            <a:endParaRPr/>
          </a:p>
          <a:p>
            <a:pPr indent="0" lvl="0" marL="0" rtl="0" algn="ctr">
              <a:lnSpc>
                <a:spcPct val="110000"/>
              </a:lnSpc>
              <a:spcBef>
                <a:spcPts val="1000"/>
              </a:spcBef>
              <a:spcAft>
                <a:spcPts val="0"/>
              </a:spcAft>
              <a:buClr>
                <a:schemeClr val="dk2"/>
              </a:buClr>
              <a:buSzPts val="2800"/>
              <a:buFont typeface="Arial"/>
              <a:buNone/>
            </a:pPr>
            <a:r>
              <a:t/>
            </a:r>
            <a:endParaRPr/>
          </a:p>
          <a:p>
            <a:pPr indent="0" lvl="0" marL="0" rtl="0" algn="l">
              <a:lnSpc>
                <a:spcPct val="110000"/>
              </a:lnSpc>
              <a:spcBef>
                <a:spcPts val="1000"/>
              </a:spcBef>
              <a:spcAft>
                <a:spcPts val="0"/>
              </a:spcAft>
              <a:buClr>
                <a:schemeClr val="dk2"/>
              </a:buClr>
              <a:buSzPts val="2800"/>
              <a:buFont typeface="Arial"/>
              <a:buNone/>
            </a:pPr>
            <a:r>
              <a:rPr lang="en-US"/>
              <a:t>Cost of a PACS in the 1980s: </a:t>
            </a:r>
            <a:endParaRPr/>
          </a:p>
          <a:p>
            <a:pPr indent="0" lvl="0" marL="0" rtl="0" algn="l">
              <a:lnSpc>
                <a:spcPct val="110000"/>
              </a:lnSpc>
              <a:spcBef>
                <a:spcPts val="1000"/>
              </a:spcBef>
              <a:spcAft>
                <a:spcPts val="0"/>
              </a:spcAft>
              <a:buClr>
                <a:schemeClr val="dk2"/>
              </a:buClr>
              <a:buSzPts val="2800"/>
              <a:buFont typeface="Arial"/>
              <a:buNone/>
            </a:pPr>
            <a:r>
              <a:t/>
            </a:r>
            <a:endParaRPr/>
          </a:p>
          <a:p>
            <a:pPr indent="0" lvl="0" marL="0" rtl="0" algn="ctr">
              <a:lnSpc>
                <a:spcPct val="110000"/>
              </a:lnSpc>
              <a:spcBef>
                <a:spcPts val="1000"/>
              </a:spcBef>
              <a:spcAft>
                <a:spcPts val="0"/>
              </a:spcAft>
              <a:buClr>
                <a:srgbClr val="33CCCC"/>
              </a:buClr>
              <a:buSzPts val="5400"/>
              <a:buFont typeface="Arial"/>
              <a:buNone/>
            </a:pPr>
            <a:r>
              <a:rPr b="1" lang="en-US" sz="5400">
                <a:solidFill>
                  <a:srgbClr val="33CCCC"/>
                </a:solidFill>
              </a:rPr>
              <a:t>$9,200,000</a:t>
            </a:r>
            <a:endParaRPr/>
          </a:p>
          <a:p>
            <a:pPr indent="0" lvl="0" marL="0" rtl="0" algn="l">
              <a:lnSpc>
                <a:spcPct val="110000"/>
              </a:lnSpc>
              <a:spcBef>
                <a:spcPts val="1000"/>
              </a:spcBef>
              <a:spcAft>
                <a:spcPts val="0"/>
              </a:spcAft>
              <a:buClr>
                <a:schemeClr val="dk2"/>
              </a:buClr>
              <a:buSzPts val="2800"/>
              <a:buFont typeface="Arial"/>
              <a:buNone/>
            </a:pPr>
            <a:r>
              <a:t/>
            </a:r>
            <a:endParaRPr>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3"/>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Moore’s Law Helped…A Lot</a:t>
            </a:r>
            <a:endParaRPr/>
          </a:p>
        </p:txBody>
      </p:sp>
      <p:sp>
        <p:nvSpPr>
          <p:cNvPr id="356" name="Google Shape;356;p23"/>
          <p:cNvSpPr txBox="1"/>
          <p:nvPr>
            <p:ph idx="2" type="body"/>
          </p:nvPr>
        </p:nvSpPr>
        <p:spPr>
          <a:xfrm>
            <a:off x="6197600" y="1411553"/>
            <a:ext cx="5486400" cy="5068666"/>
          </a:xfrm>
          <a:prstGeom prst="rect">
            <a:avLst/>
          </a:prstGeom>
          <a:noFill/>
          <a:ln>
            <a:noFill/>
          </a:ln>
        </p:spPr>
        <p:txBody>
          <a:bodyPr anchorCtr="0" anchor="t" bIns="45700" lIns="91425" spcFirstLastPara="1" rIns="91425" wrap="square" tIns="45700">
            <a:normAutofit/>
          </a:bodyPr>
          <a:lstStyle/>
          <a:p>
            <a:pPr indent="-347914" lvl="0" marL="347914" rtl="0" algn="l">
              <a:lnSpc>
                <a:spcPct val="90000"/>
              </a:lnSpc>
              <a:spcBef>
                <a:spcPts val="0"/>
              </a:spcBef>
              <a:spcAft>
                <a:spcPts val="0"/>
              </a:spcAft>
              <a:buClr>
                <a:schemeClr val="dk2"/>
              </a:buClr>
              <a:buSzPts val="3200"/>
              <a:buFont typeface="Arial"/>
              <a:buNone/>
            </a:pPr>
            <a:r>
              <a:rPr lang="en-US" sz="3200"/>
              <a:t>Computer $ ⬇️ 🡪 PACS $ ⬇️</a:t>
            </a:r>
            <a:endParaRPr/>
          </a:p>
          <a:p>
            <a:pPr indent="-347914" lvl="0" marL="347914" rtl="0" algn="l">
              <a:lnSpc>
                <a:spcPct val="90000"/>
              </a:lnSpc>
              <a:spcBef>
                <a:spcPts val="1000"/>
              </a:spcBef>
              <a:spcAft>
                <a:spcPts val="0"/>
              </a:spcAft>
              <a:buClr>
                <a:schemeClr val="dk2"/>
              </a:buClr>
              <a:buSzPts val="3200"/>
              <a:buFont typeface="Arial"/>
              <a:buNone/>
            </a:pPr>
            <a:r>
              <a:t/>
            </a:r>
            <a:endParaRPr sz="3200"/>
          </a:p>
          <a:p>
            <a:pPr indent="-347914" lvl="0" marL="347914" rtl="0" algn="l">
              <a:lnSpc>
                <a:spcPct val="90000"/>
              </a:lnSpc>
              <a:spcBef>
                <a:spcPts val="1000"/>
              </a:spcBef>
              <a:spcAft>
                <a:spcPts val="0"/>
              </a:spcAft>
              <a:buClr>
                <a:schemeClr val="dk2"/>
              </a:buClr>
              <a:buSzPts val="3200"/>
              <a:buFont typeface="Arial"/>
              <a:buNone/>
            </a:pPr>
            <a:r>
              <a:rPr lang="en-US" sz="3200"/>
              <a:t>Storage still $$$</a:t>
            </a:r>
            <a:endParaRPr/>
          </a:p>
          <a:p>
            <a:pPr indent="-347914" lvl="0" marL="347914" rtl="0" algn="l">
              <a:lnSpc>
                <a:spcPct val="90000"/>
              </a:lnSpc>
              <a:spcBef>
                <a:spcPts val="1000"/>
              </a:spcBef>
              <a:spcAft>
                <a:spcPts val="0"/>
              </a:spcAft>
              <a:buClr>
                <a:schemeClr val="dk2"/>
              </a:buClr>
              <a:buSzPts val="3200"/>
              <a:buFont typeface="Arial"/>
              <a:buNone/>
            </a:pPr>
            <a:r>
              <a:t/>
            </a:r>
            <a:endParaRPr sz="3200"/>
          </a:p>
          <a:p>
            <a:pPr indent="-347914" lvl="0" marL="347914" rtl="0" algn="l">
              <a:lnSpc>
                <a:spcPct val="90000"/>
              </a:lnSpc>
              <a:spcBef>
                <a:spcPts val="1000"/>
              </a:spcBef>
              <a:spcAft>
                <a:spcPts val="0"/>
              </a:spcAft>
              <a:buClr>
                <a:schemeClr val="dk2"/>
              </a:buClr>
              <a:buSzPts val="3200"/>
              <a:buFont typeface="Arial"/>
              <a:buNone/>
            </a:pPr>
            <a:r>
              <a:rPr lang="en-US" sz="3200"/>
              <a:t>Rapid introduction of new and better technology 🡪 more PACS</a:t>
            </a:r>
            <a:endParaRPr sz="3200"/>
          </a:p>
        </p:txBody>
      </p:sp>
      <p:pic>
        <p:nvPicPr>
          <p:cNvPr descr="A chart illustrating the exponential growth of computing over 110 years, showing calculations per second per $1000. It includes a logarithmic scale on the y-axis and a timeline from 1900 to 2000 on the x-axis, with technological advancements from electromechanical devices to integrated circuits marked along the growth curve." id="357" name="Google Shape;357;p23"/>
          <p:cNvPicPr preferRelativeResize="0"/>
          <p:nvPr>
            <p:ph idx="1" type="body"/>
          </p:nvPr>
        </p:nvPicPr>
        <p:blipFill rotWithShape="1">
          <a:blip r:embed="rId3">
            <a:alphaModFix/>
          </a:blip>
          <a:srcRect b="0" l="0" r="0" t="0"/>
          <a:stretch/>
        </p:blipFill>
        <p:spPr>
          <a:xfrm>
            <a:off x="508000" y="1411553"/>
            <a:ext cx="5486400" cy="4304547"/>
          </a:xfrm>
          <a:prstGeom prst="rect">
            <a:avLst/>
          </a:prstGeom>
          <a:noFill/>
          <a:ln>
            <a:noFill/>
          </a:ln>
        </p:spPr>
      </p:pic>
      <p:sp>
        <p:nvSpPr>
          <p:cNvPr id="358" name="Google Shape;358;p23"/>
          <p:cNvSpPr txBox="1"/>
          <p:nvPr/>
        </p:nvSpPr>
        <p:spPr>
          <a:xfrm>
            <a:off x="508000" y="6855242"/>
            <a:ext cx="54864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chemeClr val="dk1"/>
                </a:solidFill>
                <a:latin typeface="Arial"/>
                <a:ea typeface="Arial"/>
                <a:cs typeface="Arial"/>
                <a:sym typeface="Arial"/>
                <a:hlinkClick r:id="rId4">
                  <a:extLst>
                    <a:ext uri="{A12FA001-AC4F-418D-AE19-62706E023703}">
                      <ahyp:hlinkClr val="tx"/>
                    </a:ext>
                  </a:extLst>
                </a:hlinkClick>
              </a:rPr>
              <a:t>This Photo</a:t>
            </a:r>
            <a:r>
              <a:rPr b="0" i="0" lang="en-US" sz="900" u="none" cap="none" strike="noStrike">
                <a:solidFill>
                  <a:schemeClr val="dk1"/>
                </a:solidFill>
                <a:latin typeface="Arial"/>
                <a:ea typeface="Arial"/>
                <a:cs typeface="Arial"/>
                <a:sym typeface="Arial"/>
              </a:rPr>
              <a:t> by Unknown Author is licensed under </a:t>
            </a:r>
            <a:r>
              <a:rPr b="0" i="0" lang="en-US" sz="900" u="sng" cap="none" strike="noStrike">
                <a:solidFill>
                  <a:schemeClr val="dk1"/>
                </a:solidFill>
                <a:latin typeface="Arial"/>
                <a:ea typeface="Arial"/>
                <a:cs typeface="Arial"/>
                <a:sym typeface="Arial"/>
                <a:hlinkClick r:id="rId5">
                  <a:extLst>
                    <a:ext uri="{A12FA001-AC4F-418D-AE19-62706E023703}">
                      <ahyp:hlinkClr val="tx"/>
                    </a:ext>
                  </a:extLst>
                </a:hlinkClick>
              </a:rPr>
              <a:t>CC BY</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4"/>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1990s: DICOM</a:t>
            </a:r>
            <a:endParaRPr/>
          </a:p>
        </p:txBody>
      </p:sp>
      <p:sp>
        <p:nvSpPr>
          <p:cNvPr id="365" name="Google Shape;365;p24"/>
          <p:cNvSpPr txBox="1"/>
          <p:nvPr>
            <p:ph idx="1" type="body"/>
          </p:nvPr>
        </p:nvSpPr>
        <p:spPr>
          <a:xfrm>
            <a:off x="508000" y="1411550"/>
            <a:ext cx="5689500" cy="5068800"/>
          </a:xfrm>
          <a:prstGeom prst="rect">
            <a:avLst/>
          </a:prstGeom>
          <a:noFill/>
          <a:ln>
            <a:noFill/>
          </a:ln>
        </p:spPr>
        <p:txBody>
          <a:bodyPr anchorCtr="0" anchor="t" bIns="45700" lIns="91425" spcFirstLastPara="1" rIns="91425" wrap="square" tIns="45700">
            <a:normAutofit/>
          </a:bodyPr>
          <a:lstStyle/>
          <a:p>
            <a:pPr indent="-339976" lvl="0" marL="339976" rtl="0" algn="l">
              <a:lnSpc>
                <a:spcPct val="90000"/>
              </a:lnSpc>
              <a:spcBef>
                <a:spcPts val="0"/>
              </a:spcBef>
              <a:spcAft>
                <a:spcPts val="0"/>
              </a:spcAft>
              <a:buClr>
                <a:schemeClr val="dk2"/>
              </a:buClr>
              <a:buSzPts val="2800"/>
              <a:buFont typeface="Arial"/>
              <a:buNone/>
            </a:pPr>
            <a:r>
              <a:rPr lang="en-US"/>
              <a:t>Digital Imaging and Communications in Medicine</a:t>
            </a:r>
            <a:endParaRPr/>
          </a:p>
          <a:p>
            <a:pPr indent="-339976" lvl="0" marL="339976" rtl="0" algn="l">
              <a:lnSpc>
                <a:spcPct val="90000"/>
              </a:lnSpc>
              <a:spcBef>
                <a:spcPts val="1000"/>
              </a:spcBef>
              <a:spcAft>
                <a:spcPts val="0"/>
              </a:spcAft>
              <a:buClr>
                <a:schemeClr val="dk2"/>
              </a:buClr>
              <a:buSzPts val="2800"/>
              <a:buFont typeface="Arial"/>
              <a:buNone/>
            </a:pPr>
            <a:r>
              <a:rPr lang="en-US"/>
              <a:t>The </a:t>
            </a:r>
            <a:r>
              <a:rPr b="1" lang="en-US">
                <a:solidFill>
                  <a:srgbClr val="003399"/>
                </a:solidFill>
              </a:rPr>
              <a:t>standard</a:t>
            </a:r>
            <a:r>
              <a:rPr lang="en-US"/>
              <a:t> for storage, transfer, display and processing of medical image data</a:t>
            </a:r>
            <a:endParaRPr/>
          </a:p>
          <a:p>
            <a:pPr indent="-339976" lvl="0" marL="339976" rtl="0" algn="l">
              <a:lnSpc>
                <a:spcPct val="90000"/>
              </a:lnSpc>
              <a:spcBef>
                <a:spcPts val="1000"/>
              </a:spcBef>
              <a:spcAft>
                <a:spcPts val="0"/>
              </a:spcAft>
              <a:buClr>
                <a:schemeClr val="dk2"/>
              </a:buClr>
              <a:buSzPts val="2800"/>
              <a:buFont typeface="Arial"/>
              <a:buNone/>
            </a:pPr>
            <a:r>
              <a:rPr lang="en-US"/>
              <a:t>Ongoing development (working groups): visible light, dermatology, dentistry, pathology, AI, web services, neurophysiology data, surgery, data archive &amp; management, etc.</a:t>
            </a:r>
            <a:endParaRPr/>
          </a:p>
        </p:txBody>
      </p:sp>
      <p:pic>
        <p:nvPicPr>
          <p:cNvPr descr="An infographic presenting the economics of computer and PACS (Picture Archiving and Communication System) " id="366" name="Google Shape;366;p24"/>
          <p:cNvPicPr preferRelativeResize="0"/>
          <p:nvPr>
            <p:ph idx="2" type="body"/>
          </p:nvPr>
        </p:nvPicPr>
        <p:blipFill rotWithShape="1">
          <a:blip r:embed="rId3">
            <a:alphaModFix/>
          </a:blip>
          <a:srcRect b="0" l="0" r="0" t="0"/>
          <a:stretch/>
        </p:blipFill>
        <p:spPr>
          <a:xfrm>
            <a:off x="6197602" y="1032309"/>
            <a:ext cx="5486400" cy="4793381"/>
          </a:xfrm>
          <a:prstGeom prst="rect">
            <a:avLst/>
          </a:prstGeom>
          <a:noFill/>
          <a:ln>
            <a:noFill/>
          </a:ln>
        </p:spPr>
      </p:pic>
      <p:sp>
        <p:nvSpPr>
          <p:cNvPr id="367" name="Google Shape;367;p24"/>
          <p:cNvSpPr txBox="1"/>
          <p:nvPr/>
        </p:nvSpPr>
        <p:spPr>
          <a:xfrm>
            <a:off x="7131050" y="6898056"/>
            <a:ext cx="36195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chemeClr val="dk1"/>
                </a:solidFill>
                <a:latin typeface="Arial"/>
                <a:ea typeface="Arial"/>
                <a:cs typeface="Arial"/>
                <a:sym typeface="Arial"/>
                <a:hlinkClick r:id="rId4">
                  <a:extLst>
                    <a:ext uri="{A12FA001-AC4F-418D-AE19-62706E023703}">
                      <ahyp:hlinkClr val="tx"/>
                    </a:ext>
                  </a:extLst>
                </a:hlinkClick>
              </a:rPr>
              <a:t>This Photo</a:t>
            </a:r>
            <a:r>
              <a:rPr b="0" i="0" lang="en-US" sz="900" u="none" cap="none" strike="noStrike">
                <a:solidFill>
                  <a:schemeClr val="dk1"/>
                </a:solidFill>
                <a:latin typeface="Arial"/>
                <a:ea typeface="Arial"/>
                <a:cs typeface="Arial"/>
                <a:sym typeface="Arial"/>
              </a:rPr>
              <a:t> by Unknown Author is licensed under </a:t>
            </a:r>
            <a:r>
              <a:rPr b="0" i="0" lang="en-US" sz="900" u="sng" cap="none" strike="noStrike">
                <a:solidFill>
                  <a:schemeClr val="dk1"/>
                </a:solidFill>
                <a:latin typeface="Arial"/>
                <a:ea typeface="Arial"/>
                <a:cs typeface="Arial"/>
                <a:sym typeface="Arial"/>
                <a:hlinkClick r:id="rId5">
                  <a:extLst>
                    <a:ext uri="{A12FA001-AC4F-418D-AE19-62706E023703}">
                      <ahyp:hlinkClr val="tx"/>
                    </a:ext>
                  </a:extLst>
                </a:hlinkClick>
              </a:rPr>
              <a:t>CC BY-SA</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grpSp>
        <p:nvGrpSpPr>
          <p:cNvPr id="373" name="Google Shape;373;p44"/>
          <p:cNvGrpSpPr/>
          <p:nvPr/>
        </p:nvGrpSpPr>
        <p:grpSpPr>
          <a:xfrm>
            <a:off x="518150" y="1440533"/>
            <a:ext cx="11108074" cy="4114101"/>
            <a:chOff x="3799" y="588989"/>
            <a:chExt cx="11108074" cy="4114101"/>
          </a:xfrm>
        </p:grpSpPr>
        <p:sp>
          <p:nvSpPr>
            <p:cNvPr id="374" name="Google Shape;374;p44"/>
            <p:cNvSpPr/>
            <p:nvPr/>
          </p:nvSpPr>
          <p:spPr>
            <a:xfrm>
              <a:off x="3799" y="588989"/>
              <a:ext cx="2057050" cy="1234230"/>
            </a:xfrm>
            <a:prstGeom prst="rect">
              <a:avLst/>
            </a:prstGeom>
            <a:solidFill>
              <a:srgbClr val="5F9DD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44"/>
            <p:cNvSpPr txBox="1"/>
            <p:nvPr/>
          </p:nvSpPr>
          <p:spPr>
            <a:xfrm>
              <a:off x="3799" y="588989"/>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PACS</a:t>
              </a:r>
              <a:endParaRPr b="0" i="0" sz="1400" u="none" cap="none" strike="noStrike">
                <a:solidFill>
                  <a:srgbClr val="000000"/>
                </a:solidFill>
                <a:latin typeface="Arial"/>
                <a:ea typeface="Arial"/>
                <a:cs typeface="Arial"/>
                <a:sym typeface="Arial"/>
              </a:endParaRPr>
            </a:p>
          </p:txBody>
        </p:sp>
        <p:sp>
          <p:nvSpPr>
            <p:cNvPr id="376" name="Google Shape;376;p44"/>
            <p:cNvSpPr/>
            <p:nvPr/>
          </p:nvSpPr>
          <p:spPr>
            <a:xfrm>
              <a:off x="2266555" y="588989"/>
              <a:ext cx="2057050" cy="1234230"/>
            </a:xfrm>
            <a:prstGeom prst="rect">
              <a:avLst/>
            </a:prstGeom>
            <a:solidFill>
              <a:srgbClr val="267FD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44"/>
            <p:cNvSpPr txBox="1"/>
            <p:nvPr/>
          </p:nvSpPr>
          <p:spPr>
            <a:xfrm>
              <a:off x="2266555" y="588989"/>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DICOM</a:t>
              </a:r>
              <a:endParaRPr b="0" i="0" sz="1400" u="none" cap="none" strike="noStrike">
                <a:solidFill>
                  <a:srgbClr val="000000"/>
                </a:solidFill>
                <a:latin typeface="Arial"/>
                <a:ea typeface="Arial"/>
                <a:cs typeface="Arial"/>
                <a:sym typeface="Arial"/>
              </a:endParaRPr>
            </a:p>
          </p:txBody>
        </p:sp>
        <p:sp>
          <p:nvSpPr>
            <p:cNvPr id="378" name="Google Shape;378;p44"/>
            <p:cNvSpPr/>
            <p:nvPr/>
          </p:nvSpPr>
          <p:spPr>
            <a:xfrm>
              <a:off x="4529311" y="588989"/>
              <a:ext cx="2057050" cy="1234230"/>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44"/>
            <p:cNvSpPr txBox="1"/>
            <p:nvPr/>
          </p:nvSpPr>
          <p:spPr>
            <a:xfrm>
              <a:off x="4529311" y="588989"/>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RadLex</a:t>
              </a:r>
              <a:endParaRPr b="0" i="0" sz="4000" u="none" cap="none" strike="noStrike">
                <a:solidFill>
                  <a:schemeClr val="lt1"/>
                </a:solidFill>
                <a:latin typeface="Arial"/>
                <a:ea typeface="Arial"/>
                <a:cs typeface="Arial"/>
                <a:sym typeface="Arial"/>
              </a:endParaRPr>
            </a:p>
          </p:txBody>
        </p:sp>
        <p:sp>
          <p:nvSpPr>
            <p:cNvPr id="380" name="Google Shape;380;p44"/>
            <p:cNvSpPr/>
            <p:nvPr/>
          </p:nvSpPr>
          <p:spPr>
            <a:xfrm>
              <a:off x="6792067" y="588989"/>
              <a:ext cx="2057050" cy="1234230"/>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44"/>
            <p:cNvSpPr txBox="1"/>
            <p:nvPr/>
          </p:nvSpPr>
          <p:spPr>
            <a:xfrm>
              <a:off x="6792067" y="588989"/>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RIS</a:t>
              </a:r>
              <a:endParaRPr b="0" i="0" sz="1400" u="none" cap="none" strike="noStrike">
                <a:solidFill>
                  <a:srgbClr val="000000"/>
                </a:solidFill>
                <a:latin typeface="Arial"/>
                <a:ea typeface="Arial"/>
                <a:cs typeface="Arial"/>
                <a:sym typeface="Arial"/>
              </a:endParaRPr>
            </a:p>
          </p:txBody>
        </p:sp>
        <p:sp>
          <p:nvSpPr>
            <p:cNvPr id="382" name="Google Shape;382;p44"/>
            <p:cNvSpPr/>
            <p:nvPr/>
          </p:nvSpPr>
          <p:spPr>
            <a:xfrm>
              <a:off x="9054823" y="588989"/>
              <a:ext cx="2057050" cy="1234230"/>
            </a:xfrm>
            <a:prstGeom prst="rect">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44"/>
            <p:cNvSpPr txBox="1"/>
            <p:nvPr/>
          </p:nvSpPr>
          <p:spPr>
            <a:xfrm>
              <a:off x="9054823" y="588989"/>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HL7</a:t>
              </a:r>
              <a:endParaRPr b="0" i="0" sz="1400" u="none" cap="none" strike="noStrike">
                <a:solidFill>
                  <a:srgbClr val="000000"/>
                </a:solidFill>
                <a:latin typeface="Arial"/>
                <a:ea typeface="Arial"/>
                <a:cs typeface="Arial"/>
                <a:sym typeface="Arial"/>
              </a:endParaRPr>
            </a:p>
          </p:txBody>
        </p:sp>
        <p:sp>
          <p:nvSpPr>
            <p:cNvPr id="384" name="Google Shape;384;p44"/>
            <p:cNvSpPr/>
            <p:nvPr/>
          </p:nvSpPr>
          <p:spPr>
            <a:xfrm>
              <a:off x="3799" y="2028925"/>
              <a:ext cx="2057050" cy="1234230"/>
            </a:xfrm>
            <a:prstGeom prst="rect">
              <a:avLst/>
            </a:prstGeom>
            <a:solidFill>
              <a:srgbClr val="5F9DD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4"/>
            <p:cNvSpPr txBox="1"/>
            <p:nvPr/>
          </p:nvSpPr>
          <p:spPr>
            <a:xfrm>
              <a:off x="3799" y="2028925"/>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IHE</a:t>
              </a:r>
              <a:endParaRPr b="0" i="0" sz="1400" u="none" cap="none" strike="noStrike">
                <a:solidFill>
                  <a:srgbClr val="000000"/>
                </a:solidFill>
                <a:latin typeface="Arial"/>
                <a:ea typeface="Arial"/>
                <a:cs typeface="Arial"/>
                <a:sym typeface="Arial"/>
              </a:endParaRPr>
            </a:p>
          </p:txBody>
        </p:sp>
        <p:sp>
          <p:nvSpPr>
            <p:cNvPr id="386" name="Google Shape;386;p44"/>
            <p:cNvSpPr/>
            <p:nvPr/>
          </p:nvSpPr>
          <p:spPr>
            <a:xfrm>
              <a:off x="2266555" y="2028925"/>
              <a:ext cx="2057050" cy="1234230"/>
            </a:xfrm>
            <a:prstGeom prst="rect">
              <a:avLst/>
            </a:prstGeom>
            <a:solidFill>
              <a:srgbClr val="267FD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4"/>
            <p:cNvSpPr txBox="1"/>
            <p:nvPr/>
          </p:nvSpPr>
          <p:spPr>
            <a:xfrm>
              <a:off x="2266555" y="2028925"/>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VNA</a:t>
              </a:r>
              <a:endParaRPr b="0" i="0" sz="1400" u="none" cap="none" strike="noStrike">
                <a:solidFill>
                  <a:srgbClr val="000000"/>
                </a:solidFill>
                <a:latin typeface="Arial"/>
                <a:ea typeface="Arial"/>
                <a:cs typeface="Arial"/>
                <a:sym typeface="Arial"/>
              </a:endParaRPr>
            </a:p>
          </p:txBody>
        </p:sp>
        <p:sp>
          <p:nvSpPr>
            <p:cNvPr id="388" name="Google Shape;388;p44"/>
            <p:cNvSpPr/>
            <p:nvPr/>
          </p:nvSpPr>
          <p:spPr>
            <a:xfrm>
              <a:off x="4529311" y="2028925"/>
              <a:ext cx="2057050" cy="1234230"/>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4"/>
            <p:cNvSpPr txBox="1"/>
            <p:nvPr/>
          </p:nvSpPr>
          <p:spPr>
            <a:xfrm>
              <a:off x="4529311" y="2028925"/>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FHIR</a:t>
              </a:r>
              <a:endParaRPr b="0" i="0" sz="1400" u="none" cap="none" strike="noStrike">
                <a:solidFill>
                  <a:srgbClr val="000000"/>
                </a:solidFill>
                <a:latin typeface="Arial"/>
                <a:ea typeface="Arial"/>
                <a:cs typeface="Arial"/>
                <a:sym typeface="Arial"/>
              </a:endParaRPr>
            </a:p>
          </p:txBody>
        </p:sp>
        <p:sp>
          <p:nvSpPr>
            <p:cNvPr id="390" name="Google Shape;390;p44"/>
            <p:cNvSpPr/>
            <p:nvPr/>
          </p:nvSpPr>
          <p:spPr>
            <a:xfrm>
              <a:off x="6792067" y="2028925"/>
              <a:ext cx="2057050" cy="1234230"/>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44"/>
            <p:cNvSpPr txBox="1"/>
            <p:nvPr/>
          </p:nvSpPr>
          <p:spPr>
            <a:xfrm>
              <a:off x="6792067" y="2028925"/>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CDE</a:t>
              </a:r>
              <a:endParaRPr b="0" i="0" sz="1400" u="none" cap="none" strike="noStrike">
                <a:solidFill>
                  <a:srgbClr val="000000"/>
                </a:solidFill>
                <a:latin typeface="Arial"/>
                <a:ea typeface="Arial"/>
                <a:cs typeface="Arial"/>
                <a:sym typeface="Arial"/>
              </a:endParaRPr>
            </a:p>
          </p:txBody>
        </p:sp>
        <p:sp>
          <p:nvSpPr>
            <p:cNvPr id="392" name="Google Shape;392;p44"/>
            <p:cNvSpPr/>
            <p:nvPr/>
          </p:nvSpPr>
          <p:spPr>
            <a:xfrm>
              <a:off x="9054823" y="2028925"/>
              <a:ext cx="2057050" cy="1234230"/>
            </a:xfrm>
            <a:prstGeom prst="rect">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44"/>
            <p:cNvSpPr txBox="1"/>
            <p:nvPr/>
          </p:nvSpPr>
          <p:spPr>
            <a:xfrm>
              <a:off x="9054823" y="2028925"/>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MWL</a:t>
              </a:r>
              <a:endParaRPr b="0" i="0" sz="1400" u="none" cap="none" strike="noStrike">
                <a:solidFill>
                  <a:srgbClr val="000000"/>
                </a:solidFill>
                <a:latin typeface="Arial"/>
                <a:ea typeface="Arial"/>
                <a:cs typeface="Arial"/>
                <a:sym typeface="Arial"/>
              </a:endParaRPr>
            </a:p>
          </p:txBody>
        </p:sp>
        <p:sp>
          <p:nvSpPr>
            <p:cNvPr id="394" name="Google Shape;394;p44"/>
            <p:cNvSpPr/>
            <p:nvPr/>
          </p:nvSpPr>
          <p:spPr>
            <a:xfrm>
              <a:off x="3799" y="3468860"/>
              <a:ext cx="2057050" cy="1234230"/>
            </a:xfrm>
            <a:prstGeom prst="rect">
              <a:avLst/>
            </a:prstGeom>
            <a:solidFill>
              <a:srgbClr val="5F9DD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44"/>
            <p:cNvSpPr txBox="1"/>
            <p:nvPr/>
          </p:nvSpPr>
          <p:spPr>
            <a:xfrm>
              <a:off x="3799" y="3468860"/>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SR</a:t>
              </a:r>
              <a:endParaRPr b="0" i="0" sz="1400" u="none" cap="none" strike="noStrike">
                <a:solidFill>
                  <a:srgbClr val="000000"/>
                </a:solidFill>
                <a:latin typeface="Arial"/>
                <a:ea typeface="Arial"/>
                <a:cs typeface="Arial"/>
                <a:sym typeface="Arial"/>
              </a:endParaRPr>
            </a:p>
          </p:txBody>
        </p:sp>
        <p:sp>
          <p:nvSpPr>
            <p:cNvPr id="396" name="Google Shape;396;p44"/>
            <p:cNvSpPr/>
            <p:nvPr/>
          </p:nvSpPr>
          <p:spPr>
            <a:xfrm>
              <a:off x="2266555" y="3468860"/>
              <a:ext cx="2057050" cy="1234230"/>
            </a:xfrm>
            <a:prstGeom prst="rect">
              <a:avLst/>
            </a:prstGeom>
            <a:solidFill>
              <a:srgbClr val="267FD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4"/>
            <p:cNvSpPr txBox="1"/>
            <p:nvPr/>
          </p:nvSpPr>
          <p:spPr>
            <a:xfrm>
              <a:off x="2266555" y="3468860"/>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SLA</a:t>
              </a:r>
              <a:endParaRPr b="0" i="0" sz="1400" u="none" cap="none" strike="noStrike">
                <a:solidFill>
                  <a:srgbClr val="000000"/>
                </a:solidFill>
                <a:latin typeface="Arial"/>
                <a:ea typeface="Arial"/>
                <a:cs typeface="Arial"/>
                <a:sym typeface="Arial"/>
              </a:endParaRPr>
            </a:p>
          </p:txBody>
        </p:sp>
        <p:sp>
          <p:nvSpPr>
            <p:cNvPr id="398" name="Google Shape;398;p44"/>
            <p:cNvSpPr/>
            <p:nvPr/>
          </p:nvSpPr>
          <p:spPr>
            <a:xfrm>
              <a:off x="4529311" y="3468860"/>
              <a:ext cx="2057050" cy="1234230"/>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4"/>
            <p:cNvSpPr txBox="1"/>
            <p:nvPr/>
          </p:nvSpPr>
          <p:spPr>
            <a:xfrm>
              <a:off x="4529311" y="3468860"/>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RFP</a:t>
              </a:r>
              <a:endParaRPr b="0" i="0" sz="1400" u="none" cap="none" strike="noStrike">
                <a:solidFill>
                  <a:srgbClr val="000000"/>
                </a:solidFill>
                <a:latin typeface="Arial"/>
                <a:ea typeface="Arial"/>
                <a:cs typeface="Arial"/>
                <a:sym typeface="Arial"/>
              </a:endParaRPr>
            </a:p>
          </p:txBody>
        </p:sp>
        <p:sp>
          <p:nvSpPr>
            <p:cNvPr id="400" name="Google Shape;400;p44"/>
            <p:cNvSpPr/>
            <p:nvPr/>
          </p:nvSpPr>
          <p:spPr>
            <a:xfrm>
              <a:off x="6792067" y="3468860"/>
              <a:ext cx="2057050" cy="1234230"/>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4"/>
            <p:cNvSpPr txBox="1"/>
            <p:nvPr/>
          </p:nvSpPr>
          <p:spPr>
            <a:xfrm>
              <a:off x="6792067" y="3468860"/>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ABII</a:t>
              </a:r>
              <a:endParaRPr b="0" i="0" sz="1400" u="none" cap="none" strike="noStrike">
                <a:solidFill>
                  <a:srgbClr val="000000"/>
                </a:solidFill>
                <a:latin typeface="Arial"/>
                <a:ea typeface="Arial"/>
                <a:cs typeface="Arial"/>
                <a:sym typeface="Arial"/>
              </a:endParaRPr>
            </a:p>
          </p:txBody>
        </p:sp>
        <p:sp>
          <p:nvSpPr>
            <p:cNvPr id="402" name="Google Shape;402;p44"/>
            <p:cNvSpPr/>
            <p:nvPr/>
          </p:nvSpPr>
          <p:spPr>
            <a:xfrm>
              <a:off x="9054823" y="3468860"/>
              <a:ext cx="2057050" cy="1234230"/>
            </a:xfrm>
            <a:prstGeom prst="rect">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4"/>
            <p:cNvSpPr txBox="1"/>
            <p:nvPr/>
          </p:nvSpPr>
          <p:spPr>
            <a:xfrm>
              <a:off x="9054823" y="3468860"/>
              <a:ext cx="2057050" cy="1234230"/>
            </a:xfrm>
            <a:prstGeom prst="rect">
              <a:avLst/>
            </a:prstGeom>
            <a:noFill/>
            <a:ln>
              <a:noFill/>
            </a:ln>
          </p:spPr>
          <p:txBody>
            <a:bodyPr anchorCtr="0" anchor="ctr" bIns="152400" lIns="152400" spcFirstLastPara="1" rIns="152400" wrap="square" tIns="1524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CIIP</a:t>
              </a:r>
              <a:endParaRPr b="0" i="0" sz="1400" u="none" cap="none" strike="noStrike">
                <a:solidFill>
                  <a:srgbClr val="000000"/>
                </a:solidFill>
                <a:latin typeface="Arial"/>
                <a:ea typeface="Arial"/>
                <a:cs typeface="Arial"/>
                <a:sym typeface="Arial"/>
              </a:endParaRPr>
            </a:p>
          </p:txBody>
        </p:sp>
      </p:grpSp>
      <p:sp>
        <p:nvSpPr>
          <p:cNvPr id="404" name="Google Shape;404;p44"/>
          <p:cNvSpPr txBox="1"/>
          <p:nvPr/>
        </p:nvSpPr>
        <p:spPr>
          <a:xfrm>
            <a:off x="1589" y="231024"/>
            <a:ext cx="12188825" cy="62052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ALPHABET SOUP OF </a:t>
            </a:r>
            <a:r>
              <a:rPr b="1" i="0" lang="en-US" sz="4000" u="none" cap="none" strike="noStrike">
                <a:solidFill>
                  <a:schemeClr val="dk1"/>
                </a:solidFill>
                <a:latin typeface="Arial"/>
                <a:ea typeface="Arial"/>
                <a:cs typeface="Arial"/>
                <a:sym typeface="Arial"/>
              </a:rPr>
              <a:t>IMAGING</a:t>
            </a:r>
            <a:r>
              <a:rPr b="0" i="0" lang="en-US" sz="4000" u="none" cap="none" strike="noStrike">
                <a:solidFill>
                  <a:schemeClr val="dk1"/>
                </a:solidFill>
                <a:latin typeface="Arial"/>
                <a:ea typeface="Arial"/>
                <a:cs typeface="Arial"/>
                <a:sym typeface="Arial"/>
              </a:rPr>
              <a:t> INFORMATICS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6"/>
          <p:cNvSpPr txBox="1"/>
          <p:nvPr>
            <p:ph type="title"/>
          </p:nvPr>
        </p:nvSpPr>
        <p:spPr>
          <a:xfrm>
            <a:off x="594360" y="1209086"/>
            <a:ext cx="3876848" cy="4064925"/>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Clr>
                <a:srgbClr val="003399"/>
              </a:buClr>
              <a:buSzPts val="5000"/>
              <a:buFont typeface="Arial"/>
              <a:buNone/>
            </a:pPr>
            <a:r>
              <a:rPr lang="en-US" sz="5000"/>
              <a:t>Hot Topics in Imaging Informatics</a:t>
            </a:r>
            <a:endParaRPr/>
          </a:p>
        </p:txBody>
      </p:sp>
      <p:grpSp>
        <p:nvGrpSpPr>
          <p:cNvPr id="411" name="Google Shape;411;p26"/>
          <p:cNvGrpSpPr/>
          <p:nvPr/>
        </p:nvGrpSpPr>
        <p:grpSpPr>
          <a:xfrm>
            <a:off x="5614416" y="461650"/>
            <a:ext cx="6117335" cy="5687810"/>
            <a:chOff x="0" y="4450"/>
            <a:chExt cx="6117335" cy="5687810"/>
          </a:xfrm>
        </p:grpSpPr>
        <p:sp>
          <p:nvSpPr>
            <p:cNvPr id="412" name="Google Shape;412;p26"/>
            <p:cNvSpPr/>
            <p:nvPr/>
          </p:nvSpPr>
          <p:spPr>
            <a:xfrm>
              <a:off x="0" y="4450"/>
              <a:ext cx="6117335" cy="947968"/>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6"/>
            <p:cNvSpPr/>
            <p:nvPr/>
          </p:nvSpPr>
          <p:spPr>
            <a:xfrm>
              <a:off x="286760" y="217743"/>
              <a:ext cx="521382" cy="52138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6"/>
            <p:cNvSpPr/>
            <p:nvPr/>
          </p:nvSpPr>
          <p:spPr>
            <a:xfrm>
              <a:off x="1094903" y="4450"/>
              <a:ext cx="5022432" cy="94796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6"/>
            <p:cNvSpPr txBox="1"/>
            <p:nvPr/>
          </p:nvSpPr>
          <p:spPr>
            <a:xfrm>
              <a:off x="1094903" y="4450"/>
              <a:ext cx="5022432" cy="947968"/>
            </a:xfrm>
            <a:prstGeom prst="rect">
              <a:avLst/>
            </a:prstGeom>
            <a:noFill/>
            <a:ln>
              <a:noFill/>
            </a:ln>
          </p:spPr>
          <p:txBody>
            <a:bodyPr anchorCtr="0" anchor="ctr" bIns="100325" lIns="100325" spcFirstLastPara="1" rIns="100325" wrap="square" tIns="100325">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Standards &amp; interoperability</a:t>
              </a:r>
              <a:endParaRPr b="0" i="0" sz="1400" u="none" cap="none" strike="noStrike">
                <a:solidFill>
                  <a:srgbClr val="000000"/>
                </a:solidFill>
                <a:latin typeface="Arial"/>
                <a:ea typeface="Arial"/>
                <a:cs typeface="Arial"/>
                <a:sym typeface="Arial"/>
              </a:endParaRPr>
            </a:p>
          </p:txBody>
        </p:sp>
        <p:sp>
          <p:nvSpPr>
            <p:cNvPr id="416" name="Google Shape;416;p26"/>
            <p:cNvSpPr/>
            <p:nvPr/>
          </p:nvSpPr>
          <p:spPr>
            <a:xfrm>
              <a:off x="0" y="1189411"/>
              <a:ext cx="6117335" cy="947968"/>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6"/>
            <p:cNvSpPr/>
            <p:nvPr/>
          </p:nvSpPr>
          <p:spPr>
            <a:xfrm>
              <a:off x="286760" y="1402704"/>
              <a:ext cx="521382" cy="52138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6"/>
            <p:cNvSpPr/>
            <p:nvPr/>
          </p:nvSpPr>
          <p:spPr>
            <a:xfrm>
              <a:off x="1094903" y="1189411"/>
              <a:ext cx="5022432" cy="94796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6"/>
            <p:cNvSpPr txBox="1"/>
            <p:nvPr/>
          </p:nvSpPr>
          <p:spPr>
            <a:xfrm>
              <a:off x="1094903" y="1189411"/>
              <a:ext cx="5022432" cy="947968"/>
            </a:xfrm>
            <a:prstGeom prst="rect">
              <a:avLst/>
            </a:prstGeom>
            <a:noFill/>
            <a:ln>
              <a:noFill/>
            </a:ln>
          </p:spPr>
          <p:txBody>
            <a:bodyPr anchorCtr="0" anchor="ctr" bIns="100325" lIns="100325" spcFirstLastPara="1" rIns="100325" wrap="square" tIns="100325">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Enterprise imaging</a:t>
              </a:r>
              <a:endParaRPr b="0" i="0" sz="1400" u="none" cap="none" strike="noStrike">
                <a:solidFill>
                  <a:srgbClr val="000000"/>
                </a:solidFill>
                <a:latin typeface="Arial"/>
                <a:ea typeface="Arial"/>
                <a:cs typeface="Arial"/>
                <a:sym typeface="Arial"/>
              </a:endParaRPr>
            </a:p>
          </p:txBody>
        </p:sp>
        <p:sp>
          <p:nvSpPr>
            <p:cNvPr id="420" name="Google Shape;420;p26"/>
            <p:cNvSpPr/>
            <p:nvPr/>
          </p:nvSpPr>
          <p:spPr>
            <a:xfrm>
              <a:off x="0" y="2374371"/>
              <a:ext cx="6117335" cy="947968"/>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6"/>
            <p:cNvSpPr/>
            <p:nvPr/>
          </p:nvSpPr>
          <p:spPr>
            <a:xfrm>
              <a:off x="286760" y="2587664"/>
              <a:ext cx="521382" cy="521382"/>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6"/>
            <p:cNvSpPr/>
            <p:nvPr/>
          </p:nvSpPr>
          <p:spPr>
            <a:xfrm>
              <a:off x="1094903" y="2374371"/>
              <a:ext cx="5022432" cy="94796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6"/>
            <p:cNvSpPr txBox="1"/>
            <p:nvPr/>
          </p:nvSpPr>
          <p:spPr>
            <a:xfrm>
              <a:off x="1094903" y="2374371"/>
              <a:ext cx="5022432" cy="947968"/>
            </a:xfrm>
            <a:prstGeom prst="rect">
              <a:avLst/>
            </a:prstGeom>
            <a:noFill/>
            <a:ln>
              <a:noFill/>
            </a:ln>
          </p:spPr>
          <p:txBody>
            <a:bodyPr anchorCtr="0" anchor="ctr" bIns="100325" lIns="100325" spcFirstLastPara="1" rIns="100325" wrap="square" tIns="100325">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Workflow optimization</a:t>
              </a:r>
              <a:endParaRPr b="0" i="0" sz="1400" u="none" cap="none" strike="noStrike">
                <a:solidFill>
                  <a:srgbClr val="000000"/>
                </a:solidFill>
                <a:latin typeface="Arial"/>
                <a:ea typeface="Arial"/>
                <a:cs typeface="Arial"/>
                <a:sym typeface="Arial"/>
              </a:endParaRPr>
            </a:p>
          </p:txBody>
        </p:sp>
        <p:sp>
          <p:nvSpPr>
            <p:cNvPr id="424" name="Google Shape;424;p26"/>
            <p:cNvSpPr/>
            <p:nvPr/>
          </p:nvSpPr>
          <p:spPr>
            <a:xfrm>
              <a:off x="0" y="3559332"/>
              <a:ext cx="6117335" cy="947968"/>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6"/>
            <p:cNvSpPr/>
            <p:nvPr/>
          </p:nvSpPr>
          <p:spPr>
            <a:xfrm>
              <a:off x="286760" y="3772625"/>
              <a:ext cx="521382" cy="521382"/>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6"/>
            <p:cNvSpPr/>
            <p:nvPr/>
          </p:nvSpPr>
          <p:spPr>
            <a:xfrm>
              <a:off x="1094903" y="3559332"/>
              <a:ext cx="5022432" cy="94796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6"/>
            <p:cNvSpPr txBox="1"/>
            <p:nvPr/>
          </p:nvSpPr>
          <p:spPr>
            <a:xfrm>
              <a:off x="1094903" y="3559332"/>
              <a:ext cx="5022432" cy="947968"/>
            </a:xfrm>
            <a:prstGeom prst="rect">
              <a:avLst/>
            </a:prstGeom>
            <a:noFill/>
            <a:ln>
              <a:noFill/>
            </a:ln>
          </p:spPr>
          <p:txBody>
            <a:bodyPr anchorCtr="0" anchor="ctr" bIns="100325" lIns="100325" spcFirstLastPara="1" rIns="100325" wrap="square" tIns="100325">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Artificial intelligence</a:t>
              </a:r>
              <a:endParaRPr b="0" i="0" sz="1400" u="none" cap="none" strike="noStrike">
                <a:solidFill>
                  <a:srgbClr val="000000"/>
                </a:solidFill>
                <a:latin typeface="Arial"/>
                <a:ea typeface="Arial"/>
                <a:cs typeface="Arial"/>
                <a:sym typeface="Arial"/>
              </a:endParaRPr>
            </a:p>
          </p:txBody>
        </p:sp>
        <p:sp>
          <p:nvSpPr>
            <p:cNvPr id="428" name="Google Shape;428;p26"/>
            <p:cNvSpPr/>
            <p:nvPr/>
          </p:nvSpPr>
          <p:spPr>
            <a:xfrm>
              <a:off x="0" y="4744292"/>
              <a:ext cx="6117335" cy="947968"/>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6"/>
            <p:cNvSpPr/>
            <p:nvPr/>
          </p:nvSpPr>
          <p:spPr>
            <a:xfrm>
              <a:off x="286760" y="4957585"/>
              <a:ext cx="521382" cy="521382"/>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6"/>
            <p:cNvSpPr/>
            <p:nvPr/>
          </p:nvSpPr>
          <p:spPr>
            <a:xfrm>
              <a:off x="1094903" y="4744292"/>
              <a:ext cx="5022432" cy="94796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6"/>
            <p:cNvSpPr txBox="1"/>
            <p:nvPr/>
          </p:nvSpPr>
          <p:spPr>
            <a:xfrm>
              <a:off x="1094903" y="4744292"/>
              <a:ext cx="5022432" cy="947968"/>
            </a:xfrm>
            <a:prstGeom prst="rect">
              <a:avLst/>
            </a:prstGeom>
            <a:noFill/>
            <a:ln>
              <a:noFill/>
            </a:ln>
          </p:spPr>
          <p:txBody>
            <a:bodyPr anchorCtr="0" anchor="ctr" bIns="100325" lIns="100325" spcFirstLastPara="1" rIns="100325" wrap="square" tIns="100325">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Patient-centered care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8"/>
          <p:cNvSpPr txBox="1"/>
          <p:nvPr>
            <p:ph idx="4294967295" type="ctrTitle"/>
          </p:nvPr>
        </p:nvSpPr>
        <p:spPr>
          <a:xfrm>
            <a:off x="142875" y="666300"/>
            <a:ext cx="3864600" cy="903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EAS 5850:</a:t>
            </a:r>
            <a:endParaRPr b="1" i="0" sz="2400" u="none" cap="none" strike="noStrike">
              <a:solidFill>
                <a:srgbClr val="003399"/>
              </a:solidFill>
              <a:latin typeface="Arial"/>
              <a:ea typeface="Arial"/>
              <a:cs typeface="Arial"/>
              <a:sym typeface="Arial"/>
            </a:endParaRPr>
          </a:p>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IMAGING INFORMATICS</a:t>
            </a:r>
            <a:endParaRPr b="1" i="0" sz="2400" u="none" cap="none" strike="noStrike">
              <a:solidFill>
                <a:srgbClr val="003399"/>
              </a:solidFill>
              <a:latin typeface="Arial"/>
              <a:ea typeface="Arial"/>
              <a:cs typeface="Arial"/>
              <a:sym typeface="Arial"/>
            </a:endParaRPr>
          </a:p>
        </p:txBody>
      </p:sp>
      <p:sp>
        <p:nvSpPr>
          <p:cNvPr id="437" name="Google Shape;437;p28"/>
          <p:cNvSpPr txBox="1"/>
          <p:nvPr>
            <p:ph idx="4294967295" type="subTitle"/>
          </p:nvPr>
        </p:nvSpPr>
        <p:spPr>
          <a:xfrm>
            <a:off x="142875" y="1988820"/>
            <a:ext cx="3864600" cy="2880360"/>
          </a:xfrm>
          <a:prstGeom prst="rect">
            <a:avLst/>
          </a:prstGeom>
          <a:solidFill>
            <a:schemeClr val="lt1"/>
          </a:solidFill>
          <a:ln cap="flat" cmpd="sng" w="9525">
            <a:solidFill>
              <a:srgbClr val="0033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dk2"/>
              </a:buClr>
              <a:buSzPts val="2000"/>
              <a:buFont typeface="Arial"/>
              <a:buNone/>
            </a:pPr>
            <a:r>
              <a:rPr b="0" i="0" lang="en-US" sz="3600" u="none" cap="none" strike="noStrike">
                <a:solidFill>
                  <a:schemeClr val="dk2"/>
                </a:solidFill>
                <a:latin typeface="Arial"/>
                <a:ea typeface="Arial"/>
                <a:cs typeface="Arial"/>
                <a:sym typeface="Arial"/>
              </a:rPr>
              <a:t>The Intersection of Imaging Informatics and Clinical Informatics</a:t>
            </a:r>
            <a:endParaRPr b="0" i="0" sz="5400" u="none" cap="none" strike="noStrike">
              <a:solidFill>
                <a:schemeClr val="dk2"/>
              </a:solidFill>
              <a:latin typeface="Arial"/>
              <a:ea typeface="Arial"/>
              <a:cs typeface="Arial"/>
              <a:sym typeface="Arial"/>
            </a:endParaRPr>
          </a:p>
        </p:txBody>
      </p:sp>
      <p:sp>
        <p:nvSpPr>
          <p:cNvPr id="438" name="Google Shape;438;p28"/>
          <p:cNvSpPr txBox="1"/>
          <p:nvPr/>
        </p:nvSpPr>
        <p:spPr>
          <a:xfrm>
            <a:off x="142875" y="5376850"/>
            <a:ext cx="3864600" cy="492600"/>
          </a:xfrm>
          <a:prstGeom prst="rect">
            <a:avLst/>
          </a:prstGeom>
          <a:solidFill>
            <a:schemeClr val="lt1"/>
          </a:solidFill>
          <a:ln cap="flat" cmpd="sng" w="9525">
            <a:solidFill>
              <a:srgbClr val="33CCCC"/>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accent1"/>
                </a:solidFill>
                <a:latin typeface="Arial"/>
                <a:ea typeface="Arial"/>
                <a:cs typeface="Arial"/>
                <a:sym typeface="Arial"/>
              </a:rPr>
              <a:t>Dr. Tessa S. Cook </a:t>
            </a:r>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9"/>
          <p:cNvSpPr txBox="1"/>
          <p:nvPr>
            <p:ph idx="4294967295" type="title"/>
          </p:nvPr>
        </p:nvSpPr>
        <p:spPr>
          <a:xfrm>
            <a:off x="284474" y="247850"/>
            <a:ext cx="6366900" cy="745500"/>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3600"/>
              <a:buFont typeface="Arial"/>
              <a:buNone/>
            </a:pPr>
            <a:r>
              <a:rPr lang="en-US" sz="3600"/>
              <a:t>Quintuple Aim of Healthcare</a:t>
            </a:r>
            <a:endParaRPr/>
          </a:p>
        </p:txBody>
      </p:sp>
      <p:sp>
        <p:nvSpPr>
          <p:cNvPr id="445" name="Google Shape;445;p29"/>
          <p:cNvSpPr txBox="1"/>
          <p:nvPr>
            <p:ph idx="4294967295" type="body"/>
          </p:nvPr>
        </p:nvSpPr>
        <p:spPr>
          <a:xfrm>
            <a:off x="284479" y="1221919"/>
            <a:ext cx="5735321" cy="4931773"/>
          </a:xfrm>
          <a:prstGeom prst="rect">
            <a:avLst/>
          </a:prstGeom>
          <a:noFill/>
          <a:ln>
            <a:noFill/>
          </a:ln>
        </p:spPr>
        <p:txBody>
          <a:bodyPr anchorCtr="0" anchor="t" bIns="45700" lIns="91425" spcFirstLastPara="1" rIns="91425" wrap="square" tIns="45700">
            <a:noAutofit/>
          </a:bodyPr>
          <a:lstStyle/>
          <a:p>
            <a:pPr indent="-514350" lvl="0" marL="514350" rtl="0" algn="l">
              <a:lnSpc>
                <a:spcPct val="110000"/>
              </a:lnSpc>
              <a:spcBef>
                <a:spcPts val="0"/>
              </a:spcBef>
              <a:spcAft>
                <a:spcPts val="0"/>
              </a:spcAft>
              <a:buClr>
                <a:schemeClr val="dk2"/>
              </a:buClr>
              <a:buSzPts val="3200"/>
              <a:buFont typeface="Arial"/>
              <a:buAutoNum type="arabicPeriod"/>
            </a:pPr>
            <a:r>
              <a:rPr lang="en-US" sz="3200"/>
              <a:t>Improve population health</a:t>
            </a:r>
            <a:endParaRPr/>
          </a:p>
          <a:p>
            <a:pPr indent="-514350" lvl="0" marL="514350" rtl="0" algn="l">
              <a:lnSpc>
                <a:spcPct val="110000"/>
              </a:lnSpc>
              <a:spcBef>
                <a:spcPts val="1000"/>
              </a:spcBef>
              <a:spcAft>
                <a:spcPts val="0"/>
              </a:spcAft>
              <a:buClr>
                <a:schemeClr val="dk2"/>
              </a:buClr>
              <a:buSzPts val="3200"/>
              <a:buFont typeface="Arial"/>
              <a:buAutoNum type="arabicPeriod"/>
            </a:pPr>
            <a:r>
              <a:rPr lang="en-US" sz="3200"/>
              <a:t>Enhance the care experience</a:t>
            </a:r>
            <a:endParaRPr/>
          </a:p>
          <a:p>
            <a:pPr indent="-514350" lvl="0" marL="514350" rtl="0" algn="l">
              <a:lnSpc>
                <a:spcPct val="110000"/>
              </a:lnSpc>
              <a:spcBef>
                <a:spcPts val="1000"/>
              </a:spcBef>
              <a:spcAft>
                <a:spcPts val="0"/>
              </a:spcAft>
              <a:buClr>
                <a:schemeClr val="dk2"/>
              </a:buClr>
              <a:buSzPts val="3200"/>
              <a:buFont typeface="Arial"/>
              <a:buAutoNum type="arabicPeriod"/>
            </a:pPr>
            <a:r>
              <a:rPr lang="en-US" sz="3200"/>
              <a:t>Decrease cost of care</a:t>
            </a:r>
            <a:endParaRPr/>
          </a:p>
          <a:p>
            <a:pPr indent="-514350" lvl="0" marL="514350" rtl="0" algn="l">
              <a:lnSpc>
                <a:spcPct val="110000"/>
              </a:lnSpc>
              <a:spcBef>
                <a:spcPts val="1000"/>
              </a:spcBef>
              <a:spcAft>
                <a:spcPts val="0"/>
              </a:spcAft>
              <a:buClr>
                <a:schemeClr val="dk2"/>
              </a:buClr>
              <a:buSzPts val="3200"/>
              <a:buFont typeface="Arial"/>
              <a:buAutoNum type="arabicPeriod"/>
            </a:pPr>
            <a:r>
              <a:rPr lang="en-US" sz="3200"/>
              <a:t>Improve workforce well-being</a:t>
            </a:r>
            <a:endParaRPr/>
          </a:p>
          <a:p>
            <a:pPr indent="-514350" lvl="0" marL="514350" rtl="0" algn="l">
              <a:lnSpc>
                <a:spcPct val="110000"/>
              </a:lnSpc>
              <a:spcBef>
                <a:spcPts val="1000"/>
              </a:spcBef>
              <a:spcAft>
                <a:spcPts val="0"/>
              </a:spcAft>
              <a:buClr>
                <a:schemeClr val="dk2"/>
              </a:buClr>
              <a:buSzPts val="3200"/>
              <a:buFont typeface="Arial"/>
              <a:buAutoNum type="arabicPeriod"/>
            </a:pPr>
            <a:r>
              <a:rPr lang="en-US" sz="3200"/>
              <a:t>Address health equity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5"/>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SzPct val="111111"/>
              <a:buNone/>
            </a:pPr>
            <a:r>
              <a:rPr lang="en-US"/>
              <a:t>Imaging and Clinical Informatics: Closely Related</a:t>
            </a:r>
            <a:endParaRPr/>
          </a:p>
        </p:txBody>
      </p:sp>
      <p:grpSp>
        <p:nvGrpSpPr>
          <p:cNvPr id="452" name="Google Shape;452;p45"/>
          <p:cNvGrpSpPr/>
          <p:nvPr/>
        </p:nvGrpSpPr>
        <p:grpSpPr>
          <a:xfrm>
            <a:off x="1819904" y="1255035"/>
            <a:ext cx="8563303" cy="4976579"/>
            <a:chOff x="1535741" y="13610"/>
            <a:chExt cx="8563303" cy="4976579"/>
          </a:xfrm>
        </p:grpSpPr>
        <p:sp>
          <p:nvSpPr>
            <p:cNvPr id="453" name="Google Shape;453;p45"/>
            <p:cNvSpPr/>
            <p:nvPr/>
          </p:nvSpPr>
          <p:spPr>
            <a:xfrm>
              <a:off x="1535741" y="13610"/>
              <a:ext cx="4976579" cy="4976579"/>
            </a:xfrm>
            <a:prstGeom prst="ellipse">
              <a:avLst/>
            </a:prstGeom>
            <a:solidFill>
              <a:srgbClr val="5F9DD1">
                <a:alpha val="49411"/>
              </a:srgbClr>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45"/>
            <p:cNvSpPr txBox="1"/>
            <p:nvPr/>
          </p:nvSpPr>
          <p:spPr>
            <a:xfrm>
              <a:off x="2230669" y="600456"/>
              <a:ext cx="2869379" cy="380288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dk1"/>
                  </a:solidFill>
                  <a:latin typeface="Arial"/>
                  <a:ea typeface="Arial"/>
                  <a:cs typeface="Arial"/>
                  <a:sym typeface="Arial"/>
                </a:rPr>
                <a:t>Imaging Informatics</a:t>
              </a:r>
              <a:endParaRPr b="0" i="0" sz="1400" u="none" cap="none" strike="noStrike">
                <a:solidFill>
                  <a:srgbClr val="000000"/>
                </a:solidFill>
                <a:latin typeface="Arial"/>
                <a:ea typeface="Arial"/>
                <a:cs typeface="Arial"/>
                <a:sym typeface="Arial"/>
              </a:endParaRPr>
            </a:p>
          </p:txBody>
        </p:sp>
        <p:sp>
          <p:nvSpPr>
            <p:cNvPr id="455" name="Google Shape;455;p45"/>
            <p:cNvSpPr/>
            <p:nvPr/>
          </p:nvSpPr>
          <p:spPr>
            <a:xfrm>
              <a:off x="5122465" y="13610"/>
              <a:ext cx="4976579" cy="4976579"/>
            </a:xfrm>
            <a:prstGeom prst="ellipse">
              <a:avLst/>
            </a:prstGeom>
            <a:solidFill>
              <a:srgbClr val="267FD5">
                <a:alpha val="49411"/>
              </a:srgbClr>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45"/>
            <p:cNvSpPr txBox="1"/>
            <p:nvPr/>
          </p:nvSpPr>
          <p:spPr>
            <a:xfrm>
              <a:off x="6534738" y="600456"/>
              <a:ext cx="2869379" cy="3802888"/>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dk1"/>
                  </a:solidFill>
                  <a:latin typeface="Arial"/>
                  <a:ea typeface="Arial"/>
                  <a:cs typeface="Arial"/>
                  <a:sym typeface="Arial"/>
                </a:rPr>
                <a:t>Clinical Informatics</a:t>
              </a:r>
              <a:endParaRPr b="0" i="0" sz="1400" u="none" cap="none" strike="noStrike">
                <a:solidFill>
                  <a:srgbClr val="000000"/>
                </a:solidFill>
                <a:latin typeface="Arial"/>
                <a:ea typeface="Arial"/>
                <a:cs typeface="Arial"/>
                <a:sym typeface="Arial"/>
              </a:endParaRPr>
            </a:p>
          </p:txBody>
        </p:sp>
      </p:grpSp>
      <p:pic>
        <p:nvPicPr>
          <p:cNvPr descr="A picture containing black, darkness&#10;&#10;Description automatically generated" id="457" name="Google Shape;457;p45"/>
          <p:cNvPicPr preferRelativeResize="0"/>
          <p:nvPr/>
        </p:nvPicPr>
        <p:blipFill rotWithShape="1">
          <a:blip r:embed="rId3">
            <a:alphaModFix/>
          </a:blip>
          <a:srcRect b="0" l="0" r="0" t="0"/>
          <a:stretch/>
        </p:blipFill>
        <p:spPr>
          <a:xfrm>
            <a:off x="7534162" y="1698625"/>
            <a:ext cx="914400" cy="914400"/>
          </a:xfrm>
          <a:prstGeom prst="rect">
            <a:avLst/>
          </a:prstGeom>
          <a:noFill/>
          <a:ln>
            <a:noFill/>
          </a:ln>
        </p:spPr>
      </p:pic>
      <p:pic>
        <p:nvPicPr>
          <p:cNvPr descr="A picture containing black, darkness&#10;&#10;Description automatically generated" id="458" name="Google Shape;458;p45"/>
          <p:cNvPicPr preferRelativeResize="0"/>
          <p:nvPr/>
        </p:nvPicPr>
        <p:blipFill rotWithShape="1">
          <a:blip r:embed="rId4">
            <a:alphaModFix/>
          </a:blip>
          <a:srcRect b="0" l="0" r="0" t="0"/>
          <a:stretch/>
        </p:blipFill>
        <p:spPr>
          <a:xfrm>
            <a:off x="3821475" y="1698625"/>
            <a:ext cx="914400" cy="914400"/>
          </a:xfrm>
          <a:prstGeom prst="rect">
            <a:avLst/>
          </a:prstGeom>
          <a:noFill/>
          <a:ln>
            <a:noFill/>
          </a:ln>
        </p:spPr>
      </p:pic>
      <p:pic>
        <p:nvPicPr>
          <p:cNvPr descr="A picture containing black, darkness&#10;&#10;Description automatically generated" id="459" name="Google Shape;459;p45"/>
          <p:cNvPicPr preferRelativeResize="0"/>
          <p:nvPr/>
        </p:nvPicPr>
        <p:blipFill rotWithShape="1">
          <a:blip r:embed="rId5">
            <a:alphaModFix/>
          </a:blip>
          <a:srcRect b="0" l="0" r="0" t="0"/>
          <a:stretch/>
        </p:blipFill>
        <p:spPr>
          <a:xfrm>
            <a:off x="5631455" y="2726814"/>
            <a:ext cx="914400" cy="914400"/>
          </a:xfrm>
          <a:prstGeom prst="rect">
            <a:avLst/>
          </a:prstGeom>
          <a:noFill/>
          <a:ln>
            <a:noFill/>
          </a:ln>
        </p:spPr>
      </p:pic>
      <p:pic>
        <p:nvPicPr>
          <p:cNvPr descr="A black background with a black square&#10;&#10;Description automatically generated" id="460" name="Google Shape;460;p45"/>
          <p:cNvPicPr preferRelativeResize="0"/>
          <p:nvPr/>
        </p:nvPicPr>
        <p:blipFill rotWithShape="1">
          <a:blip r:embed="rId6">
            <a:alphaModFix/>
          </a:blip>
          <a:srcRect b="0" l="0" r="0" t="0"/>
          <a:stretch/>
        </p:blipFill>
        <p:spPr>
          <a:xfrm>
            <a:off x="5638800" y="3677019"/>
            <a:ext cx="914400" cy="914400"/>
          </a:xfrm>
          <a:prstGeom prst="rect">
            <a:avLst/>
          </a:prstGeom>
          <a:noFill/>
          <a:ln>
            <a:noFill/>
          </a:ln>
        </p:spPr>
      </p:pic>
      <p:pic>
        <p:nvPicPr>
          <p:cNvPr descr="A black background with a black square&#10;&#10;Description automatically generated" id="461" name="Google Shape;461;p45"/>
          <p:cNvPicPr preferRelativeResize="0"/>
          <p:nvPr/>
        </p:nvPicPr>
        <p:blipFill rotWithShape="1">
          <a:blip r:embed="rId7">
            <a:alphaModFix/>
          </a:blip>
          <a:srcRect b="0" l="0" r="0" t="0"/>
          <a:stretch/>
        </p:blipFill>
        <p:spPr>
          <a:xfrm>
            <a:off x="3821475" y="4702175"/>
            <a:ext cx="914400" cy="914400"/>
          </a:xfrm>
          <a:prstGeom prst="rect">
            <a:avLst/>
          </a:prstGeom>
          <a:noFill/>
          <a:ln>
            <a:noFill/>
          </a:ln>
        </p:spPr>
      </p:pic>
      <p:pic>
        <p:nvPicPr>
          <p:cNvPr descr="A black background with a black square&#10;&#10;Description automatically generated" id="462" name="Google Shape;462;p45"/>
          <p:cNvPicPr preferRelativeResize="0"/>
          <p:nvPr/>
        </p:nvPicPr>
        <p:blipFill rotWithShape="1">
          <a:blip r:embed="rId8">
            <a:alphaModFix/>
          </a:blip>
          <a:srcRect b="0" l="0" r="0" t="0"/>
          <a:stretch/>
        </p:blipFill>
        <p:spPr>
          <a:xfrm>
            <a:off x="7534162" y="4702175"/>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par>
                                <p:cTn fill="hold" nodeType="with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par>
                                <p:cTn fill="hold" nodeType="with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2"/>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111111"/>
              <a:buFont typeface="Arial"/>
              <a:buNone/>
            </a:pPr>
            <a:r>
              <a:rPr lang="en-US"/>
              <a:t>Imaging and Clinical Informatics in the Same Workflow</a:t>
            </a:r>
            <a:endParaRPr/>
          </a:p>
        </p:txBody>
      </p:sp>
      <p:pic>
        <p:nvPicPr>
          <p:cNvPr descr="An illustrated diagram showing a healthcare workflow integrating Hospital Information Systems (HIS), Radiology Information Systems (RIS), and PACS. The circular flowchart depicts patient registration, image acquisition, review workstations, and image management, emphasizing data availability and consistency." id="468" name="Google Shape;468;p32"/>
          <p:cNvPicPr preferRelativeResize="0"/>
          <p:nvPr>
            <p:ph idx="1" type="body"/>
          </p:nvPr>
        </p:nvPicPr>
        <p:blipFill rotWithShape="1">
          <a:blip r:embed="rId3">
            <a:alphaModFix/>
          </a:blip>
          <a:srcRect b="0" l="0" r="0" t="0"/>
          <a:stretch/>
        </p:blipFill>
        <p:spPr>
          <a:xfrm>
            <a:off x="2901156" y="1171567"/>
            <a:ext cx="6400800" cy="4572000"/>
          </a:xfrm>
          <a:prstGeom prst="rect">
            <a:avLst/>
          </a:prstGeom>
          <a:noFill/>
          <a:ln>
            <a:noFill/>
          </a:ln>
        </p:spPr>
      </p:pic>
      <p:sp>
        <p:nvSpPr>
          <p:cNvPr id="469" name="Google Shape;469;p32"/>
          <p:cNvSpPr/>
          <p:nvPr/>
        </p:nvSpPr>
        <p:spPr>
          <a:xfrm>
            <a:off x="2747962" y="5921728"/>
            <a:ext cx="6696075"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http://wiki.ihe.net/index.php?title=Scheduled_Workflow</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6"/>
          <p:cNvSpPr txBox="1"/>
          <p:nvPr>
            <p:ph idx="4294967295" type="title"/>
          </p:nvPr>
        </p:nvSpPr>
        <p:spPr>
          <a:xfrm>
            <a:off x="284479" y="1305461"/>
            <a:ext cx="5735320"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50000"/>
              <a:buNone/>
            </a:pPr>
            <a:r>
              <a:rPr lang="en-US"/>
              <a:t>Imaging and Clinical Informatics in the Same Workflow</a:t>
            </a:r>
            <a:endParaRPr/>
          </a:p>
        </p:txBody>
      </p:sp>
      <p:pic>
        <p:nvPicPr>
          <p:cNvPr descr="A close-up view of a section of a healthcare workflow diagram focused on the Hospital Information System (HIS) with steps for patient registration and order entry/pl&#10;acing." id="476" name="Google Shape;476;p46"/>
          <p:cNvPicPr preferRelativeResize="0"/>
          <p:nvPr/>
        </p:nvPicPr>
        <p:blipFill rotWithShape="1">
          <a:blip r:embed="rId3">
            <a:alphaModFix/>
          </a:blip>
          <a:srcRect b="40118" l="4103" r="61025" t="9612"/>
          <a:stretch/>
        </p:blipFill>
        <p:spPr>
          <a:xfrm>
            <a:off x="1306245" y="1957111"/>
            <a:ext cx="3338111" cy="3437263"/>
          </a:xfrm>
          <a:prstGeom prst="ellipse">
            <a:avLst/>
          </a:prstGeom>
          <a:noFill/>
          <a:ln>
            <a:noFill/>
          </a:ln>
        </p:spPr>
      </p:pic>
      <p:sp>
        <p:nvSpPr>
          <p:cNvPr id="477" name="Google Shape;477;p46"/>
          <p:cNvSpPr/>
          <p:nvPr/>
        </p:nvSpPr>
        <p:spPr>
          <a:xfrm>
            <a:off x="0" y="6005972"/>
            <a:ext cx="6696075"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http://wiki.ihe.net/index.php?title=Scheduled_Workflow</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8"/>
          <p:cNvSpPr txBox="1"/>
          <p:nvPr>
            <p:ph idx="4294967295" type="title"/>
          </p:nvPr>
        </p:nvSpPr>
        <p:spPr>
          <a:xfrm>
            <a:off x="284479" y="1305461"/>
            <a:ext cx="5735320"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50000"/>
              <a:buNone/>
            </a:pPr>
            <a:r>
              <a:rPr lang="en-US"/>
              <a:t>Imaging and Clinical Informatics in the Same Workflow</a:t>
            </a:r>
            <a:endParaRPr/>
          </a:p>
        </p:txBody>
      </p:sp>
      <p:sp>
        <p:nvSpPr>
          <p:cNvPr id="484" name="Google Shape;484;p48"/>
          <p:cNvSpPr/>
          <p:nvPr/>
        </p:nvSpPr>
        <p:spPr>
          <a:xfrm>
            <a:off x="0" y="6005972"/>
            <a:ext cx="6696075"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http://wiki.ihe.net/index.php?title=Scheduled_Workflow</a:t>
            </a:r>
            <a:endParaRPr b="0" i="0" sz="1400" u="none" cap="none" strike="noStrike">
              <a:solidFill>
                <a:schemeClr val="dk1"/>
              </a:solidFill>
              <a:latin typeface="Arial"/>
              <a:ea typeface="Arial"/>
              <a:cs typeface="Arial"/>
              <a:sym typeface="Arial"/>
            </a:endParaRPr>
          </a:p>
        </p:txBody>
      </p:sp>
      <p:pic>
        <p:nvPicPr>
          <p:cNvPr descr="A diagram from a medical informatics presentation, depicting the integration of order entry/placing and order scheduling within the Radiology Information System (RIS) as part of a healthcare workflow.&quot;" id="485" name="Google Shape;485;p48"/>
          <p:cNvPicPr preferRelativeResize="0"/>
          <p:nvPr/>
        </p:nvPicPr>
        <p:blipFill rotWithShape="1">
          <a:blip r:embed="rId3">
            <a:alphaModFix/>
          </a:blip>
          <a:srcRect b="-5255" l="1035" r="37244" t="44450"/>
          <a:stretch/>
        </p:blipFill>
        <p:spPr>
          <a:xfrm>
            <a:off x="-253388" y="2051025"/>
            <a:ext cx="5800286" cy="4081911"/>
          </a:xfrm>
          <a:prstGeom prst="ellipse">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0"/>
          <p:cNvSpPr txBox="1"/>
          <p:nvPr>
            <p:ph idx="4294967295" type="title"/>
          </p:nvPr>
        </p:nvSpPr>
        <p:spPr>
          <a:xfrm>
            <a:off x="284479" y="1305461"/>
            <a:ext cx="5735320"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50000"/>
              <a:buNone/>
            </a:pPr>
            <a:r>
              <a:rPr lang="en-US"/>
              <a:t>Imaging and Clinical Informatics in the Same Workflow</a:t>
            </a:r>
            <a:endParaRPr/>
          </a:p>
        </p:txBody>
      </p:sp>
      <p:sp>
        <p:nvSpPr>
          <p:cNvPr id="492" name="Google Shape;492;p50"/>
          <p:cNvSpPr/>
          <p:nvPr/>
        </p:nvSpPr>
        <p:spPr>
          <a:xfrm>
            <a:off x="0" y="6005972"/>
            <a:ext cx="6696075" cy="30773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http://wiki.ihe.net/index.php?title=Scheduled_Workflow</a:t>
            </a:r>
            <a:endParaRPr b="0" i="0" sz="1400" u="none" cap="none" strike="noStrike">
              <a:solidFill>
                <a:schemeClr val="dk1"/>
              </a:solidFill>
              <a:latin typeface="Arial"/>
              <a:ea typeface="Arial"/>
              <a:cs typeface="Arial"/>
              <a:sym typeface="Arial"/>
            </a:endParaRPr>
          </a:p>
        </p:txBody>
      </p:sp>
      <p:pic>
        <p:nvPicPr>
          <p:cNvPr descr="Closeup image of Pacs and Review Workstation." id="493" name="Google Shape;493;p50"/>
          <p:cNvPicPr preferRelativeResize="0"/>
          <p:nvPr/>
        </p:nvPicPr>
        <p:blipFill rotWithShape="1">
          <a:blip r:embed="rId3">
            <a:alphaModFix/>
          </a:blip>
          <a:srcRect b="49110" l="33087" r="862" t="-6991"/>
          <a:stretch/>
        </p:blipFill>
        <p:spPr>
          <a:xfrm>
            <a:off x="284479" y="1918859"/>
            <a:ext cx="5963844" cy="3732831"/>
          </a:xfrm>
          <a:prstGeom prst="ellipse">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grpSp>
        <p:nvGrpSpPr>
          <p:cNvPr id="499" name="Google Shape;499;p51"/>
          <p:cNvGrpSpPr/>
          <p:nvPr/>
        </p:nvGrpSpPr>
        <p:grpSpPr>
          <a:xfrm>
            <a:off x="649607" y="985949"/>
            <a:ext cx="10873736" cy="5057551"/>
            <a:chOff x="192406" y="111"/>
            <a:chExt cx="10873736" cy="5057551"/>
          </a:xfrm>
        </p:grpSpPr>
        <p:sp>
          <p:nvSpPr>
            <p:cNvPr id="500" name="Google Shape;500;p51"/>
            <p:cNvSpPr/>
            <p:nvPr/>
          </p:nvSpPr>
          <p:spPr>
            <a:xfrm>
              <a:off x="192406" y="111"/>
              <a:ext cx="2528775" cy="1517265"/>
            </a:xfrm>
            <a:prstGeom prst="rect">
              <a:avLst/>
            </a:prstGeom>
            <a:solidFill>
              <a:srgbClr val="5F9DD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1"/>
            <p:cNvSpPr txBox="1"/>
            <p:nvPr/>
          </p:nvSpPr>
          <p:spPr>
            <a:xfrm>
              <a:off x="192406" y="111"/>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EMR</a:t>
              </a:r>
              <a:endParaRPr b="0" i="0" sz="1400" u="none" cap="none" strike="noStrike">
                <a:solidFill>
                  <a:srgbClr val="000000"/>
                </a:solidFill>
                <a:latin typeface="Arial"/>
                <a:ea typeface="Arial"/>
                <a:cs typeface="Arial"/>
                <a:sym typeface="Arial"/>
              </a:endParaRPr>
            </a:p>
          </p:txBody>
        </p:sp>
        <p:sp>
          <p:nvSpPr>
            <p:cNvPr id="502" name="Google Shape;502;p51"/>
            <p:cNvSpPr/>
            <p:nvPr/>
          </p:nvSpPr>
          <p:spPr>
            <a:xfrm>
              <a:off x="2974060" y="111"/>
              <a:ext cx="2528775" cy="1517265"/>
            </a:xfrm>
            <a:prstGeom prst="rect">
              <a:avLst/>
            </a:prstGeom>
            <a:solidFill>
              <a:srgbClr val="267FD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51"/>
            <p:cNvSpPr txBox="1"/>
            <p:nvPr/>
          </p:nvSpPr>
          <p:spPr>
            <a:xfrm>
              <a:off x="2974060" y="111"/>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HL7</a:t>
              </a:r>
              <a:endParaRPr b="0" i="0" sz="1400" u="none" cap="none" strike="noStrike">
                <a:solidFill>
                  <a:srgbClr val="000000"/>
                </a:solidFill>
                <a:latin typeface="Arial"/>
                <a:ea typeface="Arial"/>
                <a:cs typeface="Arial"/>
                <a:sym typeface="Arial"/>
              </a:endParaRPr>
            </a:p>
          </p:txBody>
        </p:sp>
        <p:sp>
          <p:nvSpPr>
            <p:cNvPr id="504" name="Google Shape;504;p51"/>
            <p:cNvSpPr/>
            <p:nvPr/>
          </p:nvSpPr>
          <p:spPr>
            <a:xfrm>
              <a:off x="5755713" y="111"/>
              <a:ext cx="2528775" cy="1517265"/>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51"/>
            <p:cNvSpPr txBox="1"/>
            <p:nvPr/>
          </p:nvSpPr>
          <p:spPr>
            <a:xfrm>
              <a:off x="5755713" y="111"/>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FHIR</a:t>
              </a:r>
              <a:endParaRPr b="0" i="0" sz="1400" u="none" cap="none" strike="noStrike">
                <a:solidFill>
                  <a:srgbClr val="000000"/>
                </a:solidFill>
                <a:latin typeface="Arial"/>
                <a:ea typeface="Arial"/>
                <a:cs typeface="Arial"/>
                <a:sym typeface="Arial"/>
              </a:endParaRPr>
            </a:p>
          </p:txBody>
        </p:sp>
        <p:sp>
          <p:nvSpPr>
            <p:cNvPr id="506" name="Google Shape;506;p51"/>
            <p:cNvSpPr/>
            <p:nvPr/>
          </p:nvSpPr>
          <p:spPr>
            <a:xfrm>
              <a:off x="8537367" y="111"/>
              <a:ext cx="2528775" cy="1517265"/>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51"/>
            <p:cNvSpPr txBox="1"/>
            <p:nvPr/>
          </p:nvSpPr>
          <p:spPr>
            <a:xfrm>
              <a:off x="8537367" y="111"/>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CDS</a:t>
              </a:r>
              <a:endParaRPr b="0" i="0" sz="1400" u="none" cap="none" strike="noStrike">
                <a:solidFill>
                  <a:srgbClr val="000000"/>
                </a:solidFill>
                <a:latin typeface="Arial"/>
                <a:ea typeface="Arial"/>
                <a:cs typeface="Arial"/>
                <a:sym typeface="Arial"/>
              </a:endParaRPr>
            </a:p>
          </p:txBody>
        </p:sp>
        <p:sp>
          <p:nvSpPr>
            <p:cNvPr id="508" name="Google Shape;508;p51"/>
            <p:cNvSpPr/>
            <p:nvPr/>
          </p:nvSpPr>
          <p:spPr>
            <a:xfrm>
              <a:off x="192406" y="1770254"/>
              <a:ext cx="2528775" cy="1517265"/>
            </a:xfrm>
            <a:prstGeom prst="rect">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51"/>
            <p:cNvSpPr txBox="1"/>
            <p:nvPr/>
          </p:nvSpPr>
          <p:spPr>
            <a:xfrm>
              <a:off x="192406" y="1770254"/>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CPOE</a:t>
              </a:r>
              <a:endParaRPr b="0" i="0" sz="1400" u="none" cap="none" strike="noStrike">
                <a:solidFill>
                  <a:srgbClr val="000000"/>
                </a:solidFill>
                <a:latin typeface="Arial"/>
                <a:ea typeface="Arial"/>
                <a:cs typeface="Arial"/>
                <a:sym typeface="Arial"/>
              </a:endParaRPr>
            </a:p>
          </p:txBody>
        </p:sp>
        <p:sp>
          <p:nvSpPr>
            <p:cNvPr id="510" name="Google Shape;510;p51"/>
            <p:cNvSpPr/>
            <p:nvPr/>
          </p:nvSpPr>
          <p:spPr>
            <a:xfrm>
              <a:off x="2974060" y="1770254"/>
              <a:ext cx="2528775" cy="1517265"/>
            </a:xfrm>
            <a:prstGeom prst="rect">
              <a:avLst/>
            </a:prstGeom>
            <a:solidFill>
              <a:srgbClr val="5F9DD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51"/>
            <p:cNvSpPr txBox="1"/>
            <p:nvPr/>
          </p:nvSpPr>
          <p:spPr>
            <a:xfrm>
              <a:off x="2974060" y="1770254"/>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HCI</a:t>
              </a:r>
              <a:endParaRPr b="0" i="0" sz="1400" u="none" cap="none" strike="noStrike">
                <a:solidFill>
                  <a:srgbClr val="000000"/>
                </a:solidFill>
                <a:latin typeface="Arial"/>
                <a:ea typeface="Arial"/>
                <a:cs typeface="Arial"/>
                <a:sym typeface="Arial"/>
              </a:endParaRPr>
            </a:p>
          </p:txBody>
        </p:sp>
        <p:sp>
          <p:nvSpPr>
            <p:cNvPr id="512" name="Google Shape;512;p51"/>
            <p:cNvSpPr/>
            <p:nvPr/>
          </p:nvSpPr>
          <p:spPr>
            <a:xfrm>
              <a:off x="5755713" y="1770254"/>
              <a:ext cx="2528775" cy="1517265"/>
            </a:xfrm>
            <a:prstGeom prst="rect">
              <a:avLst/>
            </a:prstGeom>
            <a:solidFill>
              <a:srgbClr val="267FD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51"/>
            <p:cNvSpPr txBox="1"/>
            <p:nvPr/>
          </p:nvSpPr>
          <p:spPr>
            <a:xfrm>
              <a:off x="5755713" y="1770254"/>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ICD</a:t>
              </a:r>
              <a:endParaRPr b="0" i="0" sz="1400" u="none" cap="none" strike="noStrike">
                <a:solidFill>
                  <a:srgbClr val="000000"/>
                </a:solidFill>
                <a:latin typeface="Arial"/>
                <a:ea typeface="Arial"/>
                <a:cs typeface="Arial"/>
                <a:sym typeface="Arial"/>
              </a:endParaRPr>
            </a:p>
          </p:txBody>
        </p:sp>
        <p:sp>
          <p:nvSpPr>
            <p:cNvPr id="514" name="Google Shape;514;p51"/>
            <p:cNvSpPr/>
            <p:nvPr/>
          </p:nvSpPr>
          <p:spPr>
            <a:xfrm>
              <a:off x="8537367" y="1770254"/>
              <a:ext cx="2528775" cy="1517265"/>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51"/>
            <p:cNvSpPr txBox="1"/>
            <p:nvPr/>
          </p:nvSpPr>
          <p:spPr>
            <a:xfrm>
              <a:off x="8537367" y="1770254"/>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CPT</a:t>
              </a:r>
              <a:endParaRPr b="0" i="0" sz="1400" u="none" cap="none" strike="noStrike">
                <a:solidFill>
                  <a:srgbClr val="000000"/>
                </a:solidFill>
                <a:latin typeface="Arial"/>
                <a:ea typeface="Arial"/>
                <a:cs typeface="Arial"/>
                <a:sym typeface="Arial"/>
              </a:endParaRPr>
            </a:p>
          </p:txBody>
        </p:sp>
        <p:sp>
          <p:nvSpPr>
            <p:cNvPr id="516" name="Google Shape;516;p51"/>
            <p:cNvSpPr/>
            <p:nvPr/>
          </p:nvSpPr>
          <p:spPr>
            <a:xfrm>
              <a:off x="192406" y="3540397"/>
              <a:ext cx="2528775" cy="1517265"/>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51"/>
            <p:cNvSpPr txBox="1"/>
            <p:nvPr/>
          </p:nvSpPr>
          <p:spPr>
            <a:xfrm>
              <a:off x="192406" y="3540397"/>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AMIA</a:t>
              </a:r>
              <a:endParaRPr b="0" i="0" sz="1400" u="none" cap="none" strike="noStrike">
                <a:solidFill>
                  <a:srgbClr val="000000"/>
                </a:solidFill>
                <a:latin typeface="Arial"/>
                <a:ea typeface="Arial"/>
                <a:cs typeface="Arial"/>
                <a:sym typeface="Arial"/>
              </a:endParaRPr>
            </a:p>
          </p:txBody>
        </p:sp>
        <p:sp>
          <p:nvSpPr>
            <p:cNvPr id="518" name="Google Shape;518;p51"/>
            <p:cNvSpPr/>
            <p:nvPr/>
          </p:nvSpPr>
          <p:spPr>
            <a:xfrm>
              <a:off x="2974060" y="3540397"/>
              <a:ext cx="2528775" cy="1517265"/>
            </a:xfrm>
            <a:prstGeom prst="rect">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51"/>
            <p:cNvSpPr txBox="1"/>
            <p:nvPr/>
          </p:nvSpPr>
          <p:spPr>
            <a:xfrm>
              <a:off x="2974060" y="3540397"/>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HITECH</a:t>
              </a:r>
              <a:endParaRPr b="0" i="0" sz="1400" u="none" cap="none" strike="noStrike">
                <a:solidFill>
                  <a:srgbClr val="000000"/>
                </a:solidFill>
                <a:latin typeface="Arial"/>
                <a:ea typeface="Arial"/>
                <a:cs typeface="Arial"/>
                <a:sym typeface="Arial"/>
              </a:endParaRPr>
            </a:p>
          </p:txBody>
        </p:sp>
        <p:sp>
          <p:nvSpPr>
            <p:cNvPr id="520" name="Google Shape;520;p51"/>
            <p:cNvSpPr/>
            <p:nvPr/>
          </p:nvSpPr>
          <p:spPr>
            <a:xfrm>
              <a:off x="5755713" y="3540397"/>
              <a:ext cx="2528775" cy="1517265"/>
            </a:xfrm>
            <a:prstGeom prst="rect">
              <a:avLst/>
            </a:prstGeom>
            <a:solidFill>
              <a:srgbClr val="5F9DD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51"/>
            <p:cNvSpPr txBox="1"/>
            <p:nvPr/>
          </p:nvSpPr>
          <p:spPr>
            <a:xfrm>
              <a:off x="5755713" y="3540397"/>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HIPAA</a:t>
              </a:r>
              <a:endParaRPr b="0" i="0" sz="1400" u="none" cap="none" strike="noStrike">
                <a:solidFill>
                  <a:srgbClr val="000000"/>
                </a:solidFill>
                <a:latin typeface="Arial"/>
                <a:ea typeface="Arial"/>
                <a:cs typeface="Arial"/>
                <a:sym typeface="Arial"/>
              </a:endParaRPr>
            </a:p>
          </p:txBody>
        </p:sp>
        <p:sp>
          <p:nvSpPr>
            <p:cNvPr id="522" name="Google Shape;522;p51"/>
            <p:cNvSpPr/>
            <p:nvPr/>
          </p:nvSpPr>
          <p:spPr>
            <a:xfrm>
              <a:off x="8537367" y="3540397"/>
              <a:ext cx="2528775" cy="1517265"/>
            </a:xfrm>
            <a:prstGeom prst="rect">
              <a:avLst/>
            </a:prstGeom>
            <a:solidFill>
              <a:srgbClr val="267FD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51"/>
            <p:cNvSpPr txBox="1"/>
            <p:nvPr/>
          </p:nvSpPr>
          <p:spPr>
            <a:xfrm>
              <a:off x="8537367" y="3540397"/>
              <a:ext cx="2528775" cy="1517265"/>
            </a:xfrm>
            <a:prstGeom prst="rect">
              <a:avLst/>
            </a:prstGeom>
            <a:noFill/>
            <a:ln>
              <a:noFill/>
            </a:ln>
          </p:spPr>
          <p:txBody>
            <a:bodyPr anchorCtr="0" anchor="ctr" bIns="175250" lIns="175250" spcFirstLastPara="1" rIns="175250" wrap="square" tIns="175250">
              <a:noAutofit/>
            </a:bodyPr>
            <a:lstStyle/>
            <a:p>
              <a:pPr indent="0" lvl="0" marL="0" marR="0" rtl="0" algn="ctr">
                <a:lnSpc>
                  <a:spcPct val="90000"/>
                </a:lnSpc>
                <a:spcBef>
                  <a:spcPts val="0"/>
                </a:spcBef>
                <a:spcAft>
                  <a:spcPts val="0"/>
                </a:spcAft>
                <a:buClr>
                  <a:srgbClr val="000000"/>
                </a:buClr>
                <a:buSzPts val="4600"/>
                <a:buFont typeface="Arial"/>
                <a:buNone/>
              </a:pPr>
              <a:r>
                <a:rPr b="0" i="0" lang="en-US" sz="4600" u="none" cap="none" strike="noStrike">
                  <a:solidFill>
                    <a:schemeClr val="lt1"/>
                  </a:solidFill>
                  <a:latin typeface="Arial"/>
                  <a:ea typeface="Arial"/>
                  <a:cs typeface="Arial"/>
                  <a:sym typeface="Arial"/>
                </a:rPr>
                <a:t>LIS</a:t>
              </a:r>
              <a:endParaRPr b="0" i="0" sz="1400" u="none" cap="none" strike="noStrike">
                <a:solidFill>
                  <a:srgbClr val="000000"/>
                </a:solidFill>
                <a:latin typeface="Arial"/>
                <a:ea typeface="Arial"/>
                <a:cs typeface="Arial"/>
                <a:sym typeface="Arial"/>
              </a:endParaRPr>
            </a:p>
          </p:txBody>
        </p:sp>
      </p:grpSp>
      <p:sp>
        <p:nvSpPr>
          <p:cNvPr id="524" name="Google Shape;524;p51"/>
          <p:cNvSpPr txBox="1"/>
          <p:nvPr/>
        </p:nvSpPr>
        <p:spPr>
          <a:xfrm>
            <a:off x="1589" y="231024"/>
            <a:ext cx="12188825" cy="620521"/>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ALPHABET SOUP OF </a:t>
            </a:r>
            <a:r>
              <a:rPr b="1" i="0" lang="en-US" sz="4000" u="none" cap="none" strike="noStrike">
                <a:solidFill>
                  <a:schemeClr val="dk1"/>
                </a:solidFill>
                <a:latin typeface="Arial"/>
                <a:ea typeface="Arial"/>
                <a:cs typeface="Arial"/>
                <a:sym typeface="Arial"/>
              </a:rPr>
              <a:t>CLINICAL</a:t>
            </a:r>
            <a:r>
              <a:rPr b="0" i="0" lang="en-US" sz="4000" u="none" cap="none" strike="noStrike">
                <a:solidFill>
                  <a:schemeClr val="dk1"/>
                </a:solidFill>
                <a:latin typeface="Arial"/>
                <a:ea typeface="Arial"/>
                <a:cs typeface="Arial"/>
                <a:sym typeface="Arial"/>
              </a:rPr>
              <a:t> INFORMATICS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2"/>
          <p:cNvSpPr txBox="1"/>
          <p:nvPr>
            <p:ph idx="4294967295" type="ctrTitle"/>
          </p:nvPr>
        </p:nvSpPr>
        <p:spPr>
          <a:xfrm>
            <a:off x="142875" y="666300"/>
            <a:ext cx="3864600" cy="903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EAS 5850:</a:t>
            </a:r>
            <a:endParaRPr b="1" i="0" sz="2400" u="none" cap="none" strike="noStrike">
              <a:solidFill>
                <a:srgbClr val="003399"/>
              </a:solidFill>
              <a:latin typeface="Arial"/>
              <a:ea typeface="Arial"/>
              <a:cs typeface="Arial"/>
              <a:sym typeface="Arial"/>
            </a:endParaRPr>
          </a:p>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IMAGING INFORMATICS</a:t>
            </a:r>
            <a:endParaRPr b="1" i="0" sz="2400" u="none" cap="none" strike="noStrike">
              <a:solidFill>
                <a:srgbClr val="003399"/>
              </a:solidFill>
              <a:latin typeface="Arial"/>
              <a:ea typeface="Arial"/>
              <a:cs typeface="Arial"/>
              <a:sym typeface="Arial"/>
            </a:endParaRPr>
          </a:p>
        </p:txBody>
      </p:sp>
      <p:sp>
        <p:nvSpPr>
          <p:cNvPr id="530" name="Google Shape;530;p52"/>
          <p:cNvSpPr txBox="1"/>
          <p:nvPr>
            <p:ph idx="4294967295" type="subTitle"/>
          </p:nvPr>
        </p:nvSpPr>
        <p:spPr>
          <a:xfrm>
            <a:off x="142875" y="2708910"/>
            <a:ext cx="3864600" cy="1440180"/>
          </a:xfrm>
          <a:prstGeom prst="rect">
            <a:avLst/>
          </a:prstGeom>
          <a:solidFill>
            <a:schemeClr val="lt1"/>
          </a:solidFill>
          <a:ln cap="flat" cmpd="sng" w="9525">
            <a:solidFill>
              <a:srgbClr val="0033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dk2"/>
              </a:buClr>
              <a:buSzPts val="2000"/>
              <a:buFont typeface="Arial"/>
              <a:buNone/>
            </a:pPr>
            <a:r>
              <a:rPr b="0" i="0" lang="en-US" sz="3600" u="none" cap="none" strike="noStrike">
                <a:solidFill>
                  <a:schemeClr val="dk2"/>
                </a:solidFill>
                <a:latin typeface="Arial"/>
                <a:ea typeface="Arial"/>
                <a:cs typeface="Arial"/>
                <a:sym typeface="Arial"/>
              </a:rPr>
              <a:t>Types of Healthcare Data</a:t>
            </a:r>
            <a:endParaRPr b="0" i="0" sz="5400" u="none" cap="none" strike="noStrike">
              <a:solidFill>
                <a:schemeClr val="dk2"/>
              </a:solidFill>
              <a:latin typeface="Arial"/>
              <a:ea typeface="Arial"/>
              <a:cs typeface="Arial"/>
              <a:sym typeface="Arial"/>
            </a:endParaRPr>
          </a:p>
        </p:txBody>
      </p:sp>
      <p:sp>
        <p:nvSpPr>
          <p:cNvPr id="531" name="Google Shape;531;p52"/>
          <p:cNvSpPr txBox="1"/>
          <p:nvPr/>
        </p:nvSpPr>
        <p:spPr>
          <a:xfrm>
            <a:off x="142875" y="5376850"/>
            <a:ext cx="3864600" cy="492600"/>
          </a:xfrm>
          <a:prstGeom prst="rect">
            <a:avLst/>
          </a:prstGeom>
          <a:solidFill>
            <a:schemeClr val="lt1"/>
          </a:solidFill>
          <a:ln cap="flat" cmpd="sng" w="9525">
            <a:solidFill>
              <a:srgbClr val="33CCCC"/>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accent1"/>
                </a:solidFill>
                <a:latin typeface="Arial"/>
                <a:ea typeface="Arial"/>
                <a:cs typeface="Arial"/>
                <a:sym typeface="Arial"/>
              </a:rPr>
              <a:t>Dr. Tessa S. Cook </a:t>
            </a:r>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grpSp>
        <p:nvGrpSpPr>
          <p:cNvPr id="537" name="Google Shape;537;p53"/>
          <p:cNvGrpSpPr/>
          <p:nvPr/>
        </p:nvGrpSpPr>
        <p:grpSpPr>
          <a:xfrm>
            <a:off x="284479" y="1180828"/>
            <a:ext cx="8421371" cy="5086622"/>
            <a:chOff x="-1" y="0"/>
            <a:chExt cx="8421371" cy="5086622"/>
          </a:xfrm>
        </p:grpSpPr>
        <p:sp>
          <p:nvSpPr>
            <p:cNvPr id="538" name="Google Shape;538;p53"/>
            <p:cNvSpPr/>
            <p:nvPr/>
          </p:nvSpPr>
          <p:spPr>
            <a:xfrm rot="-5400000">
              <a:off x="833686" y="-833686"/>
              <a:ext cx="2543311" cy="4210685"/>
            </a:xfrm>
            <a:prstGeom prst="round1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53"/>
            <p:cNvSpPr txBox="1"/>
            <p:nvPr/>
          </p:nvSpPr>
          <p:spPr>
            <a:xfrm>
              <a:off x="-1" y="1"/>
              <a:ext cx="4210685" cy="1907483"/>
            </a:xfrm>
            <a:prstGeom prst="rect">
              <a:avLst/>
            </a:prstGeom>
            <a:noFill/>
            <a:ln>
              <a:noFill/>
            </a:ln>
          </p:spPr>
          <p:txBody>
            <a:bodyPr anchorCtr="0" anchor="ctr" bIns="341375" lIns="341375" spcFirstLastPara="1" rIns="341375" wrap="square" tIns="341375">
              <a:noAutofit/>
            </a:bodyPr>
            <a:lstStyle/>
            <a:p>
              <a:pPr indent="0" lvl="0" marL="0" marR="0" rtl="0" algn="ctr">
                <a:lnSpc>
                  <a:spcPct val="90000"/>
                </a:lnSpc>
                <a:spcBef>
                  <a:spcPts val="0"/>
                </a:spcBef>
                <a:spcAft>
                  <a:spcPts val="0"/>
                </a:spcAft>
                <a:buClr>
                  <a:srgbClr val="000000"/>
                </a:buClr>
                <a:buSzPts val="4800"/>
                <a:buFont typeface="Arial"/>
                <a:buNone/>
              </a:pPr>
              <a:r>
                <a:rPr b="0" i="0" lang="en-US" sz="4800" u="none" cap="none" strike="noStrike">
                  <a:solidFill>
                    <a:schemeClr val="lt1"/>
                  </a:solidFill>
                  <a:latin typeface="Arial"/>
                  <a:ea typeface="Arial"/>
                  <a:cs typeface="Arial"/>
                  <a:sym typeface="Arial"/>
                </a:rPr>
                <a:t>Patient   data</a:t>
              </a:r>
              <a:endParaRPr b="0" i="0" sz="4800" u="none" cap="none" strike="noStrike">
                <a:solidFill>
                  <a:schemeClr val="lt1"/>
                </a:solidFill>
                <a:latin typeface="Arial"/>
                <a:ea typeface="Arial"/>
                <a:cs typeface="Arial"/>
                <a:sym typeface="Arial"/>
              </a:endParaRPr>
            </a:p>
          </p:txBody>
        </p:sp>
        <p:sp>
          <p:nvSpPr>
            <p:cNvPr id="540" name="Google Shape;540;p53"/>
            <p:cNvSpPr/>
            <p:nvPr/>
          </p:nvSpPr>
          <p:spPr>
            <a:xfrm>
              <a:off x="4210685" y="0"/>
              <a:ext cx="4210685" cy="2543311"/>
            </a:xfrm>
            <a:prstGeom prst="round1Rect">
              <a:avLst>
                <a:gd fmla="val 16667" name="adj"/>
              </a:avLst>
            </a:prstGeom>
            <a:solidFill>
              <a:srgbClr val="728FA9"/>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53"/>
            <p:cNvSpPr txBox="1"/>
            <p:nvPr/>
          </p:nvSpPr>
          <p:spPr>
            <a:xfrm>
              <a:off x="4210685" y="0"/>
              <a:ext cx="4210685" cy="1907483"/>
            </a:xfrm>
            <a:prstGeom prst="rect">
              <a:avLst/>
            </a:prstGeom>
            <a:noFill/>
            <a:ln>
              <a:noFill/>
            </a:ln>
          </p:spPr>
          <p:txBody>
            <a:bodyPr anchorCtr="0" anchor="ctr" bIns="341375" lIns="341375" spcFirstLastPara="1" rIns="341375" wrap="square" tIns="341375">
              <a:noAutofit/>
            </a:bodyPr>
            <a:lstStyle/>
            <a:p>
              <a:pPr indent="0" lvl="0" marL="0" marR="0" rtl="0" algn="ctr">
                <a:lnSpc>
                  <a:spcPct val="90000"/>
                </a:lnSpc>
                <a:spcBef>
                  <a:spcPts val="0"/>
                </a:spcBef>
                <a:spcAft>
                  <a:spcPts val="0"/>
                </a:spcAft>
                <a:buClr>
                  <a:srgbClr val="000000"/>
                </a:buClr>
                <a:buSzPts val="4800"/>
                <a:buFont typeface="Arial"/>
                <a:buNone/>
              </a:pPr>
              <a:r>
                <a:rPr b="0" i="0" lang="en-US" sz="4800" u="none" cap="none" strike="noStrike">
                  <a:solidFill>
                    <a:schemeClr val="lt1"/>
                  </a:solidFill>
                  <a:latin typeface="Arial"/>
                  <a:ea typeface="Arial"/>
                  <a:cs typeface="Arial"/>
                  <a:sym typeface="Arial"/>
                </a:rPr>
                <a:t>Non-patient data</a:t>
              </a:r>
              <a:endParaRPr b="0" i="0" sz="4800" u="none" cap="none" strike="noStrike">
                <a:solidFill>
                  <a:schemeClr val="lt1"/>
                </a:solidFill>
                <a:latin typeface="Arial"/>
                <a:ea typeface="Arial"/>
                <a:cs typeface="Arial"/>
                <a:sym typeface="Arial"/>
              </a:endParaRPr>
            </a:p>
          </p:txBody>
        </p:sp>
        <p:sp>
          <p:nvSpPr>
            <p:cNvPr id="542" name="Google Shape;542;p53"/>
            <p:cNvSpPr/>
            <p:nvPr/>
          </p:nvSpPr>
          <p:spPr>
            <a:xfrm rot="10800000">
              <a:off x="0" y="2543311"/>
              <a:ext cx="4210685" cy="2543311"/>
            </a:xfrm>
            <a:prstGeom prst="round1Rect">
              <a:avLst>
                <a:gd fmla="val 16667" name="adj"/>
              </a:avLst>
            </a:prstGeom>
            <a:solidFill>
              <a:srgbClr val="6695AB"/>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53"/>
            <p:cNvSpPr txBox="1"/>
            <p:nvPr/>
          </p:nvSpPr>
          <p:spPr>
            <a:xfrm>
              <a:off x="0" y="3179138"/>
              <a:ext cx="4210685" cy="1907483"/>
            </a:xfrm>
            <a:prstGeom prst="rect">
              <a:avLst/>
            </a:prstGeom>
            <a:noFill/>
            <a:ln>
              <a:noFill/>
            </a:ln>
          </p:spPr>
          <p:txBody>
            <a:bodyPr anchorCtr="0" anchor="ctr" bIns="341375" lIns="341375" spcFirstLastPara="1" rIns="341375" wrap="square" tIns="341375">
              <a:noAutofit/>
            </a:bodyPr>
            <a:lstStyle/>
            <a:p>
              <a:pPr indent="0" lvl="0" marL="0" marR="0" rtl="0" algn="ctr">
                <a:lnSpc>
                  <a:spcPct val="90000"/>
                </a:lnSpc>
                <a:spcBef>
                  <a:spcPts val="0"/>
                </a:spcBef>
                <a:spcAft>
                  <a:spcPts val="0"/>
                </a:spcAft>
                <a:buClr>
                  <a:srgbClr val="000000"/>
                </a:buClr>
                <a:buSzPts val="4800"/>
                <a:buFont typeface="Arial"/>
                <a:buNone/>
              </a:pPr>
              <a:r>
                <a:rPr b="0" i="0" lang="en-US" sz="4800" u="none" cap="none" strike="noStrike">
                  <a:solidFill>
                    <a:schemeClr val="lt1"/>
                  </a:solidFill>
                  <a:latin typeface="Arial"/>
                  <a:ea typeface="Arial"/>
                  <a:cs typeface="Arial"/>
                  <a:sym typeface="Arial"/>
                </a:rPr>
                <a:t>Clinical   data</a:t>
              </a:r>
              <a:endParaRPr b="0" i="0" sz="1400" u="none" cap="none" strike="noStrike">
                <a:solidFill>
                  <a:srgbClr val="000000"/>
                </a:solidFill>
                <a:latin typeface="Arial"/>
                <a:ea typeface="Arial"/>
                <a:cs typeface="Arial"/>
                <a:sym typeface="Arial"/>
              </a:endParaRPr>
            </a:p>
          </p:txBody>
        </p:sp>
        <p:sp>
          <p:nvSpPr>
            <p:cNvPr id="544" name="Google Shape;544;p53"/>
            <p:cNvSpPr/>
            <p:nvPr/>
          </p:nvSpPr>
          <p:spPr>
            <a:xfrm rot="5400000">
              <a:off x="5044372" y="1709624"/>
              <a:ext cx="2543311" cy="4210685"/>
            </a:xfrm>
            <a:prstGeom prst="round1Rect">
              <a:avLst>
                <a:gd fmla="val 16667" name="adj"/>
              </a:avLst>
            </a:prstGeom>
            <a:solidFill>
              <a:srgbClr val="599FAD"/>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53"/>
            <p:cNvSpPr txBox="1"/>
            <p:nvPr/>
          </p:nvSpPr>
          <p:spPr>
            <a:xfrm>
              <a:off x="4210684" y="3179138"/>
              <a:ext cx="4210685" cy="1907483"/>
            </a:xfrm>
            <a:prstGeom prst="rect">
              <a:avLst/>
            </a:prstGeom>
            <a:noFill/>
            <a:ln>
              <a:noFill/>
            </a:ln>
          </p:spPr>
          <p:txBody>
            <a:bodyPr anchorCtr="0" anchor="ctr" bIns="341375" lIns="341375" spcFirstLastPara="1" rIns="341375" wrap="square" tIns="341375">
              <a:noAutofit/>
            </a:bodyPr>
            <a:lstStyle/>
            <a:p>
              <a:pPr indent="0" lvl="0" marL="0" marR="0" rtl="0" algn="ctr">
                <a:lnSpc>
                  <a:spcPct val="90000"/>
                </a:lnSpc>
                <a:spcBef>
                  <a:spcPts val="0"/>
                </a:spcBef>
                <a:spcAft>
                  <a:spcPts val="0"/>
                </a:spcAft>
                <a:buClr>
                  <a:srgbClr val="000000"/>
                </a:buClr>
                <a:buSzPts val="4800"/>
                <a:buFont typeface="Arial"/>
                <a:buNone/>
              </a:pPr>
              <a:r>
                <a:rPr b="0" i="0" lang="en-US" sz="4800" u="none" cap="none" strike="noStrike">
                  <a:solidFill>
                    <a:schemeClr val="lt1"/>
                  </a:solidFill>
                  <a:latin typeface="Arial"/>
                  <a:ea typeface="Arial"/>
                  <a:cs typeface="Arial"/>
                  <a:sym typeface="Arial"/>
                </a:rPr>
                <a:t>Research data</a:t>
              </a:r>
              <a:endParaRPr b="0" i="0" sz="1400" u="none" cap="none" strike="noStrike">
                <a:solidFill>
                  <a:srgbClr val="000000"/>
                </a:solidFill>
                <a:latin typeface="Arial"/>
                <a:ea typeface="Arial"/>
                <a:cs typeface="Arial"/>
                <a:sym typeface="Arial"/>
              </a:endParaRPr>
            </a:p>
          </p:txBody>
        </p:sp>
        <p:sp>
          <p:nvSpPr>
            <p:cNvPr id="546" name="Google Shape;546;p53"/>
            <p:cNvSpPr/>
            <p:nvPr/>
          </p:nvSpPr>
          <p:spPr>
            <a:xfrm>
              <a:off x="2768205" y="1907483"/>
              <a:ext cx="2884959" cy="1271655"/>
            </a:xfrm>
            <a:prstGeom prst="roundRect">
              <a:avLst>
                <a:gd fmla="val 16667" name="adj"/>
              </a:avLst>
            </a:prstGeom>
            <a:solidFill>
              <a:srgbClr val="D7DBE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53"/>
            <p:cNvSpPr txBox="1"/>
            <p:nvPr/>
          </p:nvSpPr>
          <p:spPr>
            <a:xfrm>
              <a:off x="2830282" y="1969560"/>
              <a:ext cx="2760805" cy="1147501"/>
            </a:xfrm>
            <a:prstGeom prst="rect">
              <a:avLst/>
            </a:prstGeom>
            <a:noFill/>
            <a:ln>
              <a:noFill/>
            </a:ln>
          </p:spPr>
          <p:txBody>
            <a:bodyPr anchorCtr="0" anchor="ctr" bIns="137150" lIns="137150" spcFirstLastPara="1" rIns="137150" wrap="square" tIns="137150">
              <a:noAutofit/>
            </a:bodyPr>
            <a:lstStyle/>
            <a:p>
              <a:pPr indent="0" lvl="0" marL="0" marR="0" rtl="0" algn="ctr">
                <a:lnSpc>
                  <a:spcPct val="9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Healthcare Data</a:t>
              </a:r>
              <a:endParaRPr b="0" i="0" sz="3600" u="none" cap="none" strike="noStrike">
                <a:solidFill>
                  <a:srgbClr val="000000"/>
                </a:solidFill>
                <a:latin typeface="Arial"/>
                <a:ea typeface="Arial"/>
                <a:cs typeface="Arial"/>
                <a:sym typeface="Arial"/>
              </a:endParaRPr>
            </a:p>
          </p:txBody>
        </p:sp>
      </p:grpSp>
      <p:sp>
        <p:nvSpPr>
          <p:cNvPr descr="A simplified matrix diagram illustrating healthcare data categorization, divided into 'Patient data' and 'Non-patient data', with further classification into 'Clinical data' and 'Research data." id="548" name="Google Shape;548;p53"/>
          <p:cNvSpPr txBox="1"/>
          <p:nvPr>
            <p:ph idx="4294967295" type="title"/>
          </p:nvPr>
        </p:nvSpPr>
        <p:spPr>
          <a:xfrm>
            <a:off x="284480" y="247842"/>
            <a:ext cx="8421370"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Types of Healthcare Data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4"/>
          <p:cNvSpPr txBox="1"/>
          <p:nvPr>
            <p:ph idx="1" type="body"/>
          </p:nvPr>
        </p:nvSpPr>
        <p:spPr>
          <a:xfrm>
            <a:off x="284480" y="993406"/>
            <a:ext cx="5811520" cy="5086622"/>
          </a:xfrm>
          <a:prstGeom prst="rect">
            <a:avLst/>
          </a:prstGeom>
          <a:noFill/>
          <a:ln>
            <a:noFill/>
          </a:ln>
        </p:spPr>
        <p:txBody>
          <a:bodyPr anchorCtr="0" anchor="t" bIns="45700" lIns="91425" spcFirstLastPara="1" rIns="91425" wrap="square" tIns="45700">
            <a:noAutofit/>
          </a:bodyPr>
          <a:lstStyle/>
          <a:p>
            <a:pPr indent="0" lvl="0" marL="228600" rtl="0" algn="l">
              <a:lnSpc>
                <a:spcPct val="100000"/>
              </a:lnSpc>
              <a:spcBef>
                <a:spcPts val="1000"/>
              </a:spcBef>
              <a:spcAft>
                <a:spcPts val="0"/>
              </a:spcAft>
              <a:buSzPts val="2800"/>
              <a:buNone/>
            </a:pPr>
            <a:r>
              <a:rPr lang="en-US" sz="4000"/>
              <a:t>Notes &amp; documents</a:t>
            </a:r>
            <a:endParaRPr/>
          </a:p>
          <a:p>
            <a:pPr indent="0" lvl="0" marL="228600" rtl="0" algn="l">
              <a:lnSpc>
                <a:spcPct val="100000"/>
              </a:lnSpc>
              <a:spcBef>
                <a:spcPts val="1000"/>
              </a:spcBef>
              <a:spcAft>
                <a:spcPts val="0"/>
              </a:spcAft>
              <a:buSzPts val="2800"/>
              <a:buNone/>
            </a:pPr>
            <a:r>
              <a:rPr lang="en-US" sz="4000"/>
              <a:t>Vital signs</a:t>
            </a:r>
            <a:endParaRPr/>
          </a:p>
          <a:p>
            <a:pPr indent="0" lvl="0" marL="228600" rtl="0" algn="l">
              <a:lnSpc>
                <a:spcPct val="100000"/>
              </a:lnSpc>
              <a:spcBef>
                <a:spcPts val="1000"/>
              </a:spcBef>
              <a:spcAft>
                <a:spcPts val="0"/>
              </a:spcAft>
              <a:buSzPts val="2800"/>
              <a:buNone/>
            </a:pPr>
            <a:r>
              <a:rPr lang="en-US" sz="4000"/>
              <a:t>Test results</a:t>
            </a:r>
            <a:endParaRPr/>
          </a:p>
          <a:p>
            <a:pPr indent="0" lvl="0" marL="228600" rtl="0" algn="l">
              <a:lnSpc>
                <a:spcPct val="100000"/>
              </a:lnSpc>
              <a:spcBef>
                <a:spcPts val="1000"/>
              </a:spcBef>
              <a:spcAft>
                <a:spcPts val="0"/>
              </a:spcAft>
              <a:buSzPts val="2800"/>
              <a:buNone/>
            </a:pPr>
            <a:r>
              <a:rPr lang="en-US" sz="4000"/>
              <a:t>Images</a:t>
            </a:r>
            <a:endParaRPr/>
          </a:p>
          <a:p>
            <a:pPr indent="0" lvl="0" marL="228600" rtl="0" algn="l">
              <a:lnSpc>
                <a:spcPct val="100000"/>
              </a:lnSpc>
              <a:spcBef>
                <a:spcPts val="1000"/>
              </a:spcBef>
              <a:spcAft>
                <a:spcPts val="0"/>
              </a:spcAft>
              <a:buSzPts val="2800"/>
              <a:buNone/>
            </a:pPr>
            <a:r>
              <a:rPr lang="en-US" sz="4000"/>
              <a:t>Vaccinations</a:t>
            </a:r>
            <a:endParaRPr/>
          </a:p>
          <a:p>
            <a:pPr indent="0" lvl="0" marL="228600" rtl="0" algn="l">
              <a:lnSpc>
                <a:spcPct val="100000"/>
              </a:lnSpc>
              <a:spcBef>
                <a:spcPts val="1000"/>
              </a:spcBef>
              <a:spcAft>
                <a:spcPts val="0"/>
              </a:spcAft>
              <a:buSzPts val="2800"/>
              <a:buNone/>
            </a:pPr>
            <a:r>
              <a:rPr lang="en-US" sz="4000"/>
              <a:t>Medications </a:t>
            </a:r>
            <a:endParaRPr/>
          </a:p>
          <a:p>
            <a:pPr indent="0" lvl="0" marL="228600" rtl="0" algn="l">
              <a:lnSpc>
                <a:spcPct val="100000"/>
              </a:lnSpc>
              <a:spcBef>
                <a:spcPts val="1000"/>
              </a:spcBef>
              <a:spcAft>
                <a:spcPts val="0"/>
              </a:spcAft>
              <a:buSzPts val="2800"/>
              <a:buNone/>
            </a:pPr>
            <a:r>
              <a:rPr lang="en-US" sz="4000"/>
              <a:t>Administrative</a:t>
            </a:r>
            <a:endParaRPr/>
          </a:p>
        </p:txBody>
      </p:sp>
      <p:pic>
        <p:nvPicPr>
          <p:cNvPr descr="Image with cocentric circle with binary number" id="555" name="Google Shape;555;p54"/>
          <p:cNvPicPr preferRelativeResize="0"/>
          <p:nvPr>
            <p:ph idx="2" type="body"/>
          </p:nvPr>
        </p:nvPicPr>
        <p:blipFill rotWithShape="1">
          <a:blip r:embed="rId3">
            <a:alphaModFix/>
          </a:blip>
          <a:srcRect b="0" l="0" r="0" t="0"/>
          <a:stretch/>
        </p:blipFill>
        <p:spPr>
          <a:xfrm>
            <a:off x="6249988" y="1836698"/>
            <a:ext cx="5668962" cy="3775154"/>
          </a:xfrm>
          <a:prstGeom prst="rect">
            <a:avLst/>
          </a:prstGeom>
          <a:noFill/>
          <a:ln>
            <a:noFill/>
          </a:ln>
        </p:spPr>
      </p:pic>
      <p:sp>
        <p:nvSpPr>
          <p:cNvPr id="556" name="Google Shape;556;p54"/>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Patient Data</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5"/>
          <p:cNvSpPr txBox="1"/>
          <p:nvPr>
            <p:ph idx="1" type="body"/>
          </p:nvPr>
        </p:nvSpPr>
        <p:spPr>
          <a:xfrm>
            <a:off x="284480" y="1180828"/>
            <a:ext cx="5811600" cy="5086500"/>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SzPts val="2800"/>
              <a:buNone/>
            </a:pPr>
            <a:r>
              <a:rPr lang="en-US" sz="3600"/>
              <a:t>Utilization</a:t>
            </a:r>
            <a:endParaRPr/>
          </a:p>
          <a:p>
            <a:pPr indent="-228600" lvl="0" marL="457200" rtl="0" algn="l">
              <a:lnSpc>
                <a:spcPct val="110000"/>
              </a:lnSpc>
              <a:spcBef>
                <a:spcPts val="1000"/>
              </a:spcBef>
              <a:spcAft>
                <a:spcPts val="0"/>
              </a:spcAft>
              <a:buSzPts val="2800"/>
              <a:buNone/>
            </a:pPr>
            <a:r>
              <a:rPr lang="en-US" sz="3600"/>
              <a:t>Retention</a:t>
            </a:r>
            <a:endParaRPr/>
          </a:p>
          <a:p>
            <a:pPr indent="-228600" lvl="0" marL="457200" rtl="0" algn="l">
              <a:lnSpc>
                <a:spcPct val="110000"/>
              </a:lnSpc>
              <a:spcBef>
                <a:spcPts val="1000"/>
              </a:spcBef>
              <a:spcAft>
                <a:spcPts val="0"/>
              </a:spcAft>
              <a:buSzPts val="2800"/>
              <a:buNone/>
            </a:pPr>
            <a:r>
              <a:rPr lang="en-US" sz="3600"/>
              <a:t>Access</a:t>
            </a:r>
            <a:endParaRPr/>
          </a:p>
          <a:p>
            <a:pPr indent="-228600" lvl="0" marL="457200" rtl="0" algn="l">
              <a:lnSpc>
                <a:spcPct val="110000"/>
              </a:lnSpc>
              <a:spcBef>
                <a:spcPts val="1000"/>
              </a:spcBef>
              <a:spcAft>
                <a:spcPts val="0"/>
              </a:spcAft>
              <a:buSzPts val="2800"/>
              <a:buNone/>
            </a:pPr>
            <a:r>
              <a:rPr lang="en-US" sz="3600"/>
              <a:t>Finances</a:t>
            </a:r>
            <a:endParaRPr/>
          </a:p>
          <a:p>
            <a:pPr indent="-228600" lvl="0" marL="457200" rtl="0" algn="l">
              <a:lnSpc>
                <a:spcPct val="110000"/>
              </a:lnSpc>
              <a:spcBef>
                <a:spcPts val="1000"/>
              </a:spcBef>
              <a:spcAft>
                <a:spcPts val="0"/>
              </a:spcAft>
              <a:buSzPts val="2800"/>
              <a:buNone/>
            </a:pPr>
            <a:r>
              <a:rPr lang="en-US" sz="3600"/>
              <a:t>Contracts</a:t>
            </a:r>
            <a:endParaRPr/>
          </a:p>
          <a:p>
            <a:pPr indent="-228600" lvl="0" marL="457200" rtl="0" algn="l">
              <a:lnSpc>
                <a:spcPct val="110000"/>
              </a:lnSpc>
              <a:spcBef>
                <a:spcPts val="1000"/>
              </a:spcBef>
              <a:spcAft>
                <a:spcPts val="0"/>
              </a:spcAft>
              <a:buSzPts val="2800"/>
              <a:buNone/>
            </a:pPr>
            <a:r>
              <a:rPr lang="en-US" sz="3600"/>
              <a:t>Medicolegal</a:t>
            </a:r>
            <a:endParaRPr/>
          </a:p>
          <a:p>
            <a:pPr indent="-228600" lvl="0" marL="457200" rtl="0" algn="l">
              <a:lnSpc>
                <a:spcPct val="110000"/>
              </a:lnSpc>
              <a:spcBef>
                <a:spcPts val="1000"/>
              </a:spcBef>
              <a:spcAft>
                <a:spcPts val="0"/>
              </a:spcAft>
              <a:buSzPts val="2800"/>
              <a:buNone/>
            </a:pPr>
            <a:r>
              <a:t/>
            </a:r>
            <a:endParaRPr sz="3600"/>
          </a:p>
        </p:txBody>
      </p:sp>
      <p:sp>
        <p:nvSpPr>
          <p:cNvPr id="563" name="Google Shape;563;p55"/>
          <p:cNvSpPr txBox="1"/>
          <p:nvPr>
            <p:ph type="title"/>
          </p:nvPr>
        </p:nvSpPr>
        <p:spPr>
          <a:xfrm>
            <a:off x="284480" y="247842"/>
            <a:ext cx="11634900" cy="745500"/>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Non-Patient Data</a:t>
            </a:r>
            <a:endParaRPr/>
          </a:p>
        </p:txBody>
      </p:sp>
      <p:pic>
        <p:nvPicPr>
          <p:cNvPr descr="A picture containing laptop and some analysis documents." id="564" name="Google Shape;564;p55"/>
          <p:cNvPicPr preferRelativeResize="0"/>
          <p:nvPr>
            <p:ph idx="2" type="body"/>
          </p:nvPr>
        </p:nvPicPr>
        <p:blipFill rotWithShape="1">
          <a:blip r:embed="rId3">
            <a:alphaModFix/>
          </a:blip>
          <a:srcRect b="0" l="0" r="0" t="0"/>
          <a:stretch/>
        </p:blipFill>
        <p:spPr>
          <a:xfrm>
            <a:off x="6249988" y="1834081"/>
            <a:ext cx="5669100" cy="37803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6"/>
          <p:cNvSpPr txBox="1"/>
          <p:nvPr>
            <p:ph idx="4294967295" type="title"/>
          </p:nvPr>
        </p:nvSpPr>
        <p:spPr>
          <a:xfrm>
            <a:off x="284480" y="247842"/>
            <a:ext cx="5735320"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Clinical Data</a:t>
            </a:r>
            <a:endParaRPr/>
          </a:p>
        </p:txBody>
      </p:sp>
      <p:sp>
        <p:nvSpPr>
          <p:cNvPr id="571" name="Google Shape;571;p56"/>
          <p:cNvSpPr txBox="1"/>
          <p:nvPr>
            <p:ph idx="4294967295" type="body"/>
          </p:nvPr>
        </p:nvSpPr>
        <p:spPr>
          <a:xfrm>
            <a:off x="284479" y="1221919"/>
            <a:ext cx="5735321" cy="4931773"/>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Clr>
                <a:schemeClr val="dk2"/>
              </a:buClr>
              <a:buSzPts val="1800"/>
              <a:buNone/>
            </a:pPr>
            <a:r>
              <a:rPr lang="en-US" sz="3200"/>
              <a:t>Data used primarily to deliver patient care in various settings</a:t>
            </a:r>
            <a:endParaRPr/>
          </a:p>
          <a:p>
            <a:pPr indent="-228600" lvl="0" marL="457200" rtl="0" algn="l">
              <a:lnSpc>
                <a:spcPct val="110000"/>
              </a:lnSpc>
              <a:spcBef>
                <a:spcPts val="1000"/>
              </a:spcBef>
              <a:spcAft>
                <a:spcPts val="0"/>
              </a:spcAft>
              <a:buClr>
                <a:schemeClr val="dk2"/>
              </a:buClr>
              <a:buSzPts val="1800"/>
              <a:buNone/>
            </a:pPr>
            <a:r>
              <a:t/>
            </a:r>
            <a:endParaRPr sz="3200"/>
          </a:p>
          <a:p>
            <a:pPr indent="-228600" lvl="0" marL="457200" rtl="0" algn="l">
              <a:lnSpc>
                <a:spcPct val="110000"/>
              </a:lnSpc>
              <a:spcBef>
                <a:spcPts val="1000"/>
              </a:spcBef>
              <a:spcAft>
                <a:spcPts val="0"/>
              </a:spcAft>
              <a:buClr>
                <a:schemeClr val="dk2"/>
              </a:buClr>
              <a:buSzPts val="1800"/>
              <a:buNone/>
            </a:pPr>
            <a:r>
              <a:rPr lang="en-US" sz="3200"/>
              <a:t>Can subsequently be used for research with approvals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7"/>
          <p:cNvSpPr txBox="1"/>
          <p:nvPr>
            <p:ph idx="4294967295" type="title"/>
          </p:nvPr>
        </p:nvSpPr>
        <p:spPr>
          <a:xfrm>
            <a:off x="284480" y="247842"/>
            <a:ext cx="5735320"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Research Data</a:t>
            </a:r>
            <a:endParaRPr/>
          </a:p>
        </p:txBody>
      </p:sp>
      <p:sp>
        <p:nvSpPr>
          <p:cNvPr id="578" name="Google Shape;578;p57"/>
          <p:cNvSpPr txBox="1"/>
          <p:nvPr>
            <p:ph idx="4294967295" type="body"/>
          </p:nvPr>
        </p:nvSpPr>
        <p:spPr>
          <a:xfrm>
            <a:off x="284479" y="1221919"/>
            <a:ext cx="5735321" cy="4931773"/>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Clr>
                <a:schemeClr val="dk2"/>
              </a:buClr>
              <a:buSzPts val="1800"/>
              <a:buNone/>
            </a:pPr>
            <a:r>
              <a:rPr lang="en-US" sz="3200"/>
              <a:t>Primarily acquired for scientific study</a:t>
            </a:r>
            <a:endParaRPr/>
          </a:p>
          <a:p>
            <a:pPr indent="-228600" lvl="0" marL="457200" rtl="0" algn="l">
              <a:lnSpc>
                <a:spcPct val="110000"/>
              </a:lnSpc>
              <a:spcBef>
                <a:spcPts val="1000"/>
              </a:spcBef>
              <a:spcAft>
                <a:spcPts val="0"/>
              </a:spcAft>
              <a:buClr>
                <a:schemeClr val="dk2"/>
              </a:buClr>
              <a:buSzPts val="1800"/>
              <a:buNone/>
            </a:pPr>
            <a:r>
              <a:rPr lang="en-US" sz="3200"/>
              <a:t>	</a:t>
            </a:r>
            <a:endParaRPr/>
          </a:p>
          <a:p>
            <a:pPr indent="-228600" lvl="0" marL="457200" rtl="0" algn="l">
              <a:lnSpc>
                <a:spcPct val="110000"/>
              </a:lnSpc>
              <a:spcBef>
                <a:spcPts val="1000"/>
              </a:spcBef>
              <a:spcAft>
                <a:spcPts val="0"/>
              </a:spcAft>
              <a:buClr>
                <a:schemeClr val="dk2"/>
              </a:buClr>
              <a:buSzPts val="1800"/>
              <a:buNone/>
            </a:pPr>
            <a:r>
              <a:rPr lang="en-US" sz="3200"/>
              <a:t>Occasionally reveals abnormalities that require medical attention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8"/>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Clr>
                <a:srgbClr val="003399"/>
              </a:buClr>
              <a:buSzPct val="50000"/>
              <a:buNone/>
            </a:pPr>
            <a:r>
              <a:rPr lang="en-US"/>
              <a:t>Protected Health Information (PHI)</a:t>
            </a:r>
            <a:endParaRPr/>
          </a:p>
        </p:txBody>
      </p:sp>
      <p:sp>
        <p:nvSpPr>
          <p:cNvPr id="585" name="Google Shape;585;p58"/>
          <p:cNvSpPr txBox="1"/>
          <p:nvPr>
            <p:ph idx="1" type="body"/>
          </p:nvPr>
        </p:nvSpPr>
        <p:spPr>
          <a:xfrm>
            <a:off x="284480" y="1241248"/>
            <a:ext cx="11634776" cy="5003783"/>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Clr>
                <a:schemeClr val="dk2"/>
              </a:buClr>
              <a:buSzPts val="1800"/>
              <a:buNone/>
            </a:pPr>
            <a:r>
              <a:rPr lang="en-US"/>
              <a:t>Defined by the Health Insurance Portability and Accountability Act (1996), aka HIPAA</a:t>
            </a:r>
            <a:endParaRPr/>
          </a:p>
          <a:p>
            <a:pPr indent="-228600" lvl="0" marL="457200" rtl="0" algn="l">
              <a:lnSpc>
                <a:spcPct val="110000"/>
              </a:lnSpc>
              <a:spcBef>
                <a:spcPts val="1000"/>
              </a:spcBef>
              <a:spcAft>
                <a:spcPts val="0"/>
              </a:spcAft>
              <a:buClr>
                <a:schemeClr val="dk2"/>
              </a:buClr>
              <a:buSzPts val="1800"/>
              <a:buNone/>
            </a:pPr>
            <a:r>
              <a:rPr lang="en-US"/>
              <a:t>Administered by the US Department of Health and Human Services (HHS)</a:t>
            </a:r>
            <a:endParaRPr/>
          </a:p>
          <a:p>
            <a:pPr indent="-228600" lvl="0" marL="457200" rtl="0" algn="l">
              <a:lnSpc>
                <a:spcPct val="110000"/>
              </a:lnSpc>
              <a:spcBef>
                <a:spcPts val="1000"/>
              </a:spcBef>
              <a:spcAft>
                <a:spcPts val="0"/>
              </a:spcAft>
              <a:buClr>
                <a:schemeClr val="dk2"/>
              </a:buClr>
              <a:buSzPts val="1800"/>
              <a:buNone/>
            </a:pPr>
            <a:r>
              <a:t/>
            </a:r>
            <a:endParaRPr/>
          </a:p>
        </p:txBody>
      </p:sp>
      <p:grpSp>
        <p:nvGrpSpPr>
          <p:cNvPr id="586" name="Google Shape;586;p58"/>
          <p:cNvGrpSpPr/>
          <p:nvPr/>
        </p:nvGrpSpPr>
        <p:grpSpPr>
          <a:xfrm>
            <a:off x="2976751" y="3187376"/>
            <a:ext cx="6238497" cy="3043732"/>
            <a:chOff x="653" y="13921"/>
            <a:chExt cx="6238497" cy="3043732"/>
          </a:xfrm>
        </p:grpSpPr>
        <p:sp>
          <p:nvSpPr>
            <p:cNvPr id="587" name="Google Shape;587;p58"/>
            <p:cNvSpPr/>
            <p:nvPr/>
          </p:nvSpPr>
          <p:spPr>
            <a:xfrm rot="-5400000">
              <a:off x="653" y="13921"/>
              <a:ext cx="3043732" cy="3043732"/>
            </a:xfrm>
            <a:prstGeom prst="downArrow">
              <a:avLst>
                <a:gd fmla="val 50000" name="adj1"/>
                <a:gd fmla="val 35000" name="adj2"/>
              </a:avLst>
            </a:prstGeom>
            <a:solidFill>
              <a:srgbClr val="5F9DD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58"/>
            <p:cNvSpPr txBox="1"/>
            <p:nvPr/>
          </p:nvSpPr>
          <p:spPr>
            <a:xfrm>
              <a:off x="654" y="774853"/>
              <a:ext cx="2511079" cy="1521866"/>
            </a:xfrm>
            <a:prstGeom prst="rect">
              <a:avLst/>
            </a:prstGeom>
            <a:noFill/>
            <a:ln>
              <a:noFill/>
            </a:ln>
          </p:spPr>
          <p:txBody>
            <a:bodyPr anchorCtr="0" anchor="ctr" bIns="426700" lIns="426700" spcFirstLastPara="1" rIns="426700" wrap="square" tIns="426700">
              <a:noAutofit/>
            </a:bodyPr>
            <a:lstStyle/>
            <a:p>
              <a:pPr indent="0" lvl="0" marL="0" marR="0" rtl="0" algn="ctr">
                <a:lnSpc>
                  <a:spcPct val="90000"/>
                </a:lnSpc>
                <a:spcBef>
                  <a:spcPts val="0"/>
                </a:spcBef>
                <a:spcAft>
                  <a:spcPts val="0"/>
                </a:spcAft>
                <a:buClr>
                  <a:srgbClr val="000000"/>
                </a:buClr>
                <a:buSzPts val="6000"/>
                <a:buFont typeface="Arial"/>
                <a:buNone/>
              </a:pPr>
              <a:r>
                <a:rPr b="1" i="0" lang="en-US" sz="6000" u="none" cap="none" strike="noStrike">
                  <a:solidFill>
                    <a:schemeClr val="lt1"/>
                  </a:solidFill>
                  <a:latin typeface="Arial Black"/>
                  <a:ea typeface="Arial Black"/>
                  <a:cs typeface="Arial Black"/>
                  <a:sym typeface="Arial Black"/>
                </a:rPr>
                <a:t>P</a:t>
              </a:r>
              <a:r>
                <a:rPr b="1" i="0" lang="en-US" sz="6000" u="none" cap="none" strike="noStrike">
                  <a:solidFill>
                    <a:srgbClr val="FFFF00"/>
                  </a:solidFill>
                  <a:latin typeface="Arial Black"/>
                  <a:ea typeface="Arial Black"/>
                  <a:cs typeface="Arial Black"/>
                  <a:sym typeface="Arial Black"/>
                </a:rPr>
                <a:t>I</a:t>
              </a:r>
              <a:r>
                <a:rPr b="1" i="0" lang="en-US" sz="6000" u="none" cap="none" strike="noStrike">
                  <a:solidFill>
                    <a:schemeClr val="lt1"/>
                  </a:solidFill>
                  <a:latin typeface="Arial Black"/>
                  <a:ea typeface="Arial Black"/>
                  <a:cs typeface="Arial Black"/>
                  <a:sym typeface="Arial Black"/>
                </a:rPr>
                <a:t>I</a:t>
              </a:r>
              <a:endParaRPr b="1" i="0" sz="6000" u="none" cap="none" strike="noStrike">
                <a:solidFill>
                  <a:schemeClr val="lt1"/>
                </a:solidFill>
                <a:latin typeface="Arial Black"/>
                <a:ea typeface="Arial Black"/>
                <a:cs typeface="Arial Black"/>
                <a:sym typeface="Arial Black"/>
              </a:endParaRPr>
            </a:p>
          </p:txBody>
        </p:sp>
        <p:sp>
          <p:nvSpPr>
            <p:cNvPr id="589" name="Google Shape;589;p58"/>
            <p:cNvSpPr/>
            <p:nvPr/>
          </p:nvSpPr>
          <p:spPr>
            <a:xfrm rot="5400000">
              <a:off x="3195417" y="13921"/>
              <a:ext cx="3043732" cy="3043732"/>
            </a:xfrm>
            <a:prstGeom prst="downArrow">
              <a:avLst>
                <a:gd fmla="val 50000" name="adj1"/>
                <a:gd fmla="val 35000" name="adj2"/>
              </a:avLst>
            </a:prstGeom>
            <a:solidFill>
              <a:srgbClr val="267F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58"/>
            <p:cNvSpPr txBox="1"/>
            <p:nvPr/>
          </p:nvSpPr>
          <p:spPr>
            <a:xfrm>
              <a:off x="3728071" y="774854"/>
              <a:ext cx="2511079" cy="1521866"/>
            </a:xfrm>
            <a:prstGeom prst="rect">
              <a:avLst/>
            </a:prstGeom>
            <a:noFill/>
            <a:ln>
              <a:noFill/>
            </a:ln>
          </p:spPr>
          <p:txBody>
            <a:bodyPr anchorCtr="0" anchor="ctr" bIns="426700" lIns="426700" spcFirstLastPara="1" rIns="426700" wrap="square" tIns="426700">
              <a:noAutofit/>
            </a:bodyPr>
            <a:lstStyle/>
            <a:p>
              <a:pPr indent="0" lvl="0" marL="0" marR="0" rtl="0" algn="ctr">
                <a:lnSpc>
                  <a:spcPct val="90000"/>
                </a:lnSpc>
                <a:spcBef>
                  <a:spcPts val="0"/>
                </a:spcBef>
                <a:spcAft>
                  <a:spcPts val="0"/>
                </a:spcAft>
                <a:buClr>
                  <a:srgbClr val="000000"/>
                </a:buClr>
                <a:buSzPts val="6000"/>
                <a:buFont typeface="Arial"/>
                <a:buNone/>
              </a:pPr>
              <a:r>
                <a:rPr b="1" i="0" lang="en-US" sz="6000" u="none" cap="none" strike="noStrike">
                  <a:solidFill>
                    <a:schemeClr val="lt1"/>
                  </a:solidFill>
                  <a:latin typeface="Arial Black"/>
                  <a:ea typeface="Arial Black"/>
                  <a:cs typeface="Arial Black"/>
                  <a:sym typeface="Arial Black"/>
                </a:rPr>
                <a:t>P</a:t>
              </a:r>
              <a:r>
                <a:rPr b="1" i="0" lang="en-US" sz="6000" u="none" cap="none" strike="noStrike">
                  <a:solidFill>
                    <a:srgbClr val="FFFF00"/>
                  </a:solidFill>
                  <a:latin typeface="Arial Black"/>
                  <a:ea typeface="Arial Black"/>
                  <a:cs typeface="Arial Black"/>
                  <a:sym typeface="Arial Black"/>
                </a:rPr>
                <a:t>H</a:t>
              </a:r>
              <a:r>
                <a:rPr b="1" i="0" lang="en-US" sz="6000" u="none" cap="none" strike="noStrike">
                  <a:solidFill>
                    <a:schemeClr val="lt1"/>
                  </a:solidFill>
                  <a:latin typeface="Arial Black"/>
                  <a:ea typeface="Arial Black"/>
                  <a:cs typeface="Arial Black"/>
                  <a:sym typeface="Arial Black"/>
                </a:rPr>
                <a:t>I</a:t>
              </a:r>
              <a:endParaRPr b="1" i="0" sz="6000" u="none" cap="none" strike="noStrike">
                <a:solidFill>
                  <a:schemeClr val="lt1"/>
                </a:solidFill>
                <a:latin typeface="Arial Black"/>
                <a:ea typeface="Arial Black"/>
                <a:cs typeface="Arial Black"/>
                <a:sym typeface="Arial Black"/>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9"/>
          <p:cNvSpPr txBox="1"/>
          <p:nvPr>
            <p:ph idx="1" type="body"/>
          </p:nvPr>
        </p:nvSpPr>
        <p:spPr>
          <a:xfrm>
            <a:off x="284480" y="1180828"/>
            <a:ext cx="5811520" cy="5086622"/>
          </a:xfrm>
          <a:prstGeom prst="rect">
            <a:avLst/>
          </a:prstGeom>
          <a:noFill/>
          <a:ln>
            <a:noFill/>
          </a:ln>
        </p:spPr>
        <p:txBody>
          <a:bodyPr anchorCtr="0" anchor="t" bIns="45700" lIns="91425" spcFirstLastPara="1" rIns="91425" wrap="square" tIns="45700">
            <a:normAutofit/>
          </a:bodyPr>
          <a:lstStyle/>
          <a:p>
            <a:pPr indent="-457200" lvl="0" marL="685800" rtl="0" algn="l">
              <a:lnSpc>
                <a:spcPct val="110000"/>
              </a:lnSpc>
              <a:spcBef>
                <a:spcPts val="1000"/>
              </a:spcBef>
              <a:spcAft>
                <a:spcPts val="0"/>
              </a:spcAft>
              <a:buSzPts val="1800"/>
              <a:buFont typeface="Noto Sans Symbols"/>
              <a:buChar char="❖"/>
            </a:pPr>
            <a:r>
              <a:rPr lang="en-US" sz="3600"/>
              <a:t>Personally Identifiable Information (PII)</a:t>
            </a:r>
            <a:endParaRPr/>
          </a:p>
          <a:p>
            <a:pPr indent="-457200" lvl="1" marL="1143000" rtl="0" algn="l">
              <a:lnSpc>
                <a:spcPct val="110000"/>
              </a:lnSpc>
              <a:spcBef>
                <a:spcPts val="500"/>
              </a:spcBef>
              <a:spcAft>
                <a:spcPts val="0"/>
              </a:spcAft>
              <a:buSzPts val="1530"/>
              <a:buFont typeface="Noto Sans Symbols"/>
              <a:buChar char="❖"/>
            </a:pPr>
            <a:r>
              <a:rPr lang="en-US" sz="3200"/>
              <a:t>Any information that can identify you</a:t>
            </a:r>
            <a:endParaRPr/>
          </a:p>
          <a:p>
            <a:pPr indent="-457200" lvl="1" marL="1143000" rtl="0" algn="l">
              <a:lnSpc>
                <a:spcPct val="110000"/>
              </a:lnSpc>
              <a:spcBef>
                <a:spcPts val="500"/>
              </a:spcBef>
              <a:spcAft>
                <a:spcPts val="0"/>
              </a:spcAft>
              <a:buSzPts val="1530"/>
              <a:buFont typeface="Noto Sans Symbols"/>
              <a:buChar char="❖"/>
            </a:pPr>
            <a:r>
              <a:rPr lang="en-US" sz="3200"/>
              <a:t>Card numbers</a:t>
            </a:r>
            <a:endParaRPr/>
          </a:p>
          <a:p>
            <a:pPr indent="-457200" lvl="1" marL="1143000" rtl="0" algn="l">
              <a:lnSpc>
                <a:spcPct val="110000"/>
              </a:lnSpc>
              <a:spcBef>
                <a:spcPts val="500"/>
              </a:spcBef>
              <a:spcAft>
                <a:spcPts val="0"/>
              </a:spcAft>
              <a:buSzPts val="1530"/>
              <a:buFont typeface="Noto Sans Symbols"/>
              <a:buChar char="❖"/>
            </a:pPr>
            <a:r>
              <a:rPr lang="en-US" sz="3200"/>
              <a:t>Addresses</a:t>
            </a:r>
            <a:endParaRPr/>
          </a:p>
          <a:p>
            <a:pPr indent="-457200" lvl="1" marL="1143000" rtl="0" algn="l">
              <a:lnSpc>
                <a:spcPct val="110000"/>
              </a:lnSpc>
              <a:spcBef>
                <a:spcPts val="500"/>
              </a:spcBef>
              <a:spcAft>
                <a:spcPts val="0"/>
              </a:spcAft>
              <a:buSzPts val="1530"/>
              <a:buFont typeface="Noto Sans Symbols"/>
              <a:buChar char="❖"/>
            </a:pPr>
            <a:r>
              <a:rPr lang="en-US" sz="3200"/>
              <a:t>Biometrics </a:t>
            </a:r>
            <a:endParaRPr/>
          </a:p>
          <a:p>
            <a:pPr indent="-457200" lvl="1" marL="1143000" rtl="0" algn="l">
              <a:lnSpc>
                <a:spcPct val="110000"/>
              </a:lnSpc>
              <a:spcBef>
                <a:spcPts val="500"/>
              </a:spcBef>
              <a:spcAft>
                <a:spcPts val="0"/>
              </a:spcAft>
              <a:buSzPts val="1530"/>
              <a:buFont typeface="Noto Sans Symbols"/>
              <a:buChar char="❖"/>
            </a:pPr>
            <a:r>
              <a:rPr lang="en-US" sz="3200"/>
              <a:t>Electronic identifiers</a:t>
            </a:r>
            <a:endParaRPr/>
          </a:p>
        </p:txBody>
      </p:sp>
      <p:sp>
        <p:nvSpPr>
          <p:cNvPr id="597" name="Google Shape;597;p59"/>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a:bodyPr>
          <a:lstStyle/>
          <a:p>
            <a:pPr indent="-457200" lvl="0" marL="685800" rtl="0" algn="l">
              <a:lnSpc>
                <a:spcPct val="110000"/>
              </a:lnSpc>
              <a:spcBef>
                <a:spcPts val="1000"/>
              </a:spcBef>
              <a:spcAft>
                <a:spcPts val="0"/>
              </a:spcAft>
              <a:buSzPts val="1800"/>
              <a:buFont typeface="Noto Sans Symbols"/>
              <a:buChar char="❖"/>
            </a:pPr>
            <a:r>
              <a:rPr lang="en-US" sz="3600"/>
              <a:t>Protected Health Information (PHI)</a:t>
            </a:r>
            <a:endParaRPr/>
          </a:p>
          <a:p>
            <a:pPr indent="-457200" lvl="1" marL="1143000" rtl="0" algn="l">
              <a:lnSpc>
                <a:spcPct val="110000"/>
              </a:lnSpc>
              <a:spcBef>
                <a:spcPts val="500"/>
              </a:spcBef>
              <a:spcAft>
                <a:spcPts val="0"/>
              </a:spcAft>
              <a:buSzPts val="1530"/>
              <a:buFont typeface="Noto Sans Symbols"/>
              <a:buChar char="❖"/>
            </a:pPr>
            <a:r>
              <a:rPr lang="en-US" sz="3200"/>
              <a:t>Subset of PII used in healthcare</a:t>
            </a:r>
            <a:endParaRPr/>
          </a:p>
          <a:p>
            <a:pPr indent="-457200" lvl="1" marL="1143000" rtl="0" algn="l">
              <a:lnSpc>
                <a:spcPct val="110000"/>
              </a:lnSpc>
              <a:spcBef>
                <a:spcPts val="500"/>
              </a:spcBef>
              <a:spcAft>
                <a:spcPts val="0"/>
              </a:spcAft>
              <a:buSzPts val="1530"/>
              <a:buFont typeface="Noto Sans Symbols"/>
              <a:buChar char="❖"/>
            </a:pPr>
            <a:r>
              <a:rPr lang="en-US" sz="3200"/>
              <a:t>covered by HIPAA</a:t>
            </a:r>
            <a:endParaRPr/>
          </a:p>
          <a:p>
            <a:pPr indent="-457200" lvl="1" marL="1143000" rtl="0" algn="l">
              <a:lnSpc>
                <a:spcPct val="110000"/>
              </a:lnSpc>
              <a:spcBef>
                <a:spcPts val="500"/>
              </a:spcBef>
              <a:spcAft>
                <a:spcPts val="0"/>
              </a:spcAft>
              <a:buSzPts val="1530"/>
              <a:buFont typeface="Noto Sans Symbols"/>
              <a:buChar char="❖"/>
            </a:pPr>
            <a:r>
              <a:rPr lang="en-US" sz="3200"/>
              <a:t>18 specific types of identifiers	</a:t>
            </a:r>
            <a:endParaRPr/>
          </a:p>
          <a:p>
            <a:pPr indent="-342900" lvl="0" marL="685800" rtl="0" algn="l">
              <a:lnSpc>
                <a:spcPct val="110000"/>
              </a:lnSpc>
              <a:spcBef>
                <a:spcPts val="1000"/>
              </a:spcBef>
              <a:spcAft>
                <a:spcPts val="0"/>
              </a:spcAft>
              <a:buSzPts val="1800"/>
              <a:buFont typeface="Noto Sans Symbols"/>
              <a:buNone/>
            </a:pPr>
            <a:r>
              <a:t/>
            </a:r>
            <a:endParaRPr sz="3200"/>
          </a:p>
        </p:txBody>
      </p:sp>
      <p:sp>
        <p:nvSpPr>
          <p:cNvPr id="598" name="Google Shape;598;p59"/>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PII vs. PHI</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0"/>
          <p:cNvSpPr txBox="1"/>
          <p:nvPr>
            <p:ph idx="4294967295" type="ctrTitle"/>
          </p:nvPr>
        </p:nvSpPr>
        <p:spPr>
          <a:xfrm>
            <a:off x="142875" y="666300"/>
            <a:ext cx="3864600" cy="903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EAS 5850:</a:t>
            </a:r>
            <a:endParaRPr b="1" i="0" sz="2400" u="none" cap="none" strike="noStrike">
              <a:solidFill>
                <a:srgbClr val="003399"/>
              </a:solidFill>
              <a:latin typeface="Arial"/>
              <a:ea typeface="Arial"/>
              <a:cs typeface="Arial"/>
              <a:sym typeface="Arial"/>
            </a:endParaRPr>
          </a:p>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IMAGING INFORMATICS</a:t>
            </a:r>
            <a:endParaRPr b="1" i="0" sz="2400" u="none" cap="none" strike="noStrike">
              <a:solidFill>
                <a:srgbClr val="003399"/>
              </a:solidFill>
              <a:latin typeface="Arial"/>
              <a:ea typeface="Arial"/>
              <a:cs typeface="Arial"/>
              <a:sym typeface="Arial"/>
            </a:endParaRPr>
          </a:p>
        </p:txBody>
      </p:sp>
      <p:sp>
        <p:nvSpPr>
          <p:cNvPr id="604" name="Google Shape;604;p60"/>
          <p:cNvSpPr txBox="1"/>
          <p:nvPr>
            <p:ph idx="4294967295" type="subTitle"/>
          </p:nvPr>
        </p:nvSpPr>
        <p:spPr>
          <a:xfrm>
            <a:off x="142875" y="2708910"/>
            <a:ext cx="3864600" cy="1440180"/>
          </a:xfrm>
          <a:prstGeom prst="rect">
            <a:avLst/>
          </a:prstGeom>
          <a:solidFill>
            <a:schemeClr val="lt1"/>
          </a:solidFill>
          <a:ln cap="flat" cmpd="sng" w="9525">
            <a:solidFill>
              <a:srgbClr val="0033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dk2"/>
              </a:buClr>
              <a:buSzPts val="2000"/>
              <a:buFont typeface="Arial"/>
              <a:buNone/>
            </a:pPr>
            <a:r>
              <a:rPr b="0" i="0" lang="en-US" sz="3600" u="none" cap="none" strike="noStrike">
                <a:solidFill>
                  <a:schemeClr val="dk2"/>
                </a:solidFill>
                <a:latin typeface="Arial"/>
                <a:ea typeface="Arial"/>
                <a:cs typeface="Arial"/>
                <a:sym typeface="Arial"/>
              </a:rPr>
              <a:t>Confidentiality and Compliance</a:t>
            </a:r>
            <a:endParaRPr b="0" i="0" sz="5400" u="none" cap="none" strike="noStrike">
              <a:solidFill>
                <a:schemeClr val="dk2"/>
              </a:solidFill>
              <a:latin typeface="Arial"/>
              <a:ea typeface="Arial"/>
              <a:cs typeface="Arial"/>
              <a:sym typeface="Arial"/>
            </a:endParaRPr>
          </a:p>
        </p:txBody>
      </p:sp>
      <p:sp>
        <p:nvSpPr>
          <p:cNvPr id="605" name="Google Shape;605;p60"/>
          <p:cNvSpPr txBox="1"/>
          <p:nvPr/>
        </p:nvSpPr>
        <p:spPr>
          <a:xfrm>
            <a:off x="142875" y="5376850"/>
            <a:ext cx="3864600" cy="492600"/>
          </a:xfrm>
          <a:prstGeom prst="rect">
            <a:avLst/>
          </a:prstGeom>
          <a:solidFill>
            <a:schemeClr val="lt1"/>
          </a:solidFill>
          <a:ln cap="flat" cmpd="sng" w="9525">
            <a:solidFill>
              <a:srgbClr val="33CCCC"/>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accent1"/>
                </a:solidFill>
                <a:latin typeface="Arial"/>
                <a:ea typeface="Arial"/>
                <a:cs typeface="Arial"/>
                <a:sym typeface="Arial"/>
              </a:rPr>
              <a:t>Dr. Tessa S. Cook </a:t>
            </a:r>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1"/>
          <p:cNvSpPr txBox="1"/>
          <p:nvPr>
            <p:ph idx="4294967295" type="title"/>
          </p:nvPr>
        </p:nvSpPr>
        <p:spPr>
          <a:xfrm>
            <a:off x="284480" y="247842"/>
            <a:ext cx="7481294"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Protecting Patients’ Data</a:t>
            </a:r>
            <a:endParaRPr/>
          </a:p>
        </p:txBody>
      </p:sp>
      <p:sp>
        <p:nvSpPr>
          <p:cNvPr id="612" name="Google Shape;612;p61"/>
          <p:cNvSpPr txBox="1"/>
          <p:nvPr>
            <p:ph idx="4294967295" type="body"/>
          </p:nvPr>
        </p:nvSpPr>
        <p:spPr>
          <a:xfrm>
            <a:off x="284479" y="1221919"/>
            <a:ext cx="5735321" cy="4931773"/>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Clr>
                <a:schemeClr val="dk2"/>
              </a:buClr>
              <a:buSzPts val="1800"/>
              <a:buNone/>
            </a:pPr>
            <a:r>
              <a:rPr lang="en-US"/>
              <a:t>HIPAA/HITECH</a:t>
            </a:r>
            <a:endParaRPr/>
          </a:p>
          <a:p>
            <a:pPr indent="-228600" lvl="0" marL="457200" rtl="0" algn="l">
              <a:lnSpc>
                <a:spcPct val="110000"/>
              </a:lnSpc>
              <a:spcBef>
                <a:spcPts val="1000"/>
              </a:spcBef>
              <a:spcAft>
                <a:spcPts val="0"/>
              </a:spcAft>
              <a:buClr>
                <a:schemeClr val="dk2"/>
              </a:buClr>
              <a:buSzPts val="1800"/>
              <a:buNone/>
            </a:pPr>
            <a:r>
              <a:rPr lang="en-US"/>
              <a:t>GDPR</a:t>
            </a:r>
            <a:endParaRPr/>
          </a:p>
          <a:p>
            <a:pPr indent="-228600" lvl="0" marL="457200" rtl="0" algn="l">
              <a:lnSpc>
                <a:spcPct val="110000"/>
              </a:lnSpc>
              <a:spcBef>
                <a:spcPts val="1000"/>
              </a:spcBef>
              <a:spcAft>
                <a:spcPts val="0"/>
              </a:spcAft>
              <a:buClr>
                <a:schemeClr val="dk2"/>
              </a:buClr>
              <a:buSzPts val="1800"/>
              <a:buNone/>
            </a:pPr>
            <a:r>
              <a:rPr lang="en-US"/>
              <a:t>Data ownership</a:t>
            </a:r>
            <a:endParaRPr/>
          </a:p>
          <a:p>
            <a:pPr indent="-228600" lvl="0" marL="457200" rtl="0" algn="l">
              <a:lnSpc>
                <a:spcPct val="110000"/>
              </a:lnSpc>
              <a:spcBef>
                <a:spcPts val="1000"/>
              </a:spcBef>
              <a:spcAft>
                <a:spcPts val="0"/>
              </a:spcAft>
              <a:buClr>
                <a:schemeClr val="dk2"/>
              </a:buClr>
              <a:buSzPts val="1800"/>
              <a:buNone/>
            </a:pPr>
            <a:r>
              <a:rPr lang="en-US"/>
              <a:t>Patient access to records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2"/>
          <p:cNvSpPr txBox="1"/>
          <p:nvPr>
            <p:ph idx="1" type="body"/>
          </p:nvPr>
        </p:nvSpPr>
        <p:spPr>
          <a:xfrm>
            <a:off x="284480" y="1180828"/>
            <a:ext cx="5811520" cy="5086622"/>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SzPts val="2800"/>
              <a:buNone/>
            </a:pPr>
            <a:r>
              <a:rPr lang="en-US"/>
              <a:t>Data almost always de-identified</a:t>
            </a:r>
            <a:endParaRPr/>
          </a:p>
          <a:p>
            <a:pPr indent="-228600" lvl="0" marL="457200" rtl="0" algn="l">
              <a:lnSpc>
                <a:spcPct val="110000"/>
              </a:lnSpc>
              <a:spcBef>
                <a:spcPts val="1000"/>
              </a:spcBef>
              <a:spcAft>
                <a:spcPts val="0"/>
              </a:spcAft>
              <a:buSzPts val="2800"/>
              <a:buNone/>
            </a:pPr>
            <a:r>
              <a:rPr lang="en-US"/>
              <a:t>“Limited dataset” can be shared with PHI</a:t>
            </a:r>
            <a:endParaRPr/>
          </a:p>
        </p:txBody>
      </p:sp>
      <p:sp>
        <p:nvSpPr>
          <p:cNvPr id="619" name="Google Shape;619;p62"/>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SzPts val="2800"/>
              <a:buNone/>
            </a:pPr>
            <a:r>
              <a:rPr lang="en-US"/>
              <a:t>Identifying data retained in the records</a:t>
            </a:r>
            <a:endParaRPr/>
          </a:p>
          <a:p>
            <a:pPr indent="-228600" lvl="0" marL="457200" rtl="0" algn="l">
              <a:lnSpc>
                <a:spcPct val="110000"/>
              </a:lnSpc>
              <a:spcBef>
                <a:spcPts val="1000"/>
              </a:spcBef>
              <a:spcAft>
                <a:spcPts val="0"/>
              </a:spcAft>
              <a:buSzPts val="2800"/>
              <a:buNone/>
            </a:pPr>
            <a:r>
              <a:rPr lang="en-US"/>
              <a:t>Data for clinical care – patients can authorize sharing</a:t>
            </a:r>
            <a:endParaRPr/>
          </a:p>
        </p:txBody>
      </p:sp>
      <p:sp>
        <p:nvSpPr>
          <p:cNvPr id="620" name="Google Shape;620;p62"/>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Confidentiality for Research vs. Clinical Data</a:t>
            </a:r>
            <a:endParaRPr/>
          </a:p>
        </p:txBody>
      </p:sp>
      <p:pic>
        <p:nvPicPr>
          <p:cNvPr descr="A couple of people in lab coats looking at a computer screen&#10;" id="621" name="Google Shape;621;p62"/>
          <p:cNvPicPr preferRelativeResize="0"/>
          <p:nvPr/>
        </p:nvPicPr>
        <p:blipFill rotWithShape="1">
          <a:blip r:embed="rId3">
            <a:alphaModFix/>
          </a:blip>
          <a:srcRect b="0" l="0" r="0" t="0"/>
          <a:stretch/>
        </p:blipFill>
        <p:spPr>
          <a:xfrm>
            <a:off x="1398568" y="3592623"/>
            <a:ext cx="3679863" cy="2450454"/>
          </a:xfrm>
          <a:prstGeom prst="rect">
            <a:avLst/>
          </a:prstGeom>
          <a:noFill/>
          <a:ln>
            <a:noFill/>
          </a:ln>
        </p:spPr>
      </p:pic>
      <p:pic>
        <p:nvPicPr>
          <p:cNvPr descr="A doctor showing a tablet to a patient&#10;" id="622" name="Google Shape;622;p62"/>
          <p:cNvPicPr preferRelativeResize="0"/>
          <p:nvPr/>
        </p:nvPicPr>
        <p:blipFill rotWithShape="1">
          <a:blip r:embed="rId4">
            <a:alphaModFix/>
          </a:blip>
          <a:srcRect b="0" l="0" r="0" t="0"/>
          <a:stretch/>
        </p:blipFill>
        <p:spPr>
          <a:xfrm>
            <a:off x="7114904" y="3591616"/>
            <a:ext cx="3677192" cy="2451461"/>
          </a:xfrm>
          <a:prstGeom prst="rect">
            <a:avLst/>
          </a:prstGeom>
          <a:noFill/>
          <a:ln>
            <a:noFill/>
          </a:ln>
        </p:spPr>
      </p:pic>
      <p:sp>
        <p:nvSpPr>
          <p:cNvPr id="623" name="Google Shape;623;p62"/>
          <p:cNvSpPr txBox="1"/>
          <p:nvPr/>
        </p:nvSpPr>
        <p:spPr>
          <a:xfrm>
            <a:off x="3190240" y="7229061"/>
            <a:ext cx="5715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rgbClr val="000000"/>
                </a:solidFill>
                <a:latin typeface="Arial"/>
                <a:ea typeface="Arial"/>
                <a:cs typeface="Arial"/>
                <a:sym typeface="Arial"/>
                <a:hlinkClick r:id="rId5">
                  <a:extLst>
                    <a:ext uri="{A12FA001-AC4F-418D-AE19-62706E023703}">
                      <ahyp:hlinkClr val="tx"/>
                    </a:ext>
                  </a:extLst>
                </a:hlinkClick>
              </a:rPr>
              <a:t>This Photo</a:t>
            </a:r>
            <a:r>
              <a:rPr b="0" i="0" lang="en-US" sz="900" u="none" cap="none" strike="noStrike">
                <a:solidFill>
                  <a:srgbClr val="000000"/>
                </a:solidFill>
                <a:latin typeface="Arial"/>
                <a:ea typeface="Arial"/>
                <a:cs typeface="Arial"/>
                <a:sym typeface="Arial"/>
              </a:rPr>
              <a:t> by Unknown Author is licensed under </a:t>
            </a:r>
            <a:r>
              <a:rPr b="0" i="0" lang="en-US" sz="900" u="sng" cap="none" strike="noStrike">
                <a:solidFill>
                  <a:srgbClr val="000000"/>
                </a:solidFill>
                <a:latin typeface="Arial"/>
                <a:ea typeface="Arial"/>
                <a:cs typeface="Arial"/>
                <a:sym typeface="Arial"/>
                <a:hlinkClick r:id="rId6">
                  <a:extLst>
                    <a:ext uri="{A12FA001-AC4F-418D-AE19-62706E023703}">
                      <ahyp:hlinkClr val="tx"/>
                    </a:ext>
                  </a:extLst>
                </a:hlinkClick>
              </a:rPr>
              <a:t>CC BY-NC-ND</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3"/>
          <p:cNvSpPr txBox="1"/>
          <p:nvPr>
            <p:ph idx="1" type="body"/>
          </p:nvPr>
        </p:nvSpPr>
        <p:spPr>
          <a:xfrm>
            <a:off x="284480" y="1180828"/>
            <a:ext cx="6238558" cy="5086622"/>
          </a:xfrm>
          <a:prstGeom prst="rect">
            <a:avLst/>
          </a:prstGeom>
          <a:noFill/>
          <a:ln>
            <a:noFill/>
          </a:ln>
        </p:spPr>
        <p:txBody>
          <a:bodyPr anchorCtr="0" anchor="t" bIns="45700" lIns="91425" spcFirstLastPara="1" rIns="91425" wrap="square" tIns="45700">
            <a:noAutofit/>
          </a:bodyPr>
          <a:lstStyle/>
          <a:p>
            <a:pPr indent="-228600" lvl="0" marL="457200" rtl="0" algn="l">
              <a:lnSpc>
                <a:spcPct val="110000"/>
              </a:lnSpc>
              <a:spcBef>
                <a:spcPts val="1000"/>
              </a:spcBef>
              <a:spcAft>
                <a:spcPts val="0"/>
              </a:spcAft>
              <a:buSzPts val="2800"/>
              <a:buNone/>
            </a:pPr>
            <a:r>
              <a:rPr lang="en-US" sz="3200"/>
              <a:t>Health Insurance Portability and Accountability Act</a:t>
            </a:r>
            <a:endParaRPr/>
          </a:p>
          <a:p>
            <a:pPr indent="-228600" lvl="0" marL="457200" rtl="0" algn="l">
              <a:lnSpc>
                <a:spcPct val="110000"/>
              </a:lnSpc>
              <a:spcBef>
                <a:spcPts val="1000"/>
              </a:spcBef>
              <a:spcAft>
                <a:spcPts val="0"/>
              </a:spcAft>
              <a:buSzPts val="2800"/>
              <a:buNone/>
            </a:pPr>
            <a:r>
              <a:rPr lang="en-US" sz="3200"/>
              <a:t>National standards to protect PHI</a:t>
            </a:r>
            <a:endParaRPr/>
          </a:p>
          <a:p>
            <a:pPr indent="-228600" lvl="0" marL="457200" rtl="0" algn="l">
              <a:lnSpc>
                <a:spcPct val="110000"/>
              </a:lnSpc>
              <a:spcBef>
                <a:spcPts val="1000"/>
              </a:spcBef>
              <a:spcAft>
                <a:spcPts val="0"/>
              </a:spcAft>
              <a:buSzPts val="2800"/>
              <a:buNone/>
            </a:pPr>
            <a:r>
              <a:rPr lang="en-US" sz="3200"/>
              <a:t>Applies to covered entities that conduct electronic transactions</a:t>
            </a:r>
            <a:endParaRPr/>
          </a:p>
          <a:p>
            <a:pPr indent="-228600" lvl="0" marL="457200" rtl="0" algn="l">
              <a:lnSpc>
                <a:spcPct val="110000"/>
              </a:lnSpc>
              <a:spcBef>
                <a:spcPts val="1000"/>
              </a:spcBef>
              <a:spcAft>
                <a:spcPts val="0"/>
              </a:spcAft>
              <a:buSzPts val="2800"/>
              <a:buNone/>
            </a:pPr>
            <a:r>
              <a:rPr lang="en-US" sz="3200"/>
              <a:t>Violations &amp; breach notifications</a:t>
            </a:r>
            <a:endParaRPr/>
          </a:p>
        </p:txBody>
      </p:sp>
      <p:sp>
        <p:nvSpPr>
          <p:cNvPr id="630" name="Google Shape;630;p63"/>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HIPAA </a:t>
            </a:r>
            <a:r>
              <a:rPr lang="en-US" sz="4000"/>
              <a:t>(1996)</a:t>
            </a:r>
            <a:endParaRPr/>
          </a:p>
        </p:txBody>
      </p:sp>
      <p:pic>
        <p:nvPicPr>
          <p:cNvPr descr="A flowchart detailing the HIPAA Privacy Rule Complaint Process, indicating steps from 'Complaint' to 'Resolution', with pathways for potential violations and interventions by the Department of Justice (DOJ) and the Office for Civil Rights (OCR)." id="631" name="Google Shape;631;p63"/>
          <p:cNvPicPr preferRelativeResize="0"/>
          <p:nvPr>
            <p:ph idx="2" type="body"/>
          </p:nvPr>
        </p:nvPicPr>
        <p:blipFill rotWithShape="1">
          <a:blip r:embed="rId3">
            <a:alphaModFix/>
          </a:blip>
          <a:srcRect b="0" l="0" r="0" t="0"/>
          <a:stretch/>
        </p:blipFill>
        <p:spPr>
          <a:xfrm>
            <a:off x="6926136" y="1601564"/>
            <a:ext cx="4992814" cy="3739062"/>
          </a:xfrm>
          <a:prstGeom prst="rect">
            <a:avLst/>
          </a:prstGeom>
          <a:noFill/>
          <a:ln>
            <a:noFill/>
          </a:ln>
        </p:spPr>
      </p:pic>
      <p:sp>
        <p:nvSpPr>
          <p:cNvPr id="632" name="Google Shape;632;p63"/>
          <p:cNvSpPr txBox="1"/>
          <p:nvPr/>
        </p:nvSpPr>
        <p:spPr>
          <a:xfrm>
            <a:off x="6523038" y="6906079"/>
            <a:ext cx="5668962"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rgbClr val="000000"/>
                </a:solidFill>
                <a:latin typeface="Arial"/>
                <a:ea typeface="Arial"/>
                <a:cs typeface="Arial"/>
                <a:sym typeface="Arial"/>
                <a:hlinkClick r:id="rId4">
                  <a:extLst>
                    <a:ext uri="{A12FA001-AC4F-418D-AE19-62706E023703}">
                      <ahyp:hlinkClr val="tx"/>
                    </a:ext>
                  </a:extLst>
                </a:hlinkClick>
              </a:rPr>
              <a:t>This Photo</a:t>
            </a:r>
            <a:r>
              <a:rPr b="0" i="0" lang="en-US" sz="900" u="none" cap="none" strike="noStrike">
                <a:solidFill>
                  <a:srgbClr val="000000"/>
                </a:solidFill>
                <a:latin typeface="Arial"/>
                <a:ea typeface="Arial"/>
                <a:cs typeface="Arial"/>
                <a:sym typeface="Arial"/>
              </a:rPr>
              <a:t> by Unknown Author is licensed under </a:t>
            </a:r>
            <a:r>
              <a:rPr b="0" i="0" lang="en-US" sz="900" u="sng" cap="none" strike="noStrike">
                <a:solidFill>
                  <a:srgbClr val="000000"/>
                </a:solidFill>
                <a:latin typeface="Arial"/>
                <a:ea typeface="Arial"/>
                <a:cs typeface="Arial"/>
                <a:sym typeface="Arial"/>
                <a:hlinkClick r:id="rId5">
                  <a:extLst>
                    <a:ext uri="{A12FA001-AC4F-418D-AE19-62706E023703}">
                      <ahyp:hlinkClr val="tx"/>
                    </a:ext>
                  </a:extLst>
                </a:hlinkClick>
              </a:rPr>
              <a:t>CC BY-SA</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4"/>
          <p:cNvSpPr txBox="1"/>
          <p:nvPr>
            <p:ph idx="1" type="body"/>
          </p:nvPr>
        </p:nvSpPr>
        <p:spPr>
          <a:xfrm>
            <a:off x="212608" y="1180828"/>
            <a:ext cx="5811520" cy="4955567"/>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SzPts val="2800"/>
              <a:buNone/>
            </a:pPr>
            <a:r>
              <a:rPr lang="en-US"/>
              <a:t>Limits disclosure of PHI without individual’s authorization</a:t>
            </a:r>
            <a:endParaRPr/>
          </a:p>
          <a:p>
            <a:pPr indent="-457200" lvl="0" marL="685800" rtl="0" algn="l">
              <a:lnSpc>
                <a:spcPct val="110000"/>
              </a:lnSpc>
              <a:spcBef>
                <a:spcPts val="1000"/>
              </a:spcBef>
              <a:spcAft>
                <a:spcPts val="0"/>
              </a:spcAft>
              <a:buSzPts val="2800"/>
              <a:buFont typeface="Arial"/>
              <a:buChar char="•"/>
            </a:pPr>
            <a:r>
              <a:rPr lang="en-US"/>
              <a:t>Option for waiver for research</a:t>
            </a:r>
            <a:endParaRPr/>
          </a:p>
          <a:p>
            <a:pPr indent="-228600" lvl="0" marL="457200" rtl="0" algn="l">
              <a:lnSpc>
                <a:spcPct val="110000"/>
              </a:lnSpc>
              <a:spcBef>
                <a:spcPts val="1000"/>
              </a:spcBef>
              <a:spcAft>
                <a:spcPts val="0"/>
              </a:spcAft>
              <a:buSzPts val="2800"/>
              <a:buNone/>
            </a:pPr>
            <a:r>
              <a:rPr lang="en-US"/>
              <a:t>Individual rights to</a:t>
            </a:r>
            <a:endParaRPr/>
          </a:p>
          <a:p>
            <a:pPr indent="-457200" lvl="0" marL="685800" rtl="0" algn="l">
              <a:lnSpc>
                <a:spcPct val="110000"/>
              </a:lnSpc>
              <a:spcBef>
                <a:spcPts val="1000"/>
              </a:spcBef>
              <a:spcAft>
                <a:spcPts val="0"/>
              </a:spcAft>
              <a:buSzPts val="2800"/>
              <a:buFont typeface="Arial"/>
              <a:buChar char="•"/>
            </a:pPr>
            <a:r>
              <a:rPr lang="en-US"/>
              <a:t>Obtain copy of their records</a:t>
            </a:r>
            <a:endParaRPr/>
          </a:p>
          <a:p>
            <a:pPr indent="-457200" lvl="0" marL="685800" rtl="0" algn="l">
              <a:lnSpc>
                <a:spcPct val="110000"/>
              </a:lnSpc>
              <a:spcBef>
                <a:spcPts val="1000"/>
              </a:spcBef>
              <a:spcAft>
                <a:spcPts val="0"/>
              </a:spcAft>
              <a:buSzPts val="2800"/>
              <a:buFont typeface="Arial"/>
              <a:buChar char="•"/>
            </a:pPr>
            <a:r>
              <a:rPr lang="en-US"/>
              <a:t>Request corrections</a:t>
            </a:r>
            <a:endParaRPr/>
          </a:p>
          <a:p>
            <a:pPr indent="-457200" lvl="0" marL="685800" rtl="0" algn="l">
              <a:lnSpc>
                <a:spcPct val="110000"/>
              </a:lnSpc>
              <a:spcBef>
                <a:spcPts val="1000"/>
              </a:spcBef>
              <a:spcAft>
                <a:spcPts val="0"/>
              </a:spcAft>
              <a:buSzPts val="2800"/>
              <a:buFont typeface="Arial"/>
              <a:buChar char="•"/>
            </a:pPr>
            <a:r>
              <a:rPr lang="en-US"/>
              <a:t>Direct covered entities to transfer records electronically</a:t>
            </a:r>
            <a:endParaRPr/>
          </a:p>
          <a:p>
            <a:pPr indent="-228600" lvl="0" marL="457200" rtl="0" algn="l">
              <a:lnSpc>
                <a:spcPct val="110000"/>
              </a:lnSpc>
              <a:spcBef>
                <a:spcPts val="1000"/>
              </a:spcBef>
              <a:spcAft>
                <a:spcPts val="0"/>
              </a:spcAft>
              <a:buSzPts val="2800"/>
              <a:buNone/>
            </a:pPr>
            <a:r>
              <a:t/>
            </a:r>
            <a:endParaRPr/>
          </a:p>
        </p:txBody>
      </p:sp>
      <p:grpSp>
        <p:nvGrpSpPr>
          <p:cNvPr id="638" name="Google Shape;638;p64"/>
          <p:cNvGrpSpPr/>
          <p:nvPr/>
        </p:nvGrpSpPr>
        <p:grpSpPr>
          <a:xfrm>
            <a:off x="6699379" y="1181099"/>
            <a:ext cx="4770180" cy="5086350"/>
            <a:chOff x="449391" y="-1"/>
            <a:chExt cx="4770180" cy="5086350"/>
          </a:xfrm>
        </p:grpSpPr>
        <p:sp>
          <p:nvSpPr>
            <p:cNvPr id="639" name="Google Shape;639;p64"/>
            <p:cNvSpPr/>
            <p:nvPr/>
          </p:nvSpPr>
          <p:spPr>
            <a:xfrm>
              <a:off x="1415796" y="2543175"/>
              <a:ext cx="633962" cy="1208008"/>
            </a:xfrm>
            <a:custGeom>
              <a:rect b="b" l="l" r="r" t="t"/>
              <a:pathLst>
                <a:path extrusionOk="0" h="120000" w="120000">
                  <a:moveTo>
                    <a:pt x="0" y="0"/>
                  </a:moveTo>
                  <a:lnTo>
                    <a:pt x="60000" y="0"/>
                  </a:lnTo>
                  <a:lnTo>
                    <a:pt x="60000" y="120000"/>
                  </a:lnTo>
                  <a:lnTo>
                    <a:pt x="120000" y="120000"/>
                  </a:lnTo>
                </a:path>
              </a:pathLst>
            </a:custGeom>
            <a:no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64"/>
            <p:cNvSpPr txBox="1"/>
            <p:nvPr/>
          </p:nvSpPr>
          <p:spPr>
            <a:xfrm>
              <a:off x="1698671" y="3113072"/>
              <a:ext cx="68212" cy="68212"/>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p:txBody>
        </p:sp>
        <p:sp>
          <p:nvSpPr>
            <p:cNvPr id="641" name="Google Shape;641;p64"/>
            <p:cNvSpPr/>
            <p:nvPr/>
          </p:nvSpPr>
          <p:spPr>
            <a:xfrm>
              <a:off x="1415796" y="2497455"/>
              <a:ext cx="633962" cy="91440"/>
            </a:xfrm>
            <a:custGeom>
              <a:rect b="b" l="l" r="r" t="t"/>
              <a:pathLst>
                <a:path extrusionOk="0" h="120000" w="120000">
                  <a:moveTo>
                    <a:pt x="0" y="60000"/>
                  </a:moveTo>
                  <a:lnTo>
                    <a:pt x="120000" y="60000"/>
                  </a:lnTo>
                </a:path>
              </a:pathLst>
            </a:custGeom>
            <a:no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64"/>
            <p:cNvSpPr txBox="1"/>
            <p:nvPr/>
          </p:nvSpPr>
          <p:spPr>
            <a:xfrm>
              <a:off x="1716928" y="2527325"/>
              <a:ext cx="31698" cy="31698"/>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p:txBody>
        </p:sp>
        <p:sp>
          <p:nvSpPr>
            <p:cNvPr id="643" name="Google Shape;643;p64"/>
            <p:cNvSpPr/>
            <p:nvPr/>
          </p:nvSpPr>
          <p:spPr>
            <a:xfrm>
              <a:off x="1415796" y="1335166"/>
              <a:ext cx="633962" cy="1208008"/>
            </a:xfrm>
            <a:custGeom>
              <a:rect b="b" l="l" r="r" t="t"/>
              <a:pathLst>
                <a:path extrusionOk="0" h="120000" w="120000">
                  <a:moveTo>
                    <a:pt x="0" y="120000"/>
                  </a:moveTo>
                  <a:lnTo>
                    <a:pt x="60000" y="120000"/>
                  </a:lnTo>
                  <a:lnTo>
                    <a:pt x="60000" y="0"/>
                  </a:lnTo>
                  <a:lnTo>
                    <a:pt x="120000" y="0"/>
                  </a:lnTo>
                </a:path>
              </a:pathLst>
            </a:custGeom>
            <a:no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64"/>
            <p:cNvSpPr txBox="1"/>
            <p:nvPr/>
          </p:nvSpPr>
          <p:spPr>
            <a:xfrm>
              <a:off x="1698671" y="1905064"/>
              <a:ext cx="68212" cy="68212"/>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p:txBody>
        </p:sp>
        <p:sp>
          <p:nvSpPr>
            <p:cNvPr id="645" name="Google Shape;645;p64"/>
            <p:cNvSpPr/>
            <p:nvPr/>
          </p:nvSpPr>
          <p:spPr>
            <a:xfrm rot="-5400000">
              <a:off x="-1610581" y="2059971"/>
              <a:ext cx="5086350" cy="966406"/>
            </a:xfrm>
            <a:prstGeom prst="rect">
              <a:avLst/>
            </a:prstGeom>
            <a:solidFill>
              <a:srgbClr val="267FD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 graphic outlining 'Covered entities' under HIPAA, including 'Healthcare providers', 'Health plans', and 'Health clearinghouses'." id="646" name="Google Shape;646;p64"/>
            <p:cNvSpPr txBox="1"/>
            <p:nvPr/>
          </p:nvSpPr>
          <p:spPr>
            <a:xfrm rot="-5400000">
              <a:off x="-1610581" y="2059971"/>
              <a:ext cx="5086350" cy="966406"/>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rgbClr val="000000"/>
                </a:buClr>
                <a:buSzPts val="4800"/>
                <a:buFont typeface="Arial"/>
                <a:buNone/>
              </a:pPr>
              <a:r>
                <a:rPr b="0" i="0" lang="en-US" sz="4800" u="none" cap="none" strike="noStrike">
                  <a:solidFill>
                    <a:schemeClr val="lt1"/>
                  </a:solidFill>
                  <a:latin typeface="Arial"/>
                  <a:ea typeface="Arial"/>
                  <a:cs typeface="Arial"/>
                  <a:sym typeface="Arial"/>
                </a:rPr>
                <a:t>Covered entities</a:t>
              </a:r>
              <a:endParaRPr b="0" i="0" sz="1400" u="none" cap="none" strike="noStrike">
                <a:solidFill>
                  <a:srgbClr val="000000"/>
                </a:solidFill>
                <a:latin typeface="Arial"/>
                <a:ea typeface="Arial"/>
                <a:cs typeface="Arial"/>
                <a:sym typeface="Arial"/>
              </a:endParaRPr>
            </a:p>
          </p:txBody>
        </p:sp>
        <p:sp>
          <p:nvSpPr>
            <p:cNvPr id="647" name="Google Shape;647;p64"/>
            <p:cNvSpPr/>
            <p:nvPr/>
          </p:nvSpPr>
          <p:spPr>
            <a:xfrm>
              <a:off x="2049758" y="851963"/>
              <a:ext cx="3169813" cy="966406"/>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64"/>
            <p:cNvSpPr txBox="1"/>
            <p:nvPr/>
          </p:nvSpPr>
          <p:spPr>
            <a:xfrm>
              <a:off x="2049758" y="851963"/>
              <a:ext cx="3169813" cy="966406"/>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3200"/>
                <a:buFont typeface="Arial"/>
                <a:buNone/>
              </a:pPr>
              <a:r>
                <a:rPr b="0" i="0" lang="en-US" sz="3200" u="none" cap="none" strike="noStrike">
                  <a:solidFill>
                    <a:schemeClr val="lt1"/>
                  </a:solidFill>
                  <a:latin typeface="Arial"/>
                  <a:ea typeface="Arial"/>
                  <a:cs typeface="Arial"/>
                  <a:sym typeface="Arial"/>
                </a:rPr>
                <a:t>Healthcare providers</a:t>
              </a:r>
              <a:endParaRPr b="0" i="0" sz="1400" u="none" cap="none" strike="noStrike">
                <a:solidFill>
                  <a:srgbClr val="000000"/>
                </a:solidFill>
                <a:latin typeface="Arial"/>
                <a:ea typeface="Arial"/>
                <a:cs typeface="Arial"/>
                <a:sym typeface="Arial"/>
              </a:endParaRPr>
            </a:p>
          </p:txBody>
        </p:sp>
        <p:sp>
          <p:nvSpPr>
            <p:cNvPr id="649" name="Google Shape;649;p64"/>
            <p:cNvSpPr/>
            <p:nvPr/>
          </p:nvSpPr>
          <p:spPr>
            <a:xfrm>
              <a:off x="2049758" y="2059971"/>
              <a:ext cx="3169813" cy="966406"/>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64"/>
            <p:cNvSpPr txBox="1"/>
            <p:nvPr/>
          </p:nvSpPr>
          <p:spPr>
            <a:xfrm>
              <a:off x="2049758" y="2059971"/>
              <a:ext cx="3169813" cy="966406"/>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3200"/>
                <a:buFont typeface="Arial"/>
                <a:buNone/>
              </a:pPr>
              <a:r>
                <a:rPr b="0" i="0" lang="en-US" sz="3200" u="none" cap="none" strike="noStrike">
                  <a:solidFill>
                    <a:schemeClr val="lt1"/>
                  </a:solidFill>
                  <a:latin typeface="Arial"/>
                  <a:ea typeface="Arial"/>
                  <a:cs typeface="Arial"/>
                  <a:sym typeface="Arial"/>
                </a:rPr>
                <a:t>Health plans</a:t>
              </a:r>
              <a:endParaRPr b="0" i="0" sz="1400" u="none" cap="none" strike="noStrike">
                <a:solidFill>
                  <a:srgbClr val="000000"/>
                </a:solidFill>
                <a:latin typeface="Arial"/>
                <a:ea typeface="Arial"/>
                <a:cs typeface="Arial"/>
                <a:sym typeface="Arial"/>
              </a:endParaRPr>
            </a:p>
          </p:txBody>
        </p:sp>
        <p:sp>
          <p:nvSpPr>
            <p:cNvPr id="651" name="Google Shape;651;p64"/>
            <p:cNvSpPr/>
            <p:nvPr/>
          </p:nvSpPr>
          <p:spPr>
            <a:xfrm>
              <a:off x="2049758" y="3267979"/>
              <a:ext cx="3169813" cy="966406"/>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64"/>
            <p:cNvSpPr txBox="1"/>
            <p:nvPr/>
          </p:nvSpPr>
          <p:spPr>
            <a:xfrm>
              <a:off x="2049758" y="3267979"/>
              <a:ext cx="3169813" cy="966406"/>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3200"/>
                <a:buFont typeface="Arial"/>
                <a:buNone/>
              </a:pPr>
              <a:r>
                <a:rPr b="0" i="0" lang="en-US" sz="3200" u="none" cap="none" strike="noStrike">
                  <a:solidFill>
                    <a:schemeClr val="lt1"/>
                  </a:solidFill>
                  <a:latin typeface="Arial"/>
                  <a:ea typeface="Arial"/>
                  <a:cs typeface="Arial"/>
                  <a:sym typeface="Arial"/>
                </a:rPr>
                <a:t>Health clearinghouses</a:t>
              </a:r>
              <a:endParaRPr b="0" i="0" sz="1400" u="none" cap="none" strike="noStrike">
                <a:solidFill>
                  <a:srgbClr val="000000"/>
                </a:solidFill>
                <a:latin typeface="Arial"/>
                <a:ea typeface="Arial"/>
                <a:cs typeface="Arial"/>
                <a:sym typeface="Arial"/>
              </a:endParaRPr>
            </a:p>
          </p:txBody>
        </p:sp>
      </p:grpSp>
      <p:sp>
        <p:nvSpPr>
          <p:cNvPr id="653" name="Google Shape;653;p64"/>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HIPAA Privacy Rule</a:t>
            </a:r>
            <a:endParaRPr/>
          </a:p>
        </p:txBody>
      </p:sp>
      <p:sp>
        <p:nvSpPr>
          <p:cNvPr id="654" name="Google Shape;654;p64"/>
          <p:cNvSpPr txBox="1"/>
          <p:nvPr/>
        </p:nvSpPr>
        <p:spPr>
          <a:xfrm>
            <a:off x="5942013" y="5959673"/>
            <a:ext cx="6109252" cy="27699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https://www.hhs.gov/hipaa/for-professionals/privacy/index.html</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grpSp>
        <p:nvGrpSpPr>
          <p:cNvPr id="660" name="Google Shape;660;p65"/>
          <p:cNvGrpSpPr/>
          <p:nvPr/>
        </p:nvGrpSpPr>
        <p:grpSpPr>
          <a:xfrm>
            <a:off x="287456" y="1677274"/>
            <a:ext cx="5805250" cy="4094001"/>
            <a:chOff x="3293" y="496174"/>
            <a:chExt cx="5805250" cy="4094001"/>
          </a:xfrm>
        </p:grpSpPr>
        <p:sp>
          <p:nvSpPr>
            <p:cNvPr id="661" name="Google Shape;661;p65"/>
            <p:cNvSpPr/>
            <p:nvPr/>
          </p:nvSpPr>
          <p:spPr>
            <a:xfrm>
              <a:off x="1988737" y="2755814"/>
              <a:ext cx="1834361" cy="1834361"/>
            </a:xfrm>
            <a:prstGeom prst="ellipse">
              <a:avLst/>
            </a:prstGeom>
            <a:solidFill>
              <a:srgbClr val="267FD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n informational diagram showing the types of 'Safeguards' required by HIPAA, categorized into 'Physical', 'Administrative', and 'Technical', centered around compliance to protect healthcare information" id="662" name="Google Shape;662;p65"/>
            <p:cNvSpPr txBox="1"/>
            <p:nvPr/>
          </p:nvSpPr>
          <p:spPr>
            <a:xfrm>
              <a:off x="2257373" y="3024450"/>
              <a:ext cx="1297089" cy="1297089"/>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Safe-guards</a:t>
              </a:r>
              <a:endParaRPr b="0" i="0" sz="1400" u="none" cap="none" strike="noStrike">
                <a:solidFill>
                  <a:srgbClr val="000000"/>
                </a:solidFill>
                <a:latin typeface="Arial"/>
                <a:ea typeface="Arial"/>
                <a:cs typeface="Arial"/>
                <a:sym typeface="Arial"/>
              </a:endParaRPr>
            </a:p>
          </p:txBody>
        </p:sp>
        <p:sp>
          <p:nvSpPr>
            <p:cNvPr id="663" name="Google Shape;663;p65"/>
            <p:cNvSpPr/>
            <p:nvPr/>
          </p:nvSpPr>
          <p:spPr>
            <a:xfrm rot="-8700000">
              <a:off x="741091" y="2412747"/>
              <a:ext cx="1476640" cy="522792"/>
            </a:xfrm>
            <a:prstGeom prst="leftArrow">
              <a:avLst>
                <a:gd fmla="val 60000" name="adj1"/>
                <a:gd fmla="val 50000" name="adj2"/>
              </a:avLst>
            </a:prstGeom>
            <a:solidFill>
              <a:schemeClr val="accent4"/>
            </a:soli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65"/>
            <p:cNvSpPr/>
            <p:nvPr/>
          </p:nvSpPr>
          <p:spPr>
            <a:xfrm>
              <a:off x="3293" y="1553603"/>
              <a:ext cx="1742643" cy="1394114"/>
            </a:xfrm>
            <a:prstGeom prst="roundRect">
              <a:avLst>
                <a:gd fmla="val 10000"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65"/>
            <p:cNvSpPr txBox="1"/>
            <p:nvPr/>
          </p:nvSpPr>
          <p:spPr>
            <a:xfrm>
              <a:off x="44125" y="1594435"/>
              <a:ext cx="1660979" cy="1312450"/>
            </a:xfrm>
            <a:prstGeom prst="rect">
              <a:avLst/>
            </a:prstGeom>
            <a:noFill/>
            <a:ln>
              <a:noFill/>
            </a:ln>
          </p:spPr>
          <p:txBody>
            <a:bodyPr anchorCtr="0" anchor="ctr" bIns="34275" lIns="34275" spcFirstLastPara="1" rIns="34275" wrap="square" tIns="34275">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Administrative</a:t>
              </a:r>
              <a:endParaRPr b="0" i="0" sz="1400" u="none" cap="none" strike="noStrike">
                <a:solidFill>
                  <a:srgbClr val="000000"/>
                </a:solidFill>
                <a:latin typeface="Arial"/>
                <a:ea typeface="Arial"/>
                <a:cs typeface="Arial"/>
                <a:sym typeface="Arial"/>
              </a:endParaRPr>
            </a:p>
          </p:txBody>
        </p:sp>
        <p:sp>
          <p:nvSpPr>
            <p:cNvPr id="666" name="Google Shape;666;p65"/>
            <p:cNvSpPr/>
            <p:nvPr/>
          </p:nvSpPr>
          <p:spPr>
            <a:xfrm rot="-5400000">
              <a:off x="2167598" y="1670155"/>
              <a:ext cx="1476640" cy="522792"/>
            </a:xfrm>
            <a:prstGeom prst="leftArrow">
              <a:avLst>
                <a:gd fmla="val 60000" name="adj1"/>
                <a:gd fmla="val 50000" name="adj2"/>
              </a:avLst>
            </a:prstGeom>
            <a:solidFill>
              <a:srgbClr val="6C91AA"/>
            </a:soli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65"/>
            <p:cNvSpPr/>
            <p:nvPr/>
          </p:nvSpPr>
          <p:spPr>
            <a:xfrm>
              <a:off x="2034596" y="496174"/>
              <a:ext cx="1742643" cy="1394114"/>
            </a:xfrm>
            <a:prstGeom prst="roundRect">
              <a:avLst>
                <a:gd fmla="val 10000" name="adj"/>
              </a:avLst>
            </a:prstGeom>
            <a:solidFill>
              <a:srgbClr val="6C91A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65"/>
            <p:cNvSpPr txBox="1"/>
            <p:nvPr/>
          </p:nvSpPr>
          <p:spPr>
            <a:xfrm>
              <a:off x="2075428" y="537006"/>
              <a:ext cx="1660979" cy="1312450"/>
            </a:xfrm>
            <a:prstGeom prst="rect">
              <a:avLst/>
            </a:prstGeom>
            <a:noFill/>
            <a:ln>
              <a:noFill/>
            </a:ln>
          </p:spPr>
          <p:txBody>
            <a:bodyPr anchorCtr="0" anchor="ctr" bIns="34275" lIns="34275" spcFirstLastPara="1" rIns="34275" wrap="square" tIns="34275">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Physical</a:t>
              </a:r>
              <a:endParaRPr b="0" i="0" sz="1400" u="none" cap="none" strike="noStrike">
                <a:solidFill>
                  <a:srgbClr val="000000"/>
                </a:solidFill>
                <a:latin typeface="Arial"/>
                <a:ea typeface="Arial"/>
                <a:cs typeface="Arial"/>
                <a:sym typeface="Arial"/>
              </a:endParaRPr>
            </a:p>
          </p:txBody>
        </p:sp>
        <p:sp>
          <p:nvSpPr>
            <p:cNvPr id="669" name="Google Shape;669;p65"/>
            <p:cNvSpPr/>
            <p:nvPr/>
          </p:nvSpPr>
          <p:spPr>
            <a:xfrm rot="-2100000">
              <a:off x="3594104" y="2412747"/>
              <a:ext cx="1476640" cy="522792"/>
            </a:xfrm>
            <a:prstGeom prst="leftArrow">
              <a:avLst>
                <a:gd fmla="val 60000" name="adj1"/>
                <a:gd fmla="val 50000" name="adj2"/>
              </a:avLst>
            </a:prstGeom>
            <a:solidFill>
              <a:srgbClr val="599FAD"/>
            </a:solidFill>
            <a:ln>
              <a:noFill/>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65"/>
            <p:cNvSpPr/>
            <p:nvPr/>
          </p:nvSpPr>
          <p:spPr>
            <a:xfrm>
              <a:off x="4065900" y="1553603"/>
              <a:ext cx="1742643" cy="1394114"/>
            </a:xfrm>
            <a:prstGeom prst="roundRect">
              <a:avLst>
                <a:gd fmla="val 10000" name="adj"/>
              </a:avLst>
            </a:prstGeom>
            <a:solidFill>
              <a:srgbClr val="599FAD"/>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65"/>
            <p:cNvSpPr txBox="1"/>
            <p:nvPr/>
          </p:nvSpPr>
          <p:spPr>
            <a:xfrm>
              <a:off x="4106732" y="1594435"/>
              <a:ext cx="1660979" cy="1312450"/>
            </a:xfrm>
            <a:prstGeom prst="rect">
              <a:avLst/>
            </a:prstGeom>
            <a:noFill/>
            <a:ln>
              <a:noFill/>
            </a:ln>
          </p:spPr>
          <p:txBody>
            <a:bodyPr anchorCtr="0" anchor="ctr" bIns="34275" lIns="34275" spcFirstLastPara="1" rIns="34275" wrap="square" tIns="34275">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Technical</a:t>
              </a:r>
              <a:endParaRPr b="0" i="0" sz="1400" u="none" cap="none" strike="noStrike">
                <a:solidFill>
                  <a:srgbClr val="000000"/>
                </a:solidFill>
                <a:latin typeface="Arial"/>
                <a:ea typeface="Arial"/>
                <a:cs typeface="Arial"/>
                <a:sym typeface="Arial"/>
              </a:endParaRPr>
            </a:p>
          </p:txBody>
        </p:sp>
      </p:grpSp>
      <p:sp>
        <p:nvSpPr>
          <p:cNvPr id="672" name="Google Shape;672;p65"/>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SzPts val="2800"/>
              <a:buNone/>
            </a:pPr>
            <a:r>
              <a:rPr lang="en-US" sz="3200"/>
              <a:t>Administrative</a:t>
            </a:r>
            <a:endParaRPr/>
          </a:p>
          <a:p>
            <a:pPr indent="-228600" lvl="0" marL="457200" rtl="0" algn="l">
              <a:lnSpc>
                <a:spcPct val="110000"/>
              </a:lnSpc>
              <a:spcBef>
                <a:spcPts val="1000"/>
              </a:spcBef>
              <a:spcAft>
                <a:spcPts val="0"/>
              </a:spcAft>
              <a:buSzPts val="2800"/>
              <a:buNone/>
            </a:pPr>
            <a:r>
              <a:rPr lang="en-US"/>
              <a:t>	Password management, BAAs, internet use</a:t>
            </a:r>
            <a:endParaRPr/>
          </a:p>
          <a:p>
            <a:pPr indent="-228600" lvl="0" marL="457200" rtl="0" algn="l">
              <a:lnSpc>
                <a:spcPct val="110000"/>
              </a:lnSpc>
              <a:spcBef>
                <a:spcPts val="1000"/>
              </a:spcBef>
              <a:spcAft>
                <a:spcPts val="0"/>
              </a:spcAft>
              <a:buSzPts val="2800"/>
              <a:buNone/>
            </a:pPr>
            <a:r>
              <a:rPr lang="en-US" sz="3200"/>
              <a:t>Technical</a:t>
            </a:r>
            <a:endParaRPr/>
          </a:p>
          <a:p>
            <a:pPr indent="-228600" lvl="0" marL="457200" rtl="0" algn="l">
              <a:lnSpc>
                <a:spcPct val="110000"/>
              </a:lnSpc>
              <a:spcBef>
                <a:spcPts val="1000"/>
              </a:spcBef>
              <a:spcAft>
                <a:spcPts val="0"/>
              </a:spcAft>
              <a:buSzPts val="2800"/>
              <a:buNone/>
            </a:pPr>
            <a:r>
              <a:rPr lang="en-US" sz="3200"/>
              <a:t>	</a:t>
            </a:r>
            <a:r>
              <a:rPr lang="en-US"/>
              <a:t>Network, systems</a:t>
            </a:r>
            <a:endParaRPr/>
          </a:p>
          <a:p>
            <a:pPr indent="-228600" lvl="0" marL="457200" rtl="0" algn="l">
              <a:lnSpc>
                <a:spcPct val="110000"/>
              </a:lnSpc>
              <a:spcBef>
                <a:spcPts val="1000"/>
              </a:spcBef>
              <a:spcAft>
                <a:spcPts val="0"/>
              </a:spcAft>
              <a:buSzPts val="2800"/>
              <a:buNone/>
            </a:pPr>
            <a:r>
              <a:rPr lang="en-US" sz="3200"/>
              <a:t>Physical</a:t>
            </a:r>
            <a:endParaRPr/>
          </a:p>
          <a:p>
            <a:pPr indent="-228600" lvl="0" marL="457200" rtl="0" algn="l">
              <a:lnSpc>
                <a:spcPct val="110000"/>
              </a:lnSpc>
              <a:spcBef>
                <a:spcPts val="1000"/>
              </a:spcBef>
              <a:spcAft>
                <a:spcPts val="0"/>
              </a:spcAft>
              <a:buSzPts val="2800"/>
              <a:buNone/>
            </a:pPr>
            <a:r>
              <a:rPr lang="en-US"/>
              <a:t>	Badge entry, cameras, RFID, data center security</a:t>
            </a:r>
            <a:endParaRPr/>
          </a:p>
        </p:txBody>
      </p:sp>
      <p:sp>
        <p:nvSpPr>
          <p:cNvPr id="673" name="Google Shape;673;p65"/>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HIPAA Security Rule</a:t>
            </a:r>
            <a:endParaRPr/>
          </a:p>
        </p:txBody>
      </p:sp>
      <p:sp>
        <p:nvSpPr>
          <p:cNvPr id="674" name="Google Shape;674;p65"/>
          <p:cNvSpPr txBox="1"/>
          <p:nvPr/>
        </p:nvSpPr>
        <p:spPr>
          <a:xfrm>
            <a:off x="3041374" y="5990456"/>
            <a:ext cx="610925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https://www.hhs.gov/hipaa/for-professionals/security/index.html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66"/>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HIPAA Security Rule</a:t>
            </a:r>
            <a:endParaRPr/>
          </a:p>
        </p:txBody>
      </p:sp>
      <p:grpSp>
        <p:nvGrpSpPr>
          <p:cNvPr id="681" name="Google Shape;681;p66"/>
          <p:cNvGrpSpPr/>
          <p:nvPr/>
        </p:nvGrpSpPr>
        <p:grpSpPr>
          <a:xfrm>
            <a:off x="287798" y="1606930"/>
            <a:ext cx="11627515" cy="4272789"/>
            <a:chOff x="3635" y="365505"/>
            <a:chExt cx="11627515" cy="4272789"/>
          </a:xfrm>
        </p:grpSpPr>
        <p:sp>
          <p:nvSpPr>
            <p:cNvPr id="682" name="Google Shape;682;p66"/>
            <p:cNvSpPr/>
            <p:nvPr/>
          </p:nvSpPr>
          <p:spPr>
            <a:xfrm>
              <a:off x="3635" y="365505"/>
              <a:ext cx="3544974" cy="1417989"/>
            </a:xfrm>
            <a:prstGeom prst="rect">
              <a:avLst/>
            </a:prstGeom>
            <a:solidFill>
              <a:schemeClr val="accent5"/>
            </a:solidFill>
            <a:ln cap="flat" cmpd="sng" w="254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66"/>
            <p:cNvSpPr txBox="1"/>
            <p:nvPr/>
          </p:nvSpPr>
          <p:spPr>
            <a:xfrm>
              <a:off x="3635" y="365505"/>
              <a:ext cx="3544974" cy="1417989"/>
            </a:xfrm>
            <a:prstGeom prst="rect">
              <a:avLst/>
            </a:prstGeom>
            <a:noFill/>
            <a:ln>
              <a:noFill/>
            </a:ln>
          </p:spPr>
          <p:txBody>
            <a:bodyPr anchorCtr="0" anchor="ctr" bIns="130025" lIns="227575" spcFirstLastPara="1" rIns="227575" wrap="square" tIns="130025">
              <a:noAutofit/>
            </a:bodyPr>
            <a:lstStyle/>
            <a:p>
              <a:pPr indent="0" lvl="0" marL="0" marR="0" rtl="0" algn="ctr">
                <a:lnSpc>
                  <a:spcPct val="9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Confidentiality</a:t>
              </a:r>
              <a:endParaRPr b="0" i="0" sz="1400" u="none" cap="none" strike="noStrike">
                <a:solidFill>
                  <a:srgbClr val="000000"/>
                </a:solidFill>
                <a:latin typeface="Arial"/>
                <a:ea typeface="Arial"/>
                <a:cs typeface="Arial"/>
                <a:sym typeface="Arial"/>
              </a:endParaRPr>
            </a:p>
          </p:txBody>
        </p:sp>
        <p:sp>
          <p:nvSpPr>
            <p:cNvPr id="684" name="Google Shape;684;p66"/>
            <p:cNvSpPr/>
            <p:nvPr/>
          </p:nvSpPr>
          <p:spPr>
            <a:xfrm>
              <a:off x="3635" y="1783494"/>
              <a:ext cx="3544974" cy="2854800"/>
            </a:xfrm>
            <a:prstGeom prst="rect">
              <a:avLst/>
            </a:prstGeom>
            <a:solidFill>
              <a:srgbClr val="CEDFE3">
                <a:alpha val="89411"/>
              </a:srgbClr>
            </a:solidFill>
            <a:ln cap="flat" cmpd="sng" w="25400">
              <a:solidFill>
                <a:srgbClr val="CEDFE3">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66"/>
            <p:cNvSpPr txBox="1"/>
            <p:nvPr/>
          </p:nvSpPr>
          <p:spPr>
            <a:xfrm>
              <a:off x="3635" y="1783494"/>
              <a:ext cx="3544974" cy="2854800"/>
            </a:xfrm>
            <a:prstGeom prst="rect">
              <a:avLst/>
            </a:prstGeom>
            <a:noFill/>
            <a:ln>
              <a:noFill/>
            </a:ln>
          </p:spPr>
          <p:txBody>
            <a:bodyPr anchorCtr="0" anchor="t" bIns="256025" lIns="170675" spcFirstLastPara="1" rIns="227575" wrap="square" tIns="170675">
              <a:noAutofit/>
            </a:bodyPr>
            <a:lstStyle/>
            <a:p>
              <a:pPr indent="-285750" lvl="1" marL="285750" marR="0" rtl="0" algn="l">
                <a:lnSpc>
                  <a:spcPct val="9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PHI not available or disclosed to unauthorized persons</a:t>
              </a:r>
              <a:endParaRPr b="0" i="0" sz="1400" u="none" cap="none" strike="noStrike">
                <a:solidFill>
                  <a:srgbClr val="000000"/>
                </a:solidFill>
                <a:latin typeface="Arial"/>
                <a:ea typeface="Arial"/>
                <a:cs typeface="Arial"/>
                <a:sym typeface="Arial"/>
              </a:endParaRPr>
            </a:p>
          </p:txBody>
        </p:sp>
        <p:sp>
          <p:nvSpPr>
            <p:cNvPr id="686" name="Google Shape;686;p66"/>
            <p:cNvSpPr/>
            <p:nvPr/>
          </p:nvSpPr>
          <p:spPr>
            <a:xfrm>
              <a:off x="4044906" y="365505"/>
              <a:ext cx="3544974" cy="1417989"/>
            </a:xfrm>
            <a:prstGeom prst="rect">
              <a:avLst/>
            </a:prstGeom>
            <a:solidFill>
              <a:srgbClr val="7676A4"/>
            </a:solidFill>
            <a:ln cap="flat" cmpd="sng" w="25400">
              <a:solidFill>
                <a:srgbClr val="7676A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66"/>
            <p:cNvSpPr txBox="1"/>
            <p:nvPr/>
          </p:nvSpPr>
          <p:spPr>
            <a:xfrm>
              <a:off x="4044906" y="365505"/>
              <a:ext cx="3544974" cy="1417989"/>
            </a:xfrm>
            <a:prstGeom prst="rect">
              <a:avLst/>
            </a:prstGeom>
            <a:noFill/>
            <a:ln>
              <a:noFill/>
            </a:ln>
          </p:spPr>
          <p:txBody>
            <a:bodyPr anchorCtr="0" anchor="ctr" bIns="130025" lIns="227575" spcFirstLastPara="1" rIns="227575" wrap="square" tIns="130025">
              <a:noAutofit/>
            </a:bodyPr>
            <a:lstStyle/>
            <a:p>
              <a:pPr indent="0" lvl="0" marL="0" marR="0" rtl="0" algn="ctr">
                <a:lnSpc>
                  <a:spcPct val="9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Integrity</a:t>
              </a:r>
              <a:endParaRPr b="0" i="0" sz="1400" u="none" cap="none" strike="noStrike">
                <a:solidFill>
                  <a:srgbClr val="000000"/>
                </a:solidFill>
                <a:latin typeface="Arial"/>
                <a:ea typeface="Arial"/>
                <a:cs typeface="Arial"/>
                <a:sym typeface="Arial"/>
              </a:endParaRPr>
            </a:p>
          </p:txBody>
        </p:sp>
        <p:sp>
          <p:nvSpPr>
            <p:cNvPr id="688" name="Google Shape;688;p66"/>
            <p:cNvSpPr/>
            <p:nvPr/>
          </p:nvSpPr>
          <p:spPr>
            <a:xfrm>
              <a:off x="4044906" y="1783494"/>
              <a:ext cx="3544974" cy="2854800"/>
            </a:xfrm>
            <a:prstGeom prst="rect">
              <a:avLst/>
            </a:prstGeom>
            <a:solidFill>
              <a:srgbClr val="D4D3E0">
                <a:alpha val="89411"/>
              </a:srgbClr>
            </a:solidFill>
            <a:ln cap="flat" cmpd="sng" w="25400">
              <a:solidFill>
                <a:srgbClr val="D4D3E0">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66"/>
            <p:cNvSpPr txBox="1"/>
            <p:nvPr/>
          </p:nvSpPr>
          <p:spPr>
            <a:xfrm>
              <a:off x="4044906" y="1783494"/>
              <a:ext cx="3544974" cy="2854800"/>
            </a:xfrm>
            <a:prstGeom prst="rect">
              <a:avLst/>
            </a:prstGeom>
            <a:noFill/>
            <a:ln>
              <a:noFill/>
            </a:ln>
          </p:spPr>
          <p:txBody>
            <a:bodyPr anchorCtr="0" anchor="t" bIns="256025" lIns="170675" spcFirstLastPara="1" rIns="227575" wrap="square" tIns="170675">
              <a:noAutofit/>
            </a:bodyPr>
            <a:lstStyle/>
            <a:p>
              <a:pPr indent="-285750" lvl="1" marL="285750" marR="0" rtl="0" algn="l">
                <a:lnSpc>
                  <a:spcPct val="9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PHI not altered or destroyed in unauthorized manner</a:t>
              </a:r>
              <a:endParaRPr b="0" i="0" sz="1400" u="none" cap="none" strike="noStrike">
                <a:solidFill>
                  <a:srgbClr val="000000"/>
                </a:solidFill>
                <a:latin typeface="Arial"/>
                <a:ea typeface="Arial"/>
                <a:cs typeface="Arial"/>
                <a:sym typeface="Arial"/>
              </a:endParaRPr>
            </a:p>
          </p:txBody>
        </p:sp>
        <p:sp>
          <p:nvSpPr>
            <p:cNvPr id="690" name="Google Shape;690;p66"/>
            <p:cNvSpPr/>
            <p:nvPr/>
          </p:nvSpPr>
          <p:spPr>
            <a:xfrm>
              <a:off x="8086176" y="365505"/>
              <a:ext cx="3544974" cy="1417989"/>
            </a:xfrm>
            <a:prstGeom prst="rect">
              <a:avLst/>
            </a:prstGeom>
            <a:solidFill>
              <a:srgbClr val="9C8F9F"/>
            </a:solidFill>
            <a:ln cap="flat" cmpd="sng" w="25400">
              <a:solidFill>
                <a:srgbClr val="9C8F9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66"/>
            <p:cNvSpPr txBox="1"/>
            <p:nvPr/>
          </p:nvSpPr>
          <p:spPr>
            <a:xfrm>
              <a:off x="8086176" y="365505"/>
              <a:ext cx="3544974" cy="1417989"/>
            </a:xfrm>
            <a:prstGeom prst="rect">
              <a:avLst/>
            </a:prstGeom>
            <a:noFill/>
            <a:ln>
              <a:noFill/>
            </a:ln>
          </p:spPr>
          <p:txBody>
            <a:bodyPr anchorCtr="0" anchor="ctr" bIns="130025" lIns="227575" spcFirstLastPara="1" rIns="227575" wrap="square" tIns="130025">
              <a:noAutofit/>
            </a:bodyPr>
            <a:lstStyle/>
            <a:p>
              <a:pPr indent="0" lvl="0" marL="0" marR="0" rtl="0" algn="ctr">
                <a:lnSpc>
                  <a:spcPct val="9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Availability</a:t>
              </a:r>
              <a:endParaRPr b="0" i="0" sz="1400" u="none" cap="none" strike="noStrike">
                <a:solidFill>
                  <a:srgbClr val="000000"/>
                </a:solidFill>
                <a:latin typeface="Arial"/>
                <a:ea typeface="Arial"/>
                <a:cs typeface="Arial"/>
                <a:sym typeface="Arial"/>
              </a:endParaRPr>
            </a:p>
          </p:txBody>
        </p:sp>
        <p:sp>
          <p:nvSpPr>
            <p:cNvPr id="692" name="Google Shape;692;p66"/>
            <p:cNvSpPr/>
            <p:nvPr/>
          </p:nvSpPr>
          <p:spPr>
            <a:xfrm>
              <a:off x="8086176" y="1783494"/>
              <a:ext cx="3544974" cy="2854800"/>
            </a:xfrm>
            <a:prstGeom prst="rect">
              <a:avLst/>
            </a:prstGeom>
            <a:solidFill>
              <a:srgbClr val="DCD8DE">
                <a:alpha val="89411"/>
              </a:srgbClr>
            </a:solidFill>
            <a:ln cap="flat" cmpd="sng" w="25400">
              <a:solidFill>
                <a:srgbClr val="DCD8DE">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66"/>
            <p:cNvSpPr txBox="1"/>
            <p:nvPr/>
          </p:nvSpPr>
          <p:spPr>
            <a:xfrm>
              <a:off x="8086176" y="1783494"/>
              <a:ext cx="3544974" cy="2854800"/>
            </a:xfrm>
            <a:prstGeom prst="rect">
              <a:avLst/>
            </a:prstGeom>
            <a:noFill/>
            <a:ln>
              <a:noFill/>
            </a:ln>
          </p:spPr>
          <p:txBody>
            <a:bodyPr anchorCtr="0" anchor="t" bIns="256025" lIns="170675" spcFirstLastPara="1" rIns="227575" wrap="square" tIns="170675">
              <a:noAutofit/>
            </a:bodyPr>
            <a:lstStyle/>
            <a:p>
              <a:pPr indent="-285750" lvl="1" marL="285750" marR="0" rtl="0" algn="l">
                <a:lnSpc>
                  <a:spcPct val="9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PHI accessible and usable on demand by authorized person</a:t>
              </a:r>
              <a:endParaRPr b="0" i="0" sz="1400" u="none" cap="none" strike="noStrike">
                <a:solidFill>
                  <a:srgbClr val="000000"/>
                </a:solidFill>
                <a:latin typeface="Arial"/>
                <a:ea typeface="Arial"/>
                <a:cs typeface="Arial"/>
                <a:sym typeface="Arial"/>
              </a:endParaRPr>
            </a:p>
          </p:txBody>
        </p:sp>
      </p:grpSp>
      <p:sp>
        <p:nvSpPr>
          <p:cNvPr id="694" name="Google Shape;694;p66"/>
          <p:cNvSpPr txBox="1"/>
          <p:nvPr/>
        </p:nvSpPr>
        <p:spPr>
          <a:xfrm>
            <a:off x="3041374" y="5990456"/>
            <a:ext cx="610925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https://www.hhs.gov/hipaa/for-professionals/security/index.html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67"/>
          <p:cNvSpPr txBox="1"/>
          <p:nvPr>
            <p:ph idx="1" type="body"/>
          </p:nvPr>
        </p:nvSpPr>
        <p:spPr>
          <a:xfrm>
            <a:off x="284480" y="1180828"/>
            <a:ext cx="5811520" cy="5086622"/>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SzPts val="2800"/>
              <a:buNone/>
            </a:pPr>
            <a:r>
              <a:rPr lang="en-US" sz="3200"/>
              <a:t>Health Information Technology for Economic and Clinical Health Act</a:t>
            </a:r>
            <a:endParaRPr/>
          </a:p>
          <a:p>
            <a:pPr indent="-228600" lvl="0" marL="457200" rtl="0" algn="ctr">
              <a:lnSpc>
                <a:spcPct val="110000"/>
              </a:lnSpc>
              <a:spcBef>
                <a:spcPts val="1000"/>
              </a:spcBef>
              <a:spcAft>
                <a:spcPts val="0"/>
              </a:spcAft>
              <a:buSzPts val="2800"/>
              <a:buNone/>
            </a:pPr>
            <a:r>
              <a:rPr lang="en-US" sz="4800"/>
              <a:t>⬇️</a:t>
            </a:r>
            <a:endParaRPr/>
          </a:p>
          <a:p>
            <a:pPr indent="-228600" lvl="0" marL="457200" rtl="0" algn="l">
              <a:lnSpc>
                <a:spcPct val="110000"/>
              </a:lnSpc>
              <a:spcBef>
                <a:spcPts val="1000"/>
              </a:spcBef>
              <a:spcAft>
                <a:spcPts val="0"/>
              </a:spcAft>
              <a:buSzPts val="2800"/>
              <a:buNone/>
            </a:pPr>
            <a:r>
              <a:rPr lang="en-US" sz="3200"/>
              <a:t>Electronic medical records</a:t>
            </a:r>
            <a:endParaRPr/>
          </a:p>
          <a:p>
            <a:pPr indent="-228600" lvl="0" marL="457200" rtl="0" algn="l">
              <a:lnSpc>
                <a:spcPct val="110000"/>
              </a:lnSpc>
              <a:spcBef>
                <a:spcPts val="1000"/>
              </a:spcBef>
              <a:spcAft>
                <a:spcPts val="0"/>
              </a:spcAft>
              <a:buSzPts val="2800"/>
              <a:buNone/>
            </a:pPr>
            <a:r>
              <a:rPr lang="en-US" sz="3200"/>
              <a:t>Patient portals</a:t>
            </a:r>
            <a:endParaRPr/>
          </a:p>
          <a:p>
            <a:pPr indent="-228600" lvl="0" marL="457200" rtl="0" algn="l">
              <a:lnSpc>
                <a:spcPct val="110000"/>
              </a:lnSpc>
              <a:spcBef>
                <a:spcPts val="1000"/>
              </a:spcBef>
              <a:spcAft>
                <a:spcPts val="0"/>
              </a:spcAft>
              <a:buSzPts val="2800"/>
              <a:buNone/>
            </a:pPr>
            <a:r>
              <a:rPr lang="en-US" sz="3200"/>
              <a:t>Health information exchanges</a:t>
            </a:r>
            <a:endParaRPr/>
          </a:p>
        </p:txBody>
      </p:sp>
      <p:sp>
        <p:nvSpPr>
          <p:cNvPr id="701" name="Google Shape;701;p67"/>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fontScale="92500" lnSpcReduction="10000"/>
          </a:bodyPr>
          <a:lstStyle/>
          <a:p>
            <a:pPr indent="-514350" lvl="0" marL="742950" rtl="0" algn="l">
              <a:lnSpc>
                <a:spcPct val="110000"/>
              </a:lnSpc>
              <a:spcBef>
                <a:spcPts val="1000"/>
              </a:spcBef>
              <a:spcAft>
                <a:spcPts val="0"/>
              </a:spcAft>
              <a:buSzPct val="94594"/>
              <a:buFont typeface="Arial"/>
              <a:buAutoNum type="arabicPeriod"/>
            </a:pPr>
            <a:r>
              <a:rPr lang="en-US" sz="3200"/>
              <a:t>Improve quality, safety, and efficiency</a:t>
            </a:r>
            <a:endParaRPr/>
          </a:p>
          <a:p>
            <a:pPr indent="-514350" lvl="0" marL="742950" rtl="0" algn="l">
              <a:lnSpc>
                <a:spcPct val="110000"/>
              </a:lnSpc>
              <a:spcBef>
                <a:spcPts val="1000"/>
              </a:spcBef>
              <a:spcAft>
                <a:spcPts val="0"/>
              </a:spcAft>
              <a:buSzPct val="94594"/>
              <a:buFont typeface="Arial"/>
              <a:buAutoNum type="arabicPeriod"/>
            </a:pPr>
            <a:r>
              <a:rPr lang="en-US" sz="3200"/>
              <a:t>Engage patients in their care</a:t>
            </a:r>
            <a:endParaRPr/>
          </a:p>
          <a:p>
            <a:pPr indent="-514350" lvl="0" marL="742950" rtl="0" algn="l">
              <a:lnSpc>
                <a:spcPct val="110000"/>
              </a:lnSpc>
              <a:spcBef>
                <a:spcPts val="1000"/>
              </a:spcBef>
              <a:spcAft>
                <a:spcPts val="0"/>
              </a:spcAft>
              <a:buSzPct val="94594"/>
              <a:buFont typeface="Arial"/>
              <a:buAutoNum type="arabicPeriod"/>
            </a:pPr>
            <a:r>
              <a:rPr lang="en-US" sz="3200"/>
              <a:t>Increase coordination of care</a:t>
            </a:r>
            <a:endParaRPr/>
          </a:p>
          <a:p>
            <a:pPr indent="-514350" lvl="0" marL="742950" rtl="0" algn="l">
              <a:lnSpc>
                <a:spcPct val="110000"/>
              </a:lnSpc>
              <a:spcBef>
                <a:spcPts val="1000"/>
              </a:spcBef>
              <a:spcAft>
                <a:spcPts val="0"/>
              </a:spcAft>
              <a:buSzPct val="94594"/>
              <a:buFont typeface="Arial"/>
              <a:buAutoNum type="arabicPeriod"/>
            </a:pPr>
            <a:r>
              <a:rPr lang="en-US" sz="3200"/>
              <a:t>Improve the health status of the population, and</a:t>
            </a:r>
            <a:endParaRPr/>
          </a:p>
          <a:p>
            <a:pPr indent="-514350" lvl="0" marL="742950" rtl="0" algn="l">
              <a:lnSpc>
                <a:spcPct val="110000"/>
              </a:lnSpc>
              <a:spcBef>
                <a:spcPts val="1000"/>
              </a:spcBef>
              <a:spcAft>
                <a:spcPts val="0"/>
              </a:spcAft>
              <a:buSzPct val="94594"/>
              <a:buFont typeface="Arial"/>
              <a:buAutoNum type="arabicPeriod"/>
            </a:pPr>
            <a:r>
              <a:rPr lang="en-US" sz="3200"/>
              <a:t>Ensure privacy and security</a:t>
            </a:r>
            <a:endParaRPr/>
          </a:p>
        </p:txBody>
      </p:sp>
      <p:sp>
        <p:nvSpPr>
          <p:cNvPr id="702" name="Google Shape;702;p67"/>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HITECH Act </a:t>
            </a:r>
            <a:r>
              <a:rPr lang="en-US" sz="4000"/>
              <a:t>(2009)</a:t>
            </a:r>
            <a:endParaRPr/>
          </a:p>
        </p:txBody>
      </p:sp>
      <p:sp>
        <p:nvSpPr>
          <p:cNvPr id="703" name="Google Shape;703;p67"/>
          <p:cNvSpPr txBox="1"/>
          <p:nvPr/>
        </p:nvSpPr>
        <p:spPr>
          <a:xfrm>
            <a:off x="272745" y="5959672"/>
            <a:ext cx="610925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https://hipaajournal.com/what-is-the-hitech-act/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68"/>
          <p:cNvSpPr txBox="1"/>
          <p:nvPr>
            <p:ph idx="4294967295" type="title"/>
          </p:nvPr>
        </p:nvSpPr>
        <p:spPr>
          <a:xfrm>
            <a:off x="284480" y="247842"/>
            <a:ext cx="8421370"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GDPR (EU)</a:t>
            </a:r>
            <a:endParaRPr/>
          </a:p>
        </p:txBody>
      </p:sp>
      <p:sp>
        <p:nvSpPr>
          <p:cNvPr id="710" name="Google Shape;710;p68"/>
          <p:cNvSpPr txBox="1"/>
          <p:nvPr/>
        </p:nvSpPr>
        <p:spPr>
          <a:xfrm>
            <a:off x="0" y="6858000"/>
            <a:ext cx="52959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rgbClr val="000000"/>
                </a:solidFill>
                <a:latin typeface="Arial"/>
                <a:ea typeface="Arial"/>
                <a:cs typeface="Arial"/>
                <a:sym typeface="Arial"/>
                <a:hlinkClick r:id="rId3">
                  <a:extLst>
                    <a:ext uri="{A12FA001-AC4F-418D-AE19-62706E023703}">
                      <ahyp:hlinkClr val="tx"/>
                    </a:ext>
                  </a:extLst>
                </a:hlinkClick>
              </a:rPr>
              <a:t>This Photo</a:t>
            </a:r>
            <a:r>
              <a:rPr b="0" i="0" lang="en-US" sz="900" u="none" cap="none" strike="noStrike">
                <a:solidFill>
                  <a:srgbClr val="000000"/>
                </a:solidFill>
                <a:latin typeface="Arial"/>
                <a:ea typeface="Arial"/>
                <a:cs typeface="Arial"/>
                <a:sym typeface="Arial"/>
              </a:rPr>
              <a:t> by Unknown Author is licensed under </a:t>
            </a:r>
            <a:r>
              <a:rPr b="0" i="0" lang="en-US" sz="900" u="sng" cap="none" strike="noStrike">
                <a:solidFill>
                  <a:srgbClr val="000000"/>
                </a:solidFill>
                <a:latin typeface="Arial"/>
                <a:ea typeface="Arial"/>
                <a:cs typeface="Arial"/>
                <a:sym typeface="Arial"/>
                <a:hlinkClick r:id="rId4">
                  <a:extLst>
                    <a:ext uri="{A12FA001-AC4F-418D-AE19-62706E023703}">
                      <ahyp:hlinkClr val="tx"/>
                    </a:ext>
                  </a:extLst>
                </a:hlinkClick>
              </a:rPr>
              <a:t>CC BY-ND</a:t>
            </a:r>
            <a:endParaRPr b="0" i="0" sz="900" u="none" cap="none" strike="noStrike">
              <a:solidFill>
                <a:srgbClr val="000000"/>
              </a:solidFill>
              <a:latin typeface="Arial"/>
              <a:ea typeface="Arial"/>
              <a:cs typeface="Arial"/>
              <a:sym typeface="Arial"/>
            </a:endParaRPr>
          </a:p>
        </p:txBody>
      </p:sp>
      <p:sp>
        <p:nvSpPr>
          <p:cNvPr id="711" name="Google Shape;711;p68"/>
          <p:cNvSpPr txBox="1"/>
          <p:nvPr/>
        </p:nvSpPr>
        <p:spPr>
          <a:xfrm>
            <a:off x="284480" y="1241248"/>
            <a:ext cx="5913120" cy="50037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Rights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Access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Rectification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Erasure (“right to be forgotten”)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Restriction of processing</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Data portability</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Object</a:t>
            </a:r>
            <a:endParaRPr b="0" i="0" sz="1400" u="none" cap="none" strike="noStrike">
              <a:solidFill>
                <a:srgbClr val="000000"/>
              </a:solidFill>
              <a:latin typeface="Arial"/>
              <a:ea typeface="Arial"/>
              <a:cs typeface="Arial"/>
              <a:sym typeface="Arial"/>
            </a:endParaRPr>
          </a:p>
        </p:txBody>
      </p:sp>
      <p:sp>
        <p:nvSpPr>
          <p:cNvPr id="712" name="Google Shape;712;p68"/>
          <p:cNvSpPr txBox="1"/>
          <p:nvPr/>
        </p:nvSpPr>
        <p:spPr>
          <a:xfrm>
            <a:off x="6692900" y="5901795"/>
            <a:ext cx="529590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https://gdpr-info.eu/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9"/>
          <p:cNvSpPr txBox="1"/>
          <p:nvPr>
            <p:ph idx="4294967295" type="title"/>
          </p:nvPr>
        </p:nvSpPr>
        <p:spPr>
          <a:xfrm>
            <a:off x="284480" y="247842"/>
            <a:ext cx="8421370"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Who Owns Patient Data?</a:t>
            </a:r>
            <a:endParaRPr/>
          </a:p>
        </p:txBody>
      </p:sp>
      <p:pic>
        <p:nvPicPr>
          <p:cNvPr id="719" name="Google Shape;719;p69"/>
          <p:cNvPicPr preferRelativeResize="0"/>
          <p:nvPr/>
        </p:nvPicPr>
        <p:blipFill rotWithShape="1">
          <a:blip r:embed="rId3">
            <a:alphaModFix/>
          </a:blip>
          <a:srcRect b="0" l="0" r="0" t="0"/>
          <a:stretch/>
        </p:blipFill>
        <p:spPr>
          <a:xfrm>
            <a:off x="480504" y="2835753"/>
            <a:ext cx="3810000" cy="3810000"/>
          </a:xfrm>
          <a:prstGeom prst="rect">
            <a:avLst/>
          </a:prstGeom>
          <a:noFill/>
          <a:ln>
            <a:noFill/>
          </a:ln>
        </p:spPr>
      </p:pic>
      <p:pic>
        <p:nvPicPr>
          <p:cNvPr descr="Image with a map of world  as performing entity and patients." id="720" name="Google Shape;720;p69"/>
          <p:cNvPicPr preferRelativeResize="0"/>
          <p:nvPr/>
        </p:nvPicPr>
        <p:blipFill rotWithShape="1">
          <a:blip r:embed="rId4">
            <a:alphaModFix/>
          </a:blip>
          <a:srcRect b="0" l="0" r="0" t="0"/>
          <a:stretch/>
        </p:blipFill>
        <p:spPr>
          <a:xfrm>
            <a:off x="808889" y="619943"/>
            <a:ext cx="3810000" cy="3810000"/>
          </a:xfrm>
          <a:prstGeom prst="rect">
            <a:avLst/>
          </a:prstGeom>
          <a:noFill/>
          <a:ln>
            <a:noFill/>
          </a:ln>
        </p:spPr>
      </p:pic>
      <p:pic>
        <p:nvPicPr>
          <p:cNvPr id="721" name="Google Shape;721;p69"/>
          <p:cNvPicPr preferRelativeResize="0"/>
          <p:nvPr/>
        </p:nvPicPr>
        <p:blipFill rotWithShape="1">
          <a:blip r:embed="rId5">
            <a:alphaModFix/>
          </a:blip>
          <a:srcRect b="0" l="0" r="0" t="0"/>
          <a:stretch/>
        </p:blipFill>
        <p:spPr>
          <a:xfrm>
            <a:off x="5014404" y="1282725"/>
            <a:ext cx="3810000" cy="3810000"/>
          </a:xfrm>
          <a:prstGeom prst="rect">
            <a:avLst/>
          </a:prstGeom>
          <a:noFill/>
          <a:ln>
            <a:noFill/>
          </a:ln>
        </p:spPr>
      </p:pic>
      <p:sp>
        <p:nvSpPr>
          <p:cNvPr id="722" name="Google Shape;722;p69"/>
          <p:cNvSpPr txBox="1"/>
          <p:nvPr/>
        </p:nvSpPr>
        <p:spPr>
          <a:xfrm>
            <a:off x="1070145" y="4014444"/>
            <a:ext cx="1850571"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Performing entity</a:t>
            </a:r>
            <a:endParaRPr b="0" i="0" sz="1400" u="none" cap="none" strike="noStrike">
              <a:solidFill>
                <a:srgbClr val="000000"/>
              </a:solidFill>
              <a:latin typeface="Arial"/>
              <a:ea typeface="Arial"/>
              <a:cs typeface="Arial"/>
              <a:sym typeface="Arial"/>
            </a:endParaRPr>
          </a:p>
        </p:txBody>
      </p:sp>
      <p:sp>
        <p:nvSpPr>
          <p:cNvPr id="723" name="Google Shape;723;p69"/>
          <p:cNvSpPr txBox="1"/>
          <p:nvPr/>
        </p:nvSpPr>
        <p:spPr>
          <a:xfrm>
            <a:off x="892346" y="2318786"/>
            <a:ext cx="1850571"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Performing entity*</a:t>
            </a:r>
            <a:endParaRPr b="0" i="0" sz="1400" u="none" cap="none" strike="noStrike">
              <a:solidFill>
                <a:srgbClr val="000000"/>
              </a:solidFill>
              <a:latin typeface="Arial"/>
              <a:ea typeface="Arial"/>
              <a:cs typeface="Arial"/>
              <a:sym typeface="Arial"/>
            </a:endParaRPr>
          </a:p>
        </p:txBody>
      </p:sp>
      <p:sp>
        <p:nvSpPr>
          <p:cNvPr id="724" name="Google Shape;724;p69"/>
          <p:cNvSpPr txBox="1"/>
          <p:nvPr/>
        </p:nvSpPr>
        <p:spPr>
          <a:xfrm>
            <a:off x="9532298" y="5884158"/>
            <a:ext cx="26597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*with provincial variation</a:t>
            </a:r>
            <a:endParaRPr b="0" i="0" sz="1400" u="none" cap="none" strike="noStrike">
              <a:solidFill>
                <a:srgbClr val="000000"/>
              </a:solidFill>
              <a:latin typeface="Arial"/>
              <a:ea typeface="Arial"/>
              <a:cs typeface="Arial"/>
              <a:sym typeface="Arial"/>
            </a:endParaRPr>
          </a:p>
        </p:txBody>
      </p:sp>
      <p:sp>
        <p:nvSpPr>
          <p:cNvPr id="725" name="Google Shape;725;p69"/>
          <p:cNvSpPr txBox="1"/>
          <p:nvPr/>
        </p:nvSpPr>
        <p:spPr>
          <a:xfrm>
            <a:off x="6614866" y="3365753"/>
            <a:ext cx="1204176"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Patients</a:t>
            </a:r>
            <a:endParaRPr b="0" i="0" sz="1400" u="none" cap="none" strike="noStrike">
              <a:solidFill>
                <a:srgbClr val="000000"/>
              </a:solidFill>
              <a:latin typeface="Arial"/>
              <a:ea typeface="Arial"/>
              <a:cs typeface="Arial"/>
              <a:sym typeface="Arial"/>
            </a:endParaRPr>
          </a:p>
        </p:txBody>
      </p:sp>
      <p:sp>
        <p:nvSpPr>
          <p:cNvPr id="726" name="Google Shape;726;p69"/>
          <p:cNvSpPr txBox="1"/>
          <p:nvPr/>
        </p:nvSpPr>
        <p:spPr>
          <a:xfrm>
            <a:off x="3791523" y="5861125"/>
            <a:ext cx="460895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https://pubs.rsna.org/doi/full/10.1148/radiol.2019191586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pic>
        <p:nvPicPr>
          <p:cNvPr descr="A map of the United States showing different colors for states based on 'Medical Record Ownership Laws', differentiating between states where the hospital/physician owns the medical record, states where the patient owns the information, and states with no specific law identified." id="732" name="Google Shape;732;p70"/>
          <p:cNvPicPr preferRelativeResize="0"/>
          <p:nvPr/>
        </p:nvPicPr>
        <p:blipFill rotWithShape="1">
          <a:blip r:embed="rId3">
            <a:alphaModFix/>
          </a:blip>
          <a:srcRect b="-2505" l="-3953" r="12219" t="8324"/>
          <a:stretch/>
        </p:blipFill>
        <p:spPr>
          <a:xfrm>
            <a:off x="272744" y="856816"/>
            <a:ext cx="6244797" cy="5086621"/>
          </a:xfrm>
          <a:prstGeom prst="rect">
            <a:avLst/>
          </a:prstGeom>
          <a:noFill/>
          <a:ln>
            <a:noFill/>
          </a:ln>
        </p:spPr>
      </p:pic>
      <p:sp>
        <p:nvSpPr>
          <p:cNvPr id="733" name="Google Shape;733;p70"/>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Clr>
                <a:schemeClr val="dk2"/>
              </a:buClr>
              <a:buSzPts val="1800"/>
              <a:buNone/>
            </a:pPr>
            <a:r>
              <a:rPr lang="en-US" sz="3600"/>
              <a:t>Health care provider who owns the medium in which data is recorded</a:t>
            </a:r>
            <a:endParaRPr/>
          </a:p>
          <a:p>
            <a:pPr indent="-228600" lvl="0" marL="457200" rtl="0" algn="l">
              <a:lnSpc>
                <a:spcPct val="110000"/>
              </a:lnSpc>
              <a:spcBef>
                <a:spcPts val="1000"/>
              </a:spcBef>
              <a:spcAft>
                <a:spcPts val="0"/>
              </a:spcAft>
              <a:buClr>
                <a:schemeClr val="dk2"/>
              </a:buClr>
              <a:buSzPts val="1800"/>
              <a:buNone/>
            </a:pPr>
            <a:r>
              <a:rPr lang="en-US" sz="3600"/>
              <a:t>Patients’ rights: privacy, security, access</a:t>
            </a:r>
            <a:endParaRPr/>
          </a:p>
        </p:txBody>
      </p:sp>
      <p:sp>
        <p:nvSpPr>
          <p:cNvPr id="734" name="Google Shape;734;p70"/>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Who Owns Patient Data?</a:t>
            </a:r>
            <a:endParaRPr/>
          </a:p>
        </p:txBody>
      </p:sp>
      <p:sp>
        <p:nvSpPr>
          <p:cNvPr id="735" name="Google Shape;735;p70"/>
          <p:cNvSpPr/>
          <p:nvPr/>
        </p:nvSpPr>
        <p:spPr>
          <a:xfrm>
            <a:off x="965905" y="5960408"/>
            <a:ext cx="1026019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http://www.healthinfolaw.org/comparative-analysis/who-owns-medical-records-50-state-comparison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71"/>
          <p:cNvSpPr txBox="1"/>
          <p:nvPr>
            <p:ph idx="1" type="body"/>
          </p:nvPr>
        </p:nvSpPr>
        <p:spPr>
          <a:xfrm>
            <a:off x="284480" y="1180828"/>
            <a:ext cx="5811520" cy="5086622"/>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SzPts val="2800"/>
              <a:buNone/>
            </a:pPr>
            <a:r>
              <a:rPr lang="en-US"/>
              <a:t>Electronic patient portals</a:t>
            </a:r>
            <a:endParaRPr/>
          </a:p>
          <a:p>
            <a:pPr indent="-457200" lvl="0" marL="685800" rtl="0" algn="l">
              <a:lnSpc>
                <a:spcPct val="110000"/>
              </a:lnSpc>
              <a:spcBef>
                <a:spcPts val="1000"/>
              </a:spcBef>
              <a:spcAft>
                <a:spcPts val="0"/>
              </a:spcAft>
              <a:buSzPts val="2800"/>
              <a:buFont typeface="Arial"/>
              <a:buChar char="•"/>
            </a:pPr>
            <a:r>
              <a:rPr lang="en-US"/>
              <a:t>Test results</a:t>
            </a:r>
            <a:endParaRPr/>
          </a:p>
          <a:p>
            <a:pPr indent="-457200" lvl="0" marL="685800" rtl="0" algn="l">
              <a:lnSpc>
                <a:spcPct val="110000"/>
              </a:lnSpc>
              <a:spcBef>
                <a:spcPts val="1000"/>
              </a:spcBef>
              <a:spcAft>
                <a:spcPts val="0"/>
              </a:spcAft>
              <a:buSzPts val="2800"/>
              <a:buFont typeface="Arial"/>
              <a:buChar char="•"/>
            </a:pPr>
            <a:r>
              <a:rPr lang="en-US"/>
              <a:t>Visit notes/after visit summary</a:t>
            </a:r>
            <a:endParaRPr/>
          </a:p>
          <a:p>
            <a:pPr indent="-457200" lvl="0" marL="685800" rtl="0" algn="l">
              <a:lnSpc>
                <a:spcPct val="110000"/>
              </a:lnSpc>
              <a:spcBef>
                <a:spcPts val="1000"/>
              </a:spcBef>
              <a:spcAft>
                <a:spcPts val="0"/>
              </a:spcAft>
              <a:buSzPts val="2800"/>
              <a:buFont typeface="Arial"/>
              <a:buChar char="•"/>
            </a:pPr>
            <a:r>
              <a:rPr lang="en-US"/>
              <a:t>+/- Images</a:t>
            </a:r>
            <a:endParaRPr/>
          </a:p>
          <a:p>
            <a:pPr indent="-457200" lvl="0" marL="685800" rtl="0" algn="l">
              <a:lnSpc>
                <a:spcPct val="110000"/>
              </a:lnSpc>
              <a:spcBef>
                <a:spcPts val="1000"/>
              </a:spcBef>
              <a:spcAft>
                <a:spcPts val="0"/>
              </a:spcAft>
              <a:buSzPts val="2800"/>
              <a:buFont typeface="Arial"/>
              <a:buChar char="•"/>
            </a:pPr>
            <a:r>
              <a:rPr lang="en-US"/>
              <a:t>Messaging to care team</a:t>
            </a:r>
            <a:endParaRPr/>
          </a:p>
          <a:p>
            <a:pPr indent="-457200" lvl="0" marL="685800" rtl="0" algn="l">
              <a:lnSpc>
                <a:spcPct val="110000"/>
              </a:lnSpc>
              <a:spcBef>
                <a:spcPts val="1000"/>
              </a:spcBef>
              <a:spcAft>
                <a:spcPts val="0"/>
              </a:spcAft>
              <a:buSzPts val="2800"/>
              <a:buFont typeface="Arial"/>
              <a:buChar char="•"/>
            </a:pPr>
            <a:r>
              <a:rPr lang="en-US"/>
              <a:t>Billing</a:t>
            </a:r>
            <a:endParaRPr/>
          </a:p>
          <a:p>
            <a:pPr indent="0" lvl="0" marL="228600" rtl="0" algn="l">
              <a:lnSpc>
                <a:spcPct val="110000"/>
              </a:lnSpc>
              <a:spcBef>
                <a:spcPts val="1000"/>
              </a:spcBef>
              <a:spcAft>
                <a:spcPts val="0"/>
              </a:spcAft>
              <a:buSzPts val="2800"/>
              <a:buNone/>
            </a:pPr>
            <a:r>
              <a:t/>
            </a:r>
            <a:endParaRPr/>
          </a:p>
          <a:p>
            <a:pPr indent="0" lvl="0" marL="228600" rtl="0" algn="l">
              <a:lnSpc>
                <a:spcPct val="110000"/>
              </a:lnSpc>
              <a:spcBef>
                <a:spcPts val="1000"/>
              </a:spcBef>
              <a:spcAft>
                <a:spcPts val="0"/>
              </a:spcAft>
              <a:buSzPts val="2800"/>
              <a:buNone/>
            </a:pPr>
            <a:r>
              <a:rPr lang="en-US"/>
              <a:t>Immediate results release</a:t>
            </a:r>
            <a:endParaRPr/>
          </a:p>
        </p:txBody>
      </p:sp>
      <p:pic>
        <p:nvPicPr>
          <p:cNvPr descr="A promotional banner for the 21st Century Cures Act outlining its benefits: 'Provides hope for patients &amp; families,' 'Invests in research &amp; innovation,' 'Supports development of new drugs &amp; devices,' and 'Streamlines the approval process." id="742" name="Google Shape;742;p71"/>
          <p:cNvPicPr preferRelativeResize="0"/>
          <p:nvPr>
            <p:ph idx="2" type="body"/>
          </p:nvPr>
        </p:nvPicPr>
        <p:blipFill rotWithShape="1">
          <a:blip r:embed="rId3">
            <a:alphaModFix/>
          </a:blip>
          <a:srcRect b="0" l="0" r="0" t="0"/>
          <a:stretch/>
        </p:blipFill>
        <p:spPr>
          <a:xfrm>
            <a:off x="6250108" y="1803715"/>
            <a:ext cx="5669147" cy="3840847"/>
          </a:xfrm>
          <a:prstGeom prst="rect">
            <a:avLst/>
          </a:prstGeom>
          <a:noFill/>
          <a:ln>
            <a:noFill/>
          </a:ln>
        </p:spPr>
      </p:pic>
      <p:sp>
        <p:nvSpPr>
          <p:cNvPr id="743" name="Google Shape;743;p71"/>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21</a:t>
            </a:r>
            <a:r>
              <a:rPr baseline="30000" lang="en-US"/>
              <a:t>st</a:t>
            </a:r>
            <a:r>
              <a:rPr lang="en-US"/>
              <a:t> Century Cures Act</a:t>
            </a:r>
            <a:endParaRPr/>
          </a:p>
        </p:txBody>
      </p:sp>
      <p:sp>
        <p:nvSpPr>
          <p:cNvPr id="744" name="Google Shape;744;p71"/>
          <p:cNvSpPr txBox="1"/>
          <p:nvPr/>
        </p:nvSpPr>
        <p:spPr>
          <a:xfrm>
            <a:off x="9195432" y="7008264"/>
            <a:ext cx="2723823" cy="200055"/>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700"/>
              <a:buFont typeface="Arial"/>
              <a:buNone/>
            </a:pPr>
            <a:r>
              <a:rPr b="0" i="0" lang="en-US" sz="700" u="sng" cap="none" strike="noStrike">
                <a:solidFill>
                  <a:srgbClr val="FFFFFF"/>
                </a:solidFill>
                <a:latin typeface="Arial"/>
                <a:ea typeface="Arial"/>
                <a:cs typeface="Arial"/>
                <a:sym typeface="Arial"/>
                <a:hlinkClick r:id="rId4">
                  <a:extLst>
                    <a:ext uri="{A12FA001-AC4F-418D-AE19-62706E023703}">
                      <ahyp:hlinkClr val="tx"/>
                    </a:ext>
                  </a:extLst>
                </a:hlinkClick>
              </a:rPr>
              <a:t>This Photo</a:t>
            </a:r>
            <a:r>
              <a:rPr b="0" i="0" lang="en-US" sz="700" u="none" cap="none" strike="noStrike">
                <a:solidFill>
                  <a:srgbClr val="FFFFFF"/>
                </a:solidFill>
                <a:latin typeface="Arial"/>
                <a:ea typeface="Arial"/>
                <a:cs typeface="Arial"/>
                <a:sym typeface="Arial"/>
              </a:rPr>
              <a:t> by Unknown Author is licensed under </a:t>
            </a:r>
            <a:r>
              <a:rPr b="0" i="0" lang="en-US" sz="700" u="sng" cap="none" strike="noStrike">
                <a:solidFill>
                  <a:srgbClr val="FFFFFF"/>
                </a:solidFill>
                <a:latin typeface="Arial"/>
                <a:ea typeface="Arial"/>
                <a:cs typeface="Arial"/>
                <a:sym typeface="Arial"/>
                <a:hlinkClick r:id="rId5">
                  <a:extLst>
                    <a:ext uri="{A12FA001-AC4F-418D-AE19-62706E023703}">
                      <ahyp:hlinkClr val="tx"/>
                    </a:ext>
                  </a:extLst>
                </a:hlinkClick>
              </a:rPr>
              <a:t>CC BY-SA-NC</a:t>
            </a:r>
            <a:endParaRPr b="0" i="0" sz="700" u="none" cap="none" strike="noStrike">
              <a:solidFill>
                <a:srgbClr val="FFFFFF"/>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72"/>
          <p:cNvSpPr txBox="1"/>
          <p:nvPr>
            <p:ph idx="4294967295" type="ctrTitle"/>
          </p:nvPr>
        </p:nvSpPr>
        <p:spPr>
          <a:xfrm>
            <a:off x="142875" y="666300"/>
            <a:ext cx="3864600" cy="903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EAS 5850:</a:t>
            </a:r>
            <a:endParaRPr b="1" i="0" sz="2400" u="none" cap="none" strike="noStrike">
              <a:solidFill>
                <a:srgbClr val="003399"/>
              </a:solidFill>
              <a:latin typeface="Arial"/>
              <a:ea typeface="Arial"/>
              <a:cs typeface="Arial"/>
              <a:sym typeface="Arial"/>
            </a:endParaRPr>
          </a:p>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IMAGING INFORMATICS</a:t>
            </a:r>
            <a:endParaRPr b="1" i="0" sz="2400" u="none" cap="none" strike="noStrike">
              <a:solidFill>
                <a:srgbClr val="003399"/>
              </a:solidFill>
              <a:latin typeface="Arial"/>
              <a:ea typeface="Arial"/>
              <a:cs typeface="Arial"/>
              <a:sym typeface="Arial"/>
            </a:endParaRPr>
          </a:p>
        </p:txBody>
      </p:sp>
      <p:sp>
        <p:nvSpPr>
          <p:cNvPr id="750" name="Google Shape;750;p72"/>
          <p:cNvSpPr txBox="1"/>
          <p:nvPr>
            <p:ph idx="4294967295" type="subTitle"/>
          </p:nvPr>
        </p:nvSpPr>
        <p:spPr>
          <a:xfrm>
            <a:off x="142875" y="2708910"/>
            <a:ext cx="3864600" cy="1440180"/>
          </a:xfrm>
          <a:prstGeom prst="rect">
            <a:avLst/>
          </a:prstGeom>
          <a:solidFill>
            <a:schemeClr val="lt1"/>
          </a:solidFill>
          <a:ln cap="flat" cmpd="sng" w="9525">
            <a:solidFill>
              <a:srgbClr val="0033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dk2"/>
              </a:buClr>
              <a:buSzPts val="2000"/>
              <a:buFont typeface="Arial"/>
              <a:buNone/>
            </a:pPr>
            <a:r>
              <a:rPr b="0" i="0" lang="en-US" sz="3600" u="none" cap="none" strike="noStrike">
                <a:solidFill>
                  <a:schemeClr val="dk2"/>
                </a:solidFill>
                <a:latin typeface="Arial"/>
                <a:ea typeface="Arial"/>
                <a:cs typeface="Arial"/>
                <a:sym typeface="Arial"/>
              </a:rPr>
              <a:t>De-Identification of Medical Data</a:t>
            </a:r>
            <a:endParaRPr b="0" i="0" sz="2800" u="none" cap="none" strike="noStrike">
              <a:solidFill>
                <a:schemeClr val="dk2"/>
              </a:solidFill>
              <a:latin typeface="Arial"/>
              <a:ea typeface="Arial"/>
              <a:cs typeface="Arial"/>
              <a:sym typeface="Arial"/>
            </a:endParaRPr>
          </a:p>
        </p:txBody>
      </p:sp>
      <p:sp>
        <p:nvSpPr>
          <p:cNvPr id="751" name="Google Shape;751;p72"/>
          <p:cNvSpPr txBox="1"/>
          <p:nvPr/>
        </p:nvSpPr>
        <p:spPr>
          <a:xfrm>
            <a:off x="142875" y="5376850"/>
            <a:ext cx="3864600" cy="492600"/>
          </a:xfrm>
          <a:prstGeom prst="rect">
            <a:avLst/>
          </a:prstGeom>
          <a:solidFill>
            <a:schemeClr val="lt1"/>
          </a:solidFill>
          <a:ln cap="flat" cmpd="sng" w="9525">
            <a:solidFill>
              <a:srgbClr val="33CCCC"/>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accent1"/>
                </a:solidFill>
                <a:latin typeface="Arial"/>
                <a:ea typeface="Arial"/>
                <a:cs typeface="Arial"/>
                <a:sym typeface="Arial"/>
              </a:rPr>
              <a:t>Dr. Tessa S. Cook </a:t>
            </a:r>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3"/>
          <p:cNvSpPr txBox="1"/>
          <p:nvPr>
            <p:ph idx="1" type="body"/>
          </p:nvPr>
        </p:nvSpPr>
        <p:spPr>
          <a:xfrm>
            <a:off x="284480" y="993406"/>
            <a:ext cx="5811520" cy="5086622"/>
          </a:xfrm>
          <a:prstGeom prst="rect">
            <a:avLst/>
          </a:prstGeom>
          <a:noFill/>
          <a:ln>
            <a:noFill/>
          </a:ln>
        </p:spPr>
        <p:txBody>
          <a:bodyPr anchorCtr="0" anchor="t" bIns="45700" lIns="91425" spcFirstLastPara="1" rIns="91425" wrap="square" tIns="45700">
            <a:noAutofit/>
          </a:bodyPr>
          <a:lstStyle/>
          <a:p>
            <a:pPr indent="0" lvl="0" marL="228600" rtl="0" algn="l">
              <a:lnSpc>
                <a:spcPct val="100000"/>
              </a:lnSpc>
              <a:spcBef>
                <a:spcPts val="1000"/>
              </a:spcBef>
              <a:spcAft>
                <a:spcPts val="0"/>
              </a:spcAft>
              <a:buSzPts val="2800"/>
              <a:buNone/>
            </a:pPr>
            <a:r>
              <a:rPr lang="en-US" sz="4000"/>
              <a:t>Notes &amp; documents</a:t>
            </a:r>
            <a:endParaRPr/>
          </a:p>
          <a:p>
            <a:pPr indent="0" lvl="0" marL="228600" rtl="0" algn="l">
              <a:lnSpc>
                <a:spcPct val="100000"/>
              </a:lnSpc>
              <a:spcBef>
                <a:spcPts val="1000"/>
              </a:spcBef>
              <a:spcAft>
                <a:spcPts val="0"/>
              </a:spcAft>
              <a:buSzPts val="2800"/>
              <a:buNone/>
            </a:pPr>
            <a:r>
              <a:rPr lang="en-US" sz="4000"/>
              <a:t>Vital signs</a:t>
            </a:r>
            <a:endParaRPr/>
          </a:p>
          <a:p>
            <a:pPr indent="0" lvl="0" marL="228600" rtl="0" algn="l">
              <a:lnSpc>
                <a:spcPct val="100000"/>
              </a:lnSpc>
              <a:spcBef>
                <a:spcPts val="1000"/>
              </a:spcBef>
              <a:spcAft>
                <a:spcPts val="0"/>
              </a:spcAft>
              <a:buSzPts val="2800"/>
              <a:buNone/>
            </a:pPr>
            <a:r>
              <a:rPr lang="en-US" sz="4000"/>
              <a:t>Test results</a:t>
            </a:r>
            <a:endParaRPr/>
          </a:p>
          <a:p>
            <a:pPr indent="0" lvl="0" marL="228600" rtl="0" algn="l">
              <a:lnSpc>
                <a:spcPct val="100000"/>
              </a:lnSpc>
              <a:spcBef>
                <a:spcPts val="1000"/>
              </a:spcBef>
              <a:spcAft>
                <a:spcPts val="0"/>
              </a:spcAft>
              <a:buSzPts val="2800"/>
              <a:buNone/>
            </a:pPr>
            <a:r>
              <a:rPr lang="en-US" sz="4000"/>
              <a:t>Images</a:t>
            </a:r>
            <a:endParaRPr/>
          </a:p>
          <a:p>
            <a:pPr indent="0" lvl="0" marL="228600" rtl="0" algn="l">
              <a:lnSpc>
                <a:spcPct val="100000"/>
              </a:lnSpc>
              <a:spcBef>
                <a:spcPts val="1000"/>
              </a:spcBef>
              <a:spcAft>
                <a:spcPts val="0"/>
              </a:spcAft>
              <a:buSzPts val="2800"/>
              <a:buNone/>
            </a:pPr>
            <a:r>
              <a:rPr lang="en-US" sz="4000"/>
              <a:t>Vaccinations</a:t>
            </a:r>
            <a:endParaRPr/>
          </a:p>
          <a:p>
            <a:pPr indent="0" lvl="0" marL="228600" rtl="0" algn="l">
              <a:lnSpc>
                <a:spcPct val="100000"/>
              </a:lnSpc>
              <a:spcBef>
                <a:spcPts val="1000"/>
              </a:spcBef>
              <a:spcAft>
                <a:spcPts val="0"/>
              </a:spcAft>
              <a:buSzPts val="2800"/>
              <a:buNone/>
            </a:pPr>
            <a:r>
              <a:rPr lang="en-US" sz="4000"/>
              <a:t>Medications </a:t>
            </a:r>
            <a:endParaRPr/>
          </a:p>
          <a:p>
            <a:pPr indent="0" lvl="0" marL="228600" rtl="0" algn="l">
              <a:lnSpc>
                <a:spcPct val="100000"/>
              </a:lnSpc>
              <a:spcBef>
                <a:spcPts val="1000"/>
              </a:spcBef>
              <a:spcAft>
                <a:spcPts val="0"/>
              </a:spcAft>
              <a:buSzPts val="2800"/>
              <a:buNone/>
            </a:pPr>
            <a:r>
              <a:rPr lang="en-US" sz="4000"/>
              <a:t>Administrative</a:t>
            </a:r>
            <a:endParaRPr/>
          </a:p>
        </p:txBody>
      </p:sp>
      <p:pic>
        <p:nvPicPr>
          <p:cNvPr descr="Image of concentric circles made up of binary numbers." id="758" name="Google Shape;758;p73"/>
          <p:cNvPicPr preferRelativeResize="0"/>
          <p:nvPr>
            <p:ph idx="2" type="body"/>
          </p:nvPr>
        </p:nvPicPr>
        <p:blipFill rotWithShape="1">
          <a:blip r:embed="rId3">
            <a:alphaModFix/>
          </a:blip>
          <a:srcRect b="0" l="0" r="0" t="0"/>
          <a:stretch/>
        </p:blipFill>
        <p:spPr>
          <a:xfrm>
            <a:off x="6249988" y="1836698"/>
            <a:ext cx="5668962" cy="3775154"/>
          </a:xfrm>
          <a:prstGeom prst="rect">
            <a:avLst/>
          </a:prstGeom>
          <a:noFill/>
          <a:ln>
            <a:noFill/>
          </a:ln>
        </p:spPr>
      </p:pic>
      <p:sp>
        <p:nvSpPr>
          <p:cNvPr id="759" name="Google Shape;759;p73"/>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Patient Data: A Reminder</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4"/>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Who is Exchanging Data?</a:t>
            </a:r>
            <a:endParaRPr/>
          </a:p>
        </p:txBody>
      </p:sp>
      <p:grpSp>
        <p:nvGrpSpPr>
          <p:cNvPr id="766" name="Google Shape;766;p74"/>
          <p:cNvGrpSpPr/>
          <p:nvPr/>
        </p:nvGrpSpPr>
        <p:grpSpPr>
          <a:xfrm>
            <a:off x="1186691" y="1668687"/>
            <a:ext cx="6098673" cy="4192837"/>
            <a:chOff x="2126" y="79250"/>
            <a:chExt cx="6098673" cy="4192837"/>
          </a:xfrm>
        </p:grpSpPr>
        <p:sp>
          <p:nvSpPr>
            <p:cNvPr id="767" name="Google Shape;767;p74"/>
            <p:cNvSpPr/>
            <p:nvPr/>
          </p:nvSpPr>
          <p:spPr>
            <a:xfrm>
              <a:off x="2126" y="1540391"/>
              <a:ext cx="2541113" cy="1270556"/>
            </a:xfrm>
            <a:prstGeom prst="roundRect">
              <a:avLst>
                <a:gd fmla="val 10000" name="adj"/>
              </a:avLst>
            </a:prstGeom>
            <a:solidFill>
              <a:schemeClr val="accent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74"/>
            <p:cNvSpPr txBox="1"/>
            <p:nvPr/>
          </p:nvSpPr>
          <p:spPr>
            <a:xfrm>
              <a:off x="39339" y="1577604"/>
              <a:ext cx="2466687" cy="1196130"/>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Imaging facilities</a:t>
              </a:r>
              <a:endParaRPr b="0" i="0" sz="1400" u="none" cap="none" strike="noStrike">
                <a:solidFill>
                  <a:srgbClr val="000000"/>
                </a:solidFill>
                <a:latin typeface="Arial"/>
                <a:ea typeface="Arial"/>
                <a:cs typeface="Arial"/>
                <a:sym typeface="Arial"/>
              </a:endParaRPr>
            </a:p>
          </p:txBody>
        </p:sp>
        <p:sp>
          <p:nvSpPr>
            <p:cNvPr id="769" name="Google Shape;769;p74"/>
            <p:cNvSpPr/>
            <p:nvPr/>
          </p:nvSpPr>
          <p:spPr>
            <a:xfrm rot="-3310531">
              <a:off x="2161506" y="1418819"/>
              <a:ext cx="1779913" cy="52558"/>
            </a:xfrm>
            <a:custGeom>
              <a:rect b="b" l="l" r="r" t="t"/>
              <a:pathLst>
                <a:path extrusionOk="0" h="120000" w="120000">
                  <a:moveTo>
                    <a:pt x="0" y="60000"/>
                  </a:moveTo>
                  <a:lnTo>
                    <a:pt x="120000" y="60000"/>
                  </a:lnTo>
                </a:path>
              </a:pathLst>
            </a:custGeom>
            <a:noFill/>
            <a:ln cap="flat" cmpd="sng" w="25400">
              <a:solidFill>
                <a:srgbClr val="47808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74"/>
            <p:cNvSpPr txBox="1"/>
            <p:nvPr/>
          </p:nvSpPr>
          <p:spPr>
            <a:xfrm rot="-3310531">
              <a:off x="3006965" y="1400601"/>
              <a:ext cx="88995" cy="88995"/>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771" name="Google Shape;771;p74"/>
            <p:cNvSpPr/>
            <p:nvPr/>
          </p:nvSpPr>
          <p:spPr>
            <a:xfrm>
              <a:off x="3559686" y="79250"/>
              <a:ext cx="2541113" cy="1270556"/>
            </a:xfrm>
            <a:prstGeom prst="roundRect">
              <a:avLst>
                <a:gd fmla="val 10000" name="adj"/>
              </a:avLst>
            </a:prstGeom>
            <a:solidFill>
              <a:schemeClr val="accent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74"/>
            <p:cNvSpPr txBox="1"/>
            <p:nvPr/>
          </p:nvSpPr>
          <p:spPr>
            <a:xfrm>
              <a:off x="3596899" y="116463"/>
              <a:ext cx="2466687" cy="1196130"/>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Researchers</a:t>
              </a:r>
              <a:endParaRPr b="0" i="0" sz="1400" u="none" cap="none" strike="noStrike">
                <a:solidFill>
                  <a:srgbClr val="000000"/>
                </a:solidFill>
                <a:latin typeface="Arial"/>
                <a:ea typeface="Arial"/>
                <a:cs typeface="Arial"/>
                <a:sym typeface="Arial"/>
              </a:endParaRPr>
            </a:p>
          </p:txBody>
        </p:sp>
        <p:sp>
          <p:nvSpPr>
            <p:cNvPr id="773" name="Google Shape;773;p74"/>
            <p:cNvSpPr/>
            <p:nvPr/>
          </p:nvSpPr>
          <p:spPr>
            <a:xfrm>
              <a:off x="2543240" y="2149390"/>
              <a:ext cx="1016445" cy="52558"/>
            </a:xfrm>
            <a:custGeom>
              <a:rect b="b" l="l" r="r" t="t"/>
              <a:pathLst>
                <a:path extrusionOk="0" h="120000" w="120000">
                  <a:moveTo>
                    <a:pt x="0" y="60000"/>
                  </a:moveTo>
                  <a:lnTo>
                    <a:pt x="120000" y="60000"/>
                  </a:lnTo>
                </a:path>
              </a:pathLst>
            </a:custGeom>
            <a:noFill/>
            <a:ln cap="flat" cmpd="sng" w="25400">
              <a:solidFill>
                <a:srgbClr val="47808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74"/>
            <p:cNvSpPr txBox="1"/>
            <p:nvPr/>
          </p:nvSpPr>
          <p:spPr>
            <a:xfrm>
              <a:off x="3026052" y="2150258"/>
              <a:ext cx="50822" cy="50822"/>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775" name="Google Shape;775;p74"/>
            <p:cNvSpPr/>
            <p:nvPr/>
          </p:nvSpPr>
          <p:spPr>
            <a:xfrm>
              <a:off x="3559686" y="1540391"/>
              <a:ext cx="2541113" cy="1270556"/>
            </a:xfrm>
            <a:prstGeom prst="roundRect">
              <a:avLst>
                <a:gd fmla="val 10000" name="adj"/>
              </a:avLst>
            </a:prstGeom>
            <a:solidFill>
              <a:schemeClr val="accent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74"/>
            <p:cNvSpPr txBox="1"/>
            <p:nvPr/>
          </p:nvSpPr>
          <p:spPr>
            <a:xfrm>
              <a:off x="3596899" y="1577604"/>
              <a:ext cx="2466687" cy="1196130"/>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Registries</a:t>
              </a:r>
              <a:endParaRPr b="0" i="0" sz="1400" u="none" cap="none" strike="noStrike">
                <a:solidFill>
                  <a:srgbClr val="000000"/>
                </a:solidFill>
                <a:latin typeface="Arial"/>
                <a:ea typeface="Arial"/>
                <a:cs typeface="Arial"/>
                <a:sym typeface="Arial"/>
              </a:endParaRPr>
            </a:p>
          </p:txBody>
        </p:sp>
        <p:sp>
          <p:nvSpPr>
            <p:cNvPr id="777" name="Google Shape;777;p74"/>
            <p:cNvSpPr/>
            <p:nvPr/>
          </p:nvSpPr>
          <p:spPr>
            <a:xfrm rot="3310531">
              <a:off x="2161506" y="2879960"/>
              <a:ext cx="1779913" cy="52558"/>
            </a:xfrm>
            <a:custGeom>
              <a:rect b="b" l="l" r="r" t="t"/>
              <a:pathLst>
                <a:path extrusionOk="0" h="120000" w="120000">
                  <a:moveTo>
                    <a:pt x="0" y="60000"/>
                  </a:moveTo>
                  <a:lnTo>
                    <a:pt x="120000" y="60000"/>
                  </a:lnTo>
                </a:path>
              </a:pathLst>
            </a:custGeom>
            <a:noFill/>
            <a:ln cap="flat" cmpd="sng" w="25400">
              <a:solidFill>
                <a:srgbClr val="47808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74"/>
            <p:cNvSpPr txBox="1"/>
            <p:nvPr/>
          </p:nvSpPr>
          <p:spPr>
            <a:xfrm rot="3310531">
              <a:off x="3006965" y="2861741"/>
              <a:ext cx="88995" cy="88995"/>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779" name="Google Shape;779;p74"/>
            <p:cNvSpPr/>
            <p:nvPr/>
          </p:nvSpPr>
          <p:spPr>
            <a:xfrm>
              <a:off x="3559686" y="3001531"/>
              <a:ext cx="2541113" cy="1270556"/>
            </a:xfrm>
            <a:prstGeom prst="roundRect">
              <a:avLst>
                <a:gd fmla="val 10000" name="adj"/>
              </a:avLst>
            </a:prstGeom>
            <a:solidFill>
              <a:schemeClr val="accent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74"/>
            <p:cNvSpPr txBox="1"/>
            <p:nvPr/>
          </p:nvSpPr>
          <p:spPr>
            <a:xfrm>
              <a:off x="3596899" y="3038744"/>
              <a:ext cx="2466687" cy="1196130"/>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Vendors</a:t>
              </a:r>
              <a:endParaRPr b="0" i="0" sz="1400" u="none" cap="none" strike="noStrike">
                <a:solidFill>
                  <a:srgbClr val="000000"/>
                </a:solidFill>
                <a:latin typeface="Arial"/>
                <a:ea typeface="Arial"/>
                <a:cs typeface="Arial"/>
                <a:sym typeface="Arial"/>
              </a:endParaRPr>
            </a:p>
          </p:txBody>
        </p:sp>
      </p:grpSp>
      <p:grpSp>
        <p:nvGrpSpPr>
          <p:cNvPr id="781" name="Google Shape;781;p74"/>
          <p:cNvGrpSpPr/>
          <p:nvPr/>
        </p:nvGrpSpPr>
        <p:grpSpPr>
          <a:xfrm>
            <a:off x="4733453" y="1668687"/>
            <a:ext cx="6098673" cy="4192837"/>
            <a:chOff x="2126" y="79250"/>
            <a:chExt cx="6098673" cy="4192837"/>
          </a:xfrm>
        </p:grpSpPr>
        <p:sp>
          <p:nvSpPr>
            <p:cNvPr id="782" name="Google Shape;782;p74"/>
            <p:cNvSpPr/>
            <p:nvPr/>
          </p:nvSpPr>
          <p:spPr>
            <a:xfrm>
              <a:off x="3559686" y="1540391"/>
              <a:ext cx="2541113" cy="1270556"/>
            </a:xfrm>
            <a:prstGeom prst="roundRect">
              <a:avLst>
                <a:gd fmla="val 10000"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74"/>
            <p:cNvSpPr txBox="1"/>
            <p:nvPr/>
          </p:nvSpPr>
          <p:spPr>
            <a:xfrm>
              <a:off x="3596899" y="1577604"/>
              <a:ext cx="2466687" cy="1196130"/>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Patients</a:t>
              </a:r>
              <a:endParaRPr b="0" i="0" sz="1400" u="none" cap="none" strike="noStrike">
                <a:solidFill>
                  <a:srgbClr val="000000"/>
                </a:solidFill>
                <a:latin typeface="Arial"/>
                <a:ea typeface="Arial"/>
                <a:cs typeface="Arial"/>
                <a:sym typeface="Arial"/>
              </a:endParaRPr>
            </a:p>
          </p:txBody>
        </p:sp>
        <p:sp>
          <p:nvSpPr>
            <p:cNvPr id="784" name="Google Shape;784;p74"/>
            <p:cNvSpPr/>
            <p:nvPr/>
          </p:nvSpPr>
          <p:spPr>
            <a:xfrm rot="-7489469">
              <a:off x="2161506" y="1418819"/>
              <a:ext cx="1779913" cy="52558"/>
            </a:xfrm>
            <a:custGeom>
              <a:rect b="b" l="l" r="r" t="t"/>
              <a:pathLst>
                <a:path extrusionOk="0" h="120000" w="120000">
                  <a:moveTo>
                    <a:pt x="0" y="60000"/>
                  </a:moveTo>
                  <a:lnTo>
                    <a:pt x="120000" y="60000"/>
                  </a:lnTo>
                </a:path>
              </a:pathLst>
            </a:custGeom>
            <a:noFill/>
            <a:ln cap="flat" cmpd="sng" w="25400">
              <a:solidFill>
                <a:srgbClr val="6271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74"/>
            <p:cNvSpPr txBox="1"/>
            <p:nvPr/>
          </p:nvSpPr>
          <p:spPr>
            <a:xfrm rot="3310531">
              <a:off x="3006965" y="1400601"/>
              <a:ext cx="88995" cy="88995"/>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786" name="Google Shape;786;p74"/>
            <p:cNvSpPr/>
            <p:nvPr/>
          </p:nvSpPr>
          <p:spPr>
            <a:xfrm>
              <a:off x="2126" y="79250"/>
              <a:ext cx="2541113" cy="1270556"/>
            </a:xfrm>
            <a:prstGeom prst="roundRect">
              <a:avLst>
                <a:gd fmla="val 10000" name="adj"/>
              </a:avLst>
            </a:prstGeom>
            <a:solidFill>
              <a:schemeClr val="accent3"/>
            </a:solidFill>
            <a:ln cap="flat" cmpd="sng" w="25400">
              <a:solidFill>
                <a:srgbClr val="1D5C9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 flowchart connecting 'Imaging facilities' at the center to four surrounding boxes labeled 'Researchers,' 'Registries&#10;,' 'Vendors,' and 'Patients,' illustrating the relationship between different stakeholders in medical imaging." id="787" name="Google Shape;787;p74"/>
            <p:cNvSpPr txBox="1"/>
            <p:nvPr/>
          </p:nvSpPr>
          <p:spPr>
            <a:xfrm>
              <a:off x="39339" y="116463"/>
              <a:ext cx="2466687" cy="1196130"/>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Researchers</a:t>
              </a:r>
              <a:endParaRPr b="0" i="0" sz="1400" u="none" cap="none" strike="noStrike">
                <a:solidFill>
                  <a:srgbClr val="000000"/>
                </a:solidFill>
                <a:latin typeface="Arial"/>
                <a:ea typeface="Arial"/>
                <a:cs typeface="Arial"/>
                <a:sym typeface="Arial"/>
              </a:endParaRPr>
            </a:p>
          </p:txBody>
        </p:sp>
        <p:sp>
          <p:nvSpPr>
            <p:cNvPr id="788" name="Google Shape;788;p74"/>
            <p:cNvSpPr/>
            <p:nvPr/>
          </p:nvSpPr>
          <p:spPr>
            <a:xfrm rot="10800000">
              <a:off x="2543240" y="2149390"/>
              <a:ext cx="1016445" cy="52558"/>
            </a:xfrm>
            <a:custGeom>
              <a:rect b="b" l="l" r="r" t="t"/>
              <a:pathLst>
                <a:path extrusionOk="0" h="120000" w="120000">
                  <a:moveTo>
                    <a:pt x="0" y="60000"/>
                  </a:moveTo>
                  <a:lnTo>
                    <a:pt x="120000" y="60000"/>
                  </a:lnTo>
                </a:path>
              </a:pathLst>
            </a:custGeom>
            <a:noFill/>
            <a:ln cap="flat" cmpd="sng" w="25400">
              <a:solidFill>
                <a:srgbClr val="6271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74"/>
            <p:cNvSpPr txBox="1"/>
            <p:nvPr/>
          </p:nvSpPr>
          <p:spPr>
            <a:xfrm>
              <a:off x="3026052" y="2150258"/>
              <a:ext cx="50822" cy="50822"/>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790" name="Google Shape;790;p74"/>
            <p:cNvSpPr/>
            <p:nvPr/>
          </p:nvSpPr>
          <p:spPr>
            <a:xfrm>
              <a:off x="2126" y="1540391"/>
              <a:ext cx="2541113" cy="1270556"/>
            </a:xfrm>
            <a:prstGeom prst="roundRect">
              <a:avLst>
                <a:gd fmla="val 10000" name="adj"/>
              </a:avLst>
            </a:prstGeom>
            <a:solidFill>
              <a:schemeClr val="accent3"/>
            </a:solidFill>
            <a:ln cap="flat" cmpd="sng" w="25400">
              <a:solidFill>
                <a:srgbClr val="1D5C9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74"/>
            <p:cNvSpPr txBox="1"/>
            <p:nvPr/>
          </p:nvSpPr>
          <p:spPr>
            <a:xfrm>
              <a:off x="39339" y="1577604"/>
              <a:ext cx="2466687" cy="1196130"/>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Registries</a:t>
              </a:r>
              <a:endParaRPr b="0" i="0" sz="1400" u="none" cap="none" strike="noStrike">
                <a:solidFill>
                  <a:srgbClr val="000000"/>
                </a:solidFill>
                <a:latin typeface="Arial"/>
                <a:ea typeface="Arial"/>
                <a:cs typeface="Arial"/>
                <a:sym typeface="Arial"/>
              </a:endParaRPr>
            </a:p>
          </p:txBody>
        </p:sp>
        <p:sp>
          <p:nvSpPr>
            <p:cNvPr id="792" name="Google Shape;792;p74"/>
            <p:cNvSpPr/>
            <p:nvPr/>
          </p:nvSpPr>
          <p:spPr>
            <a:xfrm rot="7489469">
              <a:off x="2161506" y="2879960"/>
              <a:ext cx="1779913" cy="52558"/>
            </a:xfrm>
            <a:custGeom>
              <a:rect b="b" l="l" r="r" t="t"/>
              <a:pathLst>
                <a:path extrusionOk="0" h="120000" w="120000">
                  <a:moveTo>
                    <a:pt x="0" y="60000"/>
                  </a:moveTo>
                  <a:lnTo>
                    <a:pt x="120000" y="60000"/>
                  </a:lnTo>
                </a:path>
              </a:pathLst>
            </a:custGeom>
            <a:noFill/>
            <a:ln cap="flat" cmpd="sng" w="25400">
              <a:solidFill>
                <a:srgbClr val="62718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74"/>
            <p:cNvSpPr txBox="1"/>
            <p:nvPr/>
          </p:nvSpPr>
          <p:spPr>
            <a:xfrm rot="-3310531">
              <a:off x="3006965" y="2861741"/>
              <a:ext cx="88995" cy="88995"/>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794" name="Google Shape;794;p74"/>
            <p:cNvSpPr/>
            <p:nvPr/>
          </p:nvSpPr>
          <p:spPr>
            <a:xfrm>
              <a:off x="2126" y="3001531"/>
              <a:ext cx="2541113" cy="1270556"/>
            </a:xfrm>
            <a:prstGeom prst="roundRect">
              <a:avLst>
                <a:gd fmla="val 10000" name="adj"/>
              </a:avLst>
            </a:prstGeom>
            <a:solidFill>
              <a:schemeClr val="accent3"/>
            </a:solidFill>
            <a:ln cap="flat" cmpd="sng" w="25400">
              <a:solidFill>
                <a:srgbClr val="1D5C9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74"/>
            <p:cNvSpPr txBox="1"/>
            <p:nvPr/>
          </p:nvSpPr>
          <p:spPr>
            <a:xfrm>
              <a:off x="39339" y="3038744"/>
              <a:ext cx="2466687" cy="1196130"/>
            </a:xfrm>
            <a:prstGeom prst="rect">
              <a:avLst/>
            </a:prstGeom>
            <a:noFill/>
            <a:ln>
              <a:noFill/>
            </a:ln>
          </p:spPr>
          <p:txBody>
            <a:bodyPr anchorCtr="0" anchor="ctr" bIns="20950" lIns="20950" spcFirstLastPara="1" rIns="20950" wrap="square" tIns="20950">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chemeClr val="lt1"/>
                  </a:solidFill>
                  <a:latin typeface="Arial"/>
                  <a:ea typeface="Arial"/>
                  <a:cs typeface="Arial"/>
                  <a:sym typeface="Arial"/>
                </a:rPr>
                <a:t>Vendors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descr="A graphic showing different methods of data transfer in healthcare: a cloud representing cloud storage, a CD-ROM for physical media, an upward arrow for direct upload, an envelope for email, and a box of letters for snail mail." id="801" name="Google Shape;801;p75"/>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How is Data Being Transferred?</a:t>
            </a:r>
            <a:endParaRPr/>
          </a:p>
        </p:txBody>
      </p:sp>
      <p:grpSp>
        <p:nvGrpSpPr>
          <p:cNvPr id="802" name="Google Shape;802;p75"/>
          <p:cNvGrpSpPr/>
          <p:nvPr/>
        </p:nvGrpSpPr>
        <p:grpSpPr>
          <a:xfrm>
            <a:off x="1234694" y="1311922"/>
            <a:ext cx="8982568" cy="4669587"/>
            <a:chOff x="625094" y="103606"/>
            <a:chExt cx="8982568" cy="4669587"/>
          </a:xfrm>
        </p:grpSpPr>
        <p:sp>
          <p:nvSpPr>
            <p:cNvPr id="803" name="Google Shape;803;p75"/>
            <p:cNvSpPr/>
            <p:nvPr/>
          </p:nvSpPr>
          <p:spPr>
            <a:xfrm>
              <a:off x="625094" y="454204"/>
              <a:ext cx="2170072" cy="1838689"/>
            </a:xfrm>
            <a:prstGeom prst="rect">
              <a:avLst/>
            </a:prstGeom>
            <a:blipFill rotWithShape="1">
              <a:blip r:embed="rId3">
                <a:alphaModFix/>
              </a:blip>
              <a:stretch>
                <a:fillRect b="0" l="-5998" r="-5996"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75"/>
            <p:cNvSpPr/>
            <p:nvPr/>
          </p:nvSpPr>
          <p:spPr>
            <a:xfrm>
              <a:off x="625094" y="103606"/>
              <a:ext cx="2170072" cy="3166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75"/>
            <p:cNvSpPr txBox="1"/>
            <p:nvPr/>
          </p:nvSpPr>
          <p:spPr>
            <a:xfrm>
              <a:off x="625094" y="103606"/>
              <a:ext cx="2170072" cy="316615"/>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Cloud</a:t>
              </a:r>
              <a:endParaRPr b="0" i="0" sz="1400" u="none" cap="none" strike="noStrike">
                <a:solidFill>
                  <a:srgbClr val="000000"/>
                </a:solidFill>
                <a:latin typeface="Arial"/>
                <a:ea typeface="Arial"/>
                <a:cs typeface="Arial"/>
                <a:sym typeface="Arial"/>
              </a:endParaRPr>
            </a:p>
          </p:txBody>
        </p:sp>
        <p:sp>
          <p:nvSpPr>
            <p:cNvPr id="806" name="Google Shape;806;p75"/>
            <p:cNvSpPr/>
            <p:nvPr/>
          </p:nvSpPr>
          <p:spPr>
            <a:xfrm>
              <a:off x="4031342" y="454204"/>
              <a:ext cx="2170072" cy="1838689"/>
            </a:xfrm>
            <a:prstGeom prst="rect">
              <a:avLst/>
            </a:prstGeom>
            <a:blipFill rotWithShape="1">
              <a:blip r:embed="rId4">
                <a:alphaModFix/>
              </a:blip>
              <a:stretch>
                <a:fillRect b="-8997" l="0" r="0" t="-8998"/>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75"/>
            <p:cNvSpPr/>
            <p:nvPr/>
          </p:nvSpPr>
          <p:spPr>
            <a:xfrm>
              <a:off x="4031342" y="103606"/>
              <a:ext cx="2170072" cy="3166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75"/>
            <p:cNvSpPr txBox="1"/>
            <p:nvPr/>
          </p:nvSpPr>
          <p:spPr>
            <a:xfrm>
              <a:off x="4031342" y="103606"/>
              <a:ext cx="2170072" cy="316615"/>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Physical media</a:t>
              </a:r>
              <a:endParaRPr b="0" i="0" sz="1400" u="none" cap="none" strike="noStrike">
                <a:solidFill>
                  <a:srgbClr val="000000"/>
                </a:solidFill>
                <a:latin typeface="Arial"/>
                <a:ea typeface="Arial"/>
                <a:cs typeface="Arial"/>
                <a:sym typeface="Arial"/>
              </a:endParaRPr>
            </a:p>
          </p:txBody>
        </p:sp>
        <p:sp>
          <p:nvSpPr>
            <p:cNvPr id="809" name="Google Shape;809;p75"/>
            <p:cNvSpPr/>
            <p:nvPr/>
          </p:nvSpPr>
          <p:spPr>
            <a:xfrm>
              <a:off x="7437590" y="454204"/>
              <a:ext cx="2170072" cy="1838689"/>
            </a:xfrm>
            <a:prstGeom prst="rect">
              <a:avLst/>
            </a:prstGeom>
            <a:blipFill rotWithShape="1">
              <a:blip r:embed="rId5">
                <a:alphaModFix/>
              </a:blip>
              <a:stretch>
                <a:fillRect b="-8997" l="0" r="0" t="-8998"/>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75"/>
            <p:cNvSpPr/>
            <p:nvPr/>
          </p:nvSpPr>
          <p:spPr>
            <a:xfrm>
              <a:off x="7437590" y="103606"/>
              <a:ext cx="2170072" cy="3166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75"/>
            <p:cNvSpPr txBox="1"/>
            <p:nvPr/>
          </p:nvSpPr>
          <p:spPr>
            <a:xfrm>
              <a:off x="7437590" y="103606"/>
              <a:ext cx="2170072" cy="316615"/>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Direct upload</a:t>
              </a:r>
              <a:endParaRPr b="0" i="0" sz="1400" u="none" cap="none" strike="noStrike">
                <a:solidFill>
                  <a:srgbClr val="000000"/>
                </a:solidFill>
                <a:latin typeface="Arial"/>
                <a:ea typeface="Arial"/>
                <a:cs typeface="Arial"/>
                <a:sym typeface="Arial"/>
              </a:endParaRPr>
            </a:p>
          </p:txBody>
        </p:sp>
        <p:sp>
          <p:nvSpPr>
            <p:cNvPr id="812" name="Google Shape;812;p75"/>
            <p:cNvSpPr/>
            <p:nvPr/>
          </p:nvSpPr>
          <p:spPr>
            <a:xfrm>
              <a:off x="2328218" y="2934504"/>
              <a:ext cx="2170072" cy="1838689"/>
            </a:xfrm>
            <a:prstGeom prst="rect">
              <a:avLst/>
            </a:prstGeom>
            <a:blipFill rotWithShape="1">
              <a:blip r:embed="rId6">
                <a:alphaModFix/>
              </a:blip>
              <a:stretch>
                <a:fillRect b="-9998" l="0" r="0" t="-9998"/>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75"/>
            <p:cNvSpPr/>
            <p:nvPr/>
          </p:nvSpPr>
          <p:spPr>
            <a:xfrm>
              <a:off x="2328218" y="2583905"/>
              <a:ext cx="2170072" cy="3166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75"/>
            <p:cNvSpPr txBox="1"/>
            <p:nvPr/>
          </p:nvSpPr>
          <p:spPr>
            <a:xfrm>
              <a:off x="2328218" y="2583905"/>
              <a:ext cx="2170072" cy="316615"/>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Email</a:t>
              </a:r>
              <a:endParaRPr b="0" i="0" sz="1400" u="none" cap="none" strike="noStrike">
                <a:solidFill>
                  <a:srgbClr val="000000"/>
                </a:solidFill>
                <a:latin typeface="Arial"/>
                <a:ea typeface="Arial"/>
                <a:cs typeface="Arial"/>
                <a:sym typeface="Arial"/>
              </a:endParaRPr>
            </a:p>
          </p:txBody>
        </p:sp>
        <p:sp>
          <p:nvSpPr>
            <p:cNvPr id="815" name="Google Shape;815;p75"/>
            <p:cNvSpPr/>
            <p:nvPr/>
          </p:nvSpPr>
          <p:spPr>
            <a:xfrm>
              <a:off x="5734466" y="2934504"/>
              <a:ext cx="2170072" cy="1838689"/>
            </a:xfrm>
            <a:prstGeom prst="rect">
              <a:avLst/>
            </a:prstGeom>
            <a:blipFill rotWithShape="1">
              <a:blip r:embed="rId7">
                <a:alphaModFix/>
              </a:blip>
              <a:stretch>
                <a:fillRect b="0" l="-5998" r="-5996"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75"/>
            <p:cNvSpPr/>
            <p:nvPr/>
          </p:nvSpPr>
          <p:spPr>
            <a:xfrm>
              <a:off x="5734466" y="2583905"/>
              <a:ext cx="2170072" cy="3166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75"/>
            <p:cNvSpPr txBox="1"/>
            <p:nvPr/>
          </p:nvSpPr>
          <p:spPr>
            <a:xfrm>
              <a:off x="5734466" y="2583905"/>
              <a:ext cx="2170072" cy="316615"/>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Snail mail</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76"/>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Data Sharing Agreements</a:t>
            </a:r>
            <a:endParaRPr/>
          </a:p>
        </p:txBody>
      </p:sp>
      <p:grpSp>
        <p:nvGrpSpPr>
          <p:cNvPr id="824" name="Google Shape;824;p76"/>
          <p:cNvGrpSpPr/>
          <p:nvPr/>
        </p:nvGrpSpPr>
        <p:grpSpPr>
          <a:xfrm>
            <a:off x="284163" y="1292332"/>
            <a:ext cx="11634787" cy="4901984"/>
            <a:chOff x="0" y="50907"/>
            <a:chExt cx="11634787" cy="4901984"/>
          </a:xfrm>
        </p:grpSpPr>
        <p:sp>
          <p:nvSpPr>
            <p:cNvPr id="825" name="Google Shape;825;p76"/>
            <p:cNvSpPr/>
            <p:nvPr/>
          </p:nvSpPr>
          <p:spPr>
            <a:xfrm>
              <a:off x="0" y="375627"/>
              <a:ext cx="11634787" cy="1559250"/>
            </a:xfrm>
            <a:prstGeom prst="rect">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76"/>
            <p:cNvSpPr txBox="1"/>
            <p:nvPr/>
          </p:nvSpPr>
          <p:spPr>
            <a:xfrm>
              <a:off x="0" y="375627"/>
              <a:ext cx="11634787" cy="1559250"/>
            </a:xfrm>
            <a:prstGeom prst="rect">
              <a:avLst/>
            </a:prstGeom>
            <a:noFill/>
            <a:ln>
              <a:noFill/>
            </a:ln>
          </p:spPr>
          <p:txBody>
            <a:bodyPr anchorCtr="0" anchor="t" bIns="156450" lIns="902975" spcFirstLastPara="1" rIns="90297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Reviews research protocols for patient safety, data safety, experimental &amp; personnel appropriateness</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33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45 CFR 46 “Protection of Human Subjects” (aka the “Common Rule”)</a:t>
              </a:r>
              <a:endParaRPr b="0" i="0" sz="2200" u="none" cap="none" strike="noStrike">
                <a:solidFill>
                  <a:srgbClr val="000000"/>
                </a:solidFill>
                <a:latin typeface="Arial"/>
                <a:ea typeface="Arial"/>
                <a:cs typeface="Arial"/>
                <a:sym typeface="Arial"/>
              </a:endParaRPr>
            </a:p>
          </p:txBody>
        </p:sp>
        <p:sp>
          <p:nvSpPr>
            <p:cNvPr id="827" name="Google Shape;827;p76"/>
            <p:cNvSpPr/>
            <p:nvPr/>
          </p:nvSpPr>
          <p:spPr>
            <a:xfrm>
              <a:off x="581739" y="50907"/>
              <a:ext cx="8144350" cy="649440"/>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n informational slide detailing three key regulatory and legal agreements in healthcare: IRB (Institutional Review Board Approval), BAA (Business Associates’ Agreement), and DUA (Data Use Agreement), each described with their purpose and significance.&quot;" id="828" name="Google Shape;828;p76"/>
            <p:cNvSpPr txBox="1"/>
            <p:nvPr/>
          </p:nvSpPr>
          <p:spPr>
            <a:xfrm>
              <a:off x="613442" y="82610"/>
              <a:ext cx="8080944" cy="586034"/>
            </a:xfrm>
            <a:prstGeom prst="rect">
              <a:avLst/>
            </a:prstGeom>
            <a:noFill/>
            <a:ln>
              <a:noFill/>
            </a:ln>
          </p:spPr>
          <p:txBody>
            <a:bodyPr anchorCtr="0" anchor="ctr" bIns="0" lIns="307825" spcFirstLastPara="1" rIns="307825" wrap="square" tIns="0">
              <a:noAutofit/>
            </a:bodyPr>
            <a:lstStyle/>
            <a:p>
              <a:pPr indent="0" lvl="0" marL="0" marR="0" rtl="0" algn="l">
                <a:lnSpc>
                  <a:spcPct val="9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IRB: Institutional Review Board Approval</a:t>
              </a:r>
              <a:endParaRPr b="0" i="0" sz="1400" u="none" cap="none" strike="noStrike">
                <a:solidFill>
                  <a:srgbClr val="000000"/>
                </a:solidFill>
                <a:latin typeface="Arial"/>
                <a:ea typeface="Arial"/>
                <a:cs typeface="Arial"/>
                <a:sym typeface="Arial"/>
              </a:endParaRPr>
            </a:p>
          </p:txBody>
        </p:sp>
        <p:sp>
          <p:nvSpPr>
            <p:cNvPr id="829" name="Google Shape;829;p76"/>
            <p:cNvSpPr/>
            <p:nvPr/>
          </p:nvSpPr>
          <p:spPr>
            <a:xfrm>
              <a:off x="0" y="2378397"/>
              <a:ext cx="11634787" cy="1212750"/>
            </a:xfrm>
            <a:prstGeom prst="rect">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76"/>
            <p:cNvSpPr txBox="1"/>
            <p:nvPr/>
          </p:nvSpPr>
          <p:spPr>
            <a:xfrm>
              <a:off x="0" y="2378397"/>
              <a:ext cx="11634787" cy="1212750"/>
            </a:xfrm>
            <a:prstGeom prst="rect">
              <a:avLst/>
            </a:prstGeom>
            <a:noFill/>
            <a:ln>
              <a:noFill/>
            </a:ln>
          </p:spPr>
          <p:txBody>
            <a:bodyPr anchorCtr="0" anchor="t" bIns="156450" lIns="902975" spcFirstLastPara="1" rIns="90297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Between healthcare organization and vendor partner who requires access to PHI to provide product used for </a:t>
              </a:r>
              <a:r>
                <a:rPr b="1" i="0" lang="en-US" sz="2200" u="none" cap="none" strike="noStrike">
                  <a:solidFill>
                    <a:srgbClr val="000000"/>
                  </a:solidFill>
                  <a:latin typeface="Arial"/>
                  <a:ea typeface="Arial"/>
                  <a:cs typeface="Arial"/>
                  <a:sym typeface="Arial"/>
                </a:rPr>
                <a:t>patient care</a:t>
              </a:r>
              <a:endParaRPr b="0" i="0" sz="1400" u="none" cap="none" strike="noStrike">
                <a:solidFill>
                  <a:srgbClr val="000000"/>
                </a:solidFill>
                <a:latin typeface="Arial"/>
                <a:ea typeface="Arial"/>
                <a:cs typeface="Arial"/>
                <a:sym typeface="Arial"/>
              </a:endParaRPr>
            </a:p>
          </p:txBody>
        </p:sp>
        <p:sp>
          <p:nvSpPr>
            <p:cNvPr id="831" name="Google Shape;831;p76"/>
            <p:cNvSpPr/>
            <p:nvPr/>
          </p:nvSpPr>
          <p:spPr>
            <a:xfrm>
              <a:off x="581739" y="2053677"/>
              <a:ext cx="8144350" cy="649440"/>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76"/>
            <p:cNvSpPr txBox="1"/>
            <p:nvPr/>
          </p:nvSpPr>
          <p:spPr>
            <a:xfrm>
              <a:off x="613442" y="2085380"/>
              <a:ext cx="8080944" cy="586034"/>
            </a:xfrm>
            <a:prstGeom prst="rect">
              <a:avLst/>
            </a:prstGeom>
            <a:noFill/>
            <a:ln>
              <a:noFill/>
            </a:ln>
          </p:spPr>
          <p:txBody>
            <a:bodyPr anchorCtr="0" anchor="ctr" bIns="0" lIns="307825" spcFirstLastPara="1" rIns="307825" wrap="square" tIns="0">
              <a:noAutofit/>
            </a:bodyPr>
            <a:lstStyle/>
            <a:p>
              <a:pPr indent="0" lvl="0" marL="0" marR="0" rtl="0" algn="l">
                <a:lnSpc>
                  <a:spcPct val="9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BAA: Business Associates’ Agreement</a:t>
              </a:r>
              <a:endParaRPr b="0" i="0" sz="1400" u="none" cap="none" strike="noStrike">
                <a:solidFill>
                  <a:srgbClr val="000000"/>
                </a:solidFill>
                <a:latin typeface="Arial"/>
                <a:ea typeface="Arial"/>
                <a:cs typeface="Arial"/>
                <a:sym typeface="Arial"/>
              </a:endParaRPr>
            </a:p>
          </p:txBody>
        </p:sp>
        <p:sp>
          <p:nvSpPr>
            <p:cNvPr id="833" name="Google Shape;833;p76"/>
            <p:cNvSpPr/>
            <p:nvPr/>
          </p:nvSpPr>
          <p:spPr>
            <a:xfrm>
              <a:off x="0" y="4034667"/>
              <a:ext cx="11634787" cy="918224"/>
            </a:xfrm>
            <a:prstGeom prst="rect">
              <a:avLst/>
            </a:prstGeom>
            <a:solidFill>
              <a:schemeClr val="lt1">
                <a:alpha val="89411"/>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76"/>
            <p:cNvSpPr txBox="1"/>
            <p:nvPr/>
          </p:nvSpPr>
          <p:spPr>
            <a:xfrm>
              <a:off x="0" y="4034667"/>
              <a:ext cx="11634787" cy="918224"/>
            </a:xfrm>
            <a:prstGeom prst="rect">
              <a:avLst/>
            </a:prstGeom>
            <a:noFill/>
            <a:ln>
              <a:noFill/>
            </a:ln>
          </p:spPr>
          <p:txBody>
            <a:bodyPr anchorCtr="0" anchor="t" bIns="156450" lIns="902975" spcFirstLastPara="1" rIns="902975" wrap="square" tIns="458200">
              <a:noAutofit/>
            </a:bodyPr>
            <a:lstStyle/>
            <a:p>
              <a:pPr indent="-228600" lvl="1" marL="228600" marR="0" rtl="0" algn="l">
                <a:lnSpc>
                  <a:spcPct val="9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Between organizations sharing data for </a:t>
              </a:r>
              <a:r>
                <a:rPr b="1" i="0" lang="en-US" sz="2200" u="none" cap="none" strike="noStrike">
                  <a:solidFill>
                    <a:srgbClr val="000000"/>
                  </a:solidFill>
                  <a:latin typeface="Arial"/>
                  <a:ea typeface="Arial"/>
                  <a:cs typeface="Arial"/>
                  <a:sym typeface="Arial"/>
                </a:rPr>
                <a:t>research</a:t>
              </a:r>
              <a:endParaRPr b="0" i="0" sz="1400" u="none" cap="none" strike="noStrike">
                <a:solidFill>
                  <a:srgbClr val="000000"/>
                </a:solidFill>
                <a:latin typeface="Arial"/>
                <a:ea typeface="Arial"/>
                <a:cs typeface="Arial"/>
                <a:sym typeface="Arial"/>
              </a:endParaRPr>
            </a:p>
          </p:txBody>
        </p:sp>
        <p:sp>
          <p:nvSpPr>
            <p:cNvPr id="835" name="Google Shape;835;p76"/>
            <p:cNvSpPr/>
            <p:nvPr/>
          </p:nvSpPr>
          <p:spPr>
            <a:xfrm>
              <a:off x="581739" y="3709947"/>
              <a:ext cx="8144350" cy="649440"/>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76"/>
            <p:cNvSpPr txBox="1"/>
            <p:nvPr/>
          </p:nvSpPr>
          <p:spPr>
            <a:xfrm>
              <a:off x="613442" y="3741650"/>
              <a:ext cx="8080944" cy="586034"/>
            </a:xfrm>
            <a:prstGeom prst="rect">
              <a:avLst/>
            </a:prstGeom>
            <a:noFill/>
            <a:ln>
              <a:noFill/>
            </a:ln>
          </p:spPr>
          <p:txBody>
            <a:bodyPr anchorCtr="0" anchor="ctr" bIns="0" lIns="307825" spcFirstLastPara="1" rIns="307825" wrap="square" tIns="0">
              <a:noAutofit/>
            </a:bodyPr>
            <a:lstStyle/>
            <a:p>
              <a:pPr indent="0" lvl="0" marL="0" marR="0" rtl="0" algn="l">
                <a:lnSpc>
                  <a:spcPct val="90000"/>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DUA: Data Use Agreement</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77"/>
          <p:cNvSpPr txBox="1"/>
          <p:nvPr>
            <p:ph idx="4294967295" type="title"/>
          </p:nvPr>
        </p:nvSpPr>
        <p:spPr>
          <a:xfrm>
            <a:off x="284480" y="247842"/>
            <a:ext cx="5735320" cy="745564"/>
          </a:xfrm>
          <a:prstGeom prst="rect">
            <a:avLst/>
          </a:prstGeom>
          <a:noFill/>
          <a:ln>
            <a:noFill/>
          </a:ln>
        </p:spPr>
        <p:txBody>
          <a:bodyPr anchorCtr="0" anchor="ctr"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Regulating Data Sharing</a:t>
            </a:r>
            <a:endParaRPr/>
          </a:p>
        </p:txBody>
      </p:sp>
      <p:sp>
        <p:nvSpPr>
          <p:cNvPr id="843" name="Google Shape;843;p77"/>
          <p:cNvSpPr txBox="1"/>
          <p:nvPr>
            <p:ph idx="4294967295" type="body"/>
          </p:nvPr>
        </p:nvSpPr>
        <p:spPr>
          <a:xfrm>
            <a:off x="284479" y="1221919"/>
            <a:ext cx="5735321" cy="4931773"/>
          </a:xfrm>
          <a:prstGeom prst="rect">
            <a:avLst/>
          </a:prstGeom>
          <a:noFill/>
          <a:ln>
            <a:noFill/>
          </a:ln>
        </p:spPr>
        <p:txBody>
          <a:bodyPr anchorCtr="0" anchor="t" bIns="45700" lIns="91425" spcFirstLastPara="1" rIns="91425" wrap="square" tIns="45700">
            <a:normAutofit fontScale="92500" lnSpcReduction="20000"/>
          </a:bodyPr>
          <a:lstStyle/>
          <a:p>
            <a:pPr indent="-228600" lvl="0" marL="457200" rtl="0" algn="l">
              <a:lnSpc>
                <a:spcPct val="110000"/>
              </a:lnSpc>
              <a:spcBef>
                <a:spcPts val="1000"/>
              </a:spcBef>
              <a:spcAft>
                <a:spcPts val="0"/>
              </a:spcAft>
              <a:buClr>
                <a:schemeClr val="dk2"/>
              </a:buClr>
              <a:buSzPct val="52128"/>
              <a:buNone/>
            </a:pPr>
            <a:r>
              <a:rPr lang="en-US" sz="3733"/>
              <a:t>IRBs, BAAs, DUAs</a:t>
            </a:r>
            <a:endParaRPr/>
          </a:p>
          <a:p>
            <a:pPr indent="-228600" lvl="0" marL="457200" rtl="0" algn="l">
              <a:lnSpc>
                <a:spcPct val="110000"/>
              </a:lnSpc>
              <a:spcBef>
                <a:spcPts val="1000"/>
              </a:spcBef>
              <a:spcAft>
                <a:spcPts val="0"/>
              </a:spcAft>
              <a:buClr>
                <a:schemeClr val="dk2"/>
              </a:buClr>
              <a:buSzPct val="52128"/>
              <a:buNone/>
            </a:pPr>
            <a:r>
              <a:rPr lang="en-US" sz="3733"/>
              <a:t>Broader consent</a:t>
            </a:r>
            <a:endParaRPr/>
          </a:p>
          <a:p>
            <a:pPr indent="-228600" lvl="0" marL="457200" rtl="0" algn="l">
              <a:lnSpc>
                <a:spcPct val="110000"/>
              </a:lnSpc>
              <a:spcBef>
                <a:spcPts val="1000"/>
              </a:spcBef>
              <a:spcAft>
                <a:spcPts val="0"/>
              </a:spcAft>
              <a:buClr>
                <a:schemeClr val="dk2"/>
              </a:buClr>
              <a:buSzPct val="52128"/>
              <a:buNone/>
            </a:pPr>
            <a:r>
              <a:rPr lang="en-US" sz="3733"/>
              <a:t>Notification of waiver of consent for de-identified data?</a:t>
            </a:r>
            <a:endParaRPr/>
          </a:p>
          <a:p>
            <a:pPr indent="-228600" lvl="0" marL="457200" rtl="0" algn="l">
              <a:lnSpc>
                <a:spcPct val="110000"/>
              </a:lnSpc>
              <a:spcBef>
                <a:spcPts val="1000"/>
              </a:spcBef>
              <a:spcAft>
                <a:spcPts val="0"/>
              </a:spcAft>
              <a:buClr>
                <a:schemeClr val="dk2"/>
              </a:buClr>
              <a:buSzPct val="52128"/>
              <a:buNone/>
            </a:pPr>
            <a:r>
              <a:rPr lang="en-US" sz="3733"/>
              <a:t>Dynamic consent by use case?</a:t>
            </a:r>
            <a:endParaRPr/>
          </a:p>
          <a:p>
            <a:pPr indent="-228600" lvl="0" marL="457200" rtl="0" algn="l">
              <a:lnSpc>
                <a:spcPct val="110000"/>
              </a:lnSpc>
              <a:spcBef>
                <a:spcPts val="1000"/>
              </a:spcBef>
              <a:spcAft>
                <a:spcPts val="0"/>
              </a:spcAft>
              <a:buClr>
                <a:schemeClr val="dk2"/>
              </a:buClr>
              <a:buSzPct val="52128"/>
              <a:buNone/>
            </a:pPr>
            <a:r>
              <a:rPr lang="en-US" sz="3733"/>
              <a:t>Exclusivity of agreements?</a:t>
            </a:r>
            <a:endParaRPr/>
          </a:p>
        </p:txBody>
      </p:sp>
      <p:sp>
        <p:nvSpPr>
          <p:cNvPr id="844" name="Google Shape;844;p77"/>
          <p:cNvSpPr txBox="1"/>
          <p:nvPr/>
        </p:nvSpPr>
        <p:spPr>
          <a:xfrm>
            <a:off x="1178955" y="5969026"/>
            <a:ext cx="3278462"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Geis et al. </a:t>
            </a:r>
            <a:r>
              <a:rPr b="0" i="1" lang="en-US" sz="1400" u="none" cap="none" strike="noStrike">
                <a:solidFill>
                  <a:srgbClr val="000000"/>
                </a:solidFill>
                <a:latin typeface="Arial"/>
                <a:ea typeface="Arial"/>
                <a:cs typeface="Arial"/>
                <a:sym typeface="Arial"/>
              </a:rPr>
              <a:t>JACR</a:t>
            </a:r>
            <a:r>
              <a:rPr b="0" i="0" lang="en-US" sz="1400" u="none" cap="none" strike="noStrike">
                <a:solidFill>
                  <a:srgbClr val="000000"/>
                </a:solidFill>
                <a:latin typeface="Arial"/>
                <a:ea typeface="Arial"/>
                <a:cs typeface="Arial"/>
                <a:sym typeface="Arial"/>
              </a:rPr>
              <a:t> 2019 16(11): 1516-21</a:t>
            </a:r>
            <a:endParaRPr b="0" i="1" sz="14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78"/>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Data Privacy: Considerations</a:t>
            </a:r>
            <a:endParaRPr/>
          </a:p>
        </p:txBody>
      </p:sp>
      <p:sp>
        <p:nvSpPr>
          <p:cNvPr id="850" name="Google Shape;850;p78"/>
          <p:cNvSpPr txBox="1"/>
          <p:nvPr>
            <p:ph idx="1" type="body"/>
          </p:nvPr>
        </p:nvSpPr>
        <p:spPr>
          <a:xfrm>
            <a:off x="284480" y="1241248"/>
            <a:ext cx="11634776" cy="5003783"/>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Clr>
                <a:schemeClr val="dk2"/>
              </a:buClr>
              <a:buSzPts val="1800"/>
              <a:buNone/>
            </a:pPr>
            <a:r>
              <a:rPr lang="en-US" sz="3600"/>
              <a:t>Directly approaching patients for data</a:t>
            </a:r>
            <a:endParaRPr/>
          </a:p>
          <a:p>
            <a:pPr indent="-228600" lvl="0" marL="457200" rtl="0" algn="l">
              <a:lnSpc>
                <a:spcPct val="110000"/>
              </a:lnSpc>
              <a:spcBef>
                <a:spcPts val="1000"/>
              </a:spcBef>
              <a:spcAft>
                <a:spcPts val="0"/>
              </a:spcAft>
              <a:buClr>
                <a:schemeClr val="dk2"/>
              </a:buClr>
              <a:buSzPts val="1800"/>
              <a:buNone/>
            </a:pPr>
            <a:r>
              <a:rPr lang="en-US" sz="3600"/>
              <a:t>Notifying patients about use of their data</a:t>
            </a:r>
            <a:endParaRPr/>
          </a:p>
          <a:p>
            <a:pPr indent="-228600" lvl="0" marL="457200" rtl="0" algn="l">
              <a:lnSpc>
                <a:spcPct val="110000"/>
              </a:lnSpc>
              <a:spcBef>
                <a:spcPts val="1000"/>
              </a:spcBef>
              <a:spcAft>
                <a:spcPts val="0"/>
              </a:spcAft>
              <a:buClr>
                <a:schemeClr val="dk2"/>
              </a:buClr>
              <a:buSzPts val="1800"/>
              <a:buNone/>
            </a:pPr>
            <a:r>
              <a:rPr lang="en-US" sz="3600"/>
              <a:t>Medical + non-medical data – significant risk of privacy breach</a:t>
            </a:r>
            <a:endParaRPr/>
          </a:p>
        </p:txBody>
      </p:sp>
      <p:pic>
        <p:nvPicPr>
          <p:cNvPr descr="A whimsical illustration depicting a cartoon character of a computer virus or hacker attempting to break a chain of digital security, symbolizing the challenges of cybersecurity in protecting sensitive data" id="851" name="Google Shape;851;p78"/>
          <p:cNvPicPr preferRelativeResize="0"/>
          <p:nvPr/>
        </p:nvPicPr>
        <p:blipFill rotWithShape="1">
          <a:blip r:embed="rId3">
            <a:alphaModFix/>
          </a:blip>
          <a:srcRect b="0" l="0" r="0" t="0"/>
          <a:stretch/>
        </p:blipFill>
        <p:spPr>
          <a:xfrm>
            <a:off x="7561075" y="3817257"/>
            <a:ext cx="4358180" cy="2450192"/>
          </a:xfrm>
          <a:prstGeom prst="rect">
            <a:avLst/>
          </a:prstGeom>
          <a:noFill/>
          <a:ln>
            <a:noFill/>
          </a:ln>
        </p:spPr>
      </p:pic>
      <p:sp>
        <p:nvSpPr>
          <p:cNvPr id="852" name="Google Shape;852;p78"/>
          <p:cNvSpPr txBox="1"/>
          <p:nvPr/>
        </p:nvSpPr>
        <p:spPr>
          <a:xfrm>
            <a:off x="6096000" y="6985000"/>
            <a:ext cx="53848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sng" cap="none" strike="noStrike">
                <a:solidFill>
                  <a:srgbClr val="000000"/>
                </a:solidFill>
                <a:latin typeface="Arial"/>
                <a:ea typeface="Arial"/>
                <a:cs typeface="Arial"/>
                <a:sym typeface="Arial"/>
                <a:hlinkClick r:id="rId4">
                  <a:extLst>
                    <a:ext uri="{A12FA001-AC4F-418D-AE19-62706E023703}">
                      <ahyp:hlinkClr val="tx"/>
                    </a:ext>
                  </a:extLst>
                </a:hlinkClick>
              </a:rPr>
              <a:t>This Photo</a:t>
            </a:r>
            <a:r>
              <a:rPr b="0" i="0" lang="en-US" sz="1200" u="none" cap="none" strike="noStrike">
                <a:solidFill>
                  <a:srgbClr val="000000"/>
                </a:solidFill>
                <a:latin typeface="Arial"/>
                <a:ea typeface="Arial"/>
                <a:cs typeface="Arial"/>
                <a:sym typeface="Arial"/>
              </a:rPr>
              <a:t> by Unknown Author is licensed under </a:t>
            </a:r>
            <a:r>
              <a:rPr b="0" i="0" lang="en-US" sz="1200" u="sng" cap="none" strike="noStrike">
                <a:solidFill>
                  <a:srgbClr val="000000"/>
                </a:solidFill>
                <a:latin typeface="Arial"/>
                <a:ea typeface="Arial"/>
                <a:cs typeface="Arial"/>
                <a:sym typeface="Arial"/>
                <a:hlinkClick r:id="rId5">
                  <a:extLst>
                    <a:ext uri="{A12FA001-AC4F-418D-AE19-62706E023703}">
                      <ahyp:hlinkClr val="tx"/>
                    </a:ext>
                  </a:extLst>
                </a:hlinkClick>
              </a:rPr>
              <a:t>CC BY-SA-NC</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79"/>
          <p:cNvSpPr txBox="1"/>
          <p:nvPr>
            <p:ph idx="1" type="body"/>
          </p:nvPr>
        </p:nvSpPr>
        <p:spPr>
          <a:xfrm>
            <a:off x="284480" y="2109742"/>
            <a:ext cx="5811520" cy="4044315"/>
          </a:xfrm>
          <a:prstGeom prst="rect">
            <a:avLst/>
          </a:prstGeom>
          <a:noFill/>
          <a:ln>
            <a:noFill/>
          </a:ln>
        </p:spPr>
        <p:txBody>
          <a:bodyPr anchorCtr="0" anchor="t" bIns="45700" lIns="91425" spcFirstLastPara="1" rIns="91425" wrap="square" tIns="45700">
            <a:noAutofit/>
          </a:bodyPr>
          <a:lstStyle/>
          <a:p>
            <a:pPr indent="-228600" lvl="0" marL="457200" rtl="0" algn="l">
              <a:lnSpc>
                <a:spcPct val="110000"/>
              </a:lnSpc>
              <a:spcBef>
                <a:spcPts val="1000"/>
              </a:spcBef>
              <a:spcAft>
                <a:spcPts val="0"/>
              </a:spcAft>
              <a:buClr>
                <a:schemeClr val="dk2"/>
              </a:buClr>
              <a:buSzPts val="1800"/>
              <a:buNone/>
            </a:pPr>
            <a:r>
              <a:rPr lang="en-US" sz="3600"/>
              <a:t>Is it the right data?</a:t>
            </a:r>
            <a:endParaRPr/>
          </a:p>
          <a:p>
            <a:pPr indent="-228600" lvl="0" marL="457200" rtl="0" algn="l">
              <a:lnSpc>
                <a:spcPct val="110000"/>
              </a:lnSpc>
              <a:spcBef>
                <a:spcPts val="1000"/>
              </a:spcBef>
              <a:spcAft>
                <a:spcPts val="0"/>
              </a:spcAft>
              <a:buClr>
                <a:schemeClr val="dk2"/>
              </a:buClr>
              <a:buSzPts val="1800"/>
              <a:buNone/>
            </a:pPr>
            <a:r>
              <a:rPr lang="en-US" sz="3600"/>
              <a:t>Does it represent what you think it does?</a:t>
            </a:r>
            <a:endParaRPr/>
          </a:p>
          <a:p>
            <a:pPr indent="-228600" lvl="0" marL="457200" rtl="0" algn="l">
              <a:lnSpc>
                <a:spcPct val="110000"/>
              </a:lnSpc>
              <a:spcBef>
                <a:spcPts val="1000"/>
              </a:spcBef>
              <a:spcAft>
                <a:spcPts val="0"/>
              </a:spcAft>
              <a:buClr>
                <a:schemeClr val="dk2"/>
              </a:buClr>
              <a:buSzPts val="1800"/>
              <a:buNone/>
            </a:pPr>
            <a:r>
              <a:rPr lang="en-US" sz="3600"/>
              <a:t>Is it cleaned? organized? normalized? de-identified?</a:t>
            </a:r>
            <a:endParaRPr/>
          </a:p>
        </p:txBody>
      </p:sp>
      <p:sp>
        <p:nvSpPr>
          <p:cNvPr id="859" name="Google Shape;859;p79"/>
          <p:cNvSpPr txBox="1"/>
          <p:nvPr>
            <p:ph idx="2" type="body"/>
          </p:nvPr>
        </p:nvSpPr>
        <p:spPr>
          <a:xfrm>
            <a:off x="6250108" y="1180828"/>
            <a:ext cx="5669147" cy="5086621"/>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Clr>
                <a:schemeClr val="dk2"/>
              </a:buClr>
              <a:buSzPts val="1800"/>
              <a:buNone/>
            </a:pPr>
            <a:r>
              <a:t/>
            </a:r>
            <a:endParaRPr/>
          </a:p>
        </p:txBody>
      </p:sp>
      <p:sp>
        <p:nvSpPr>
          <p:cNvPr id="860" name="Google Shape;860;p79"/>
          <p:cNvSpPr txBox="1"/>
          <p:nvPr>
            <p:ph type="title"/>
          </p:nvPr>
        </p:nvSpPr>
        <p:spPr>
          <a:xfrm>
            <a:off x="284480" y="1176756"/>
            <a:ext cx="6145349"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You Have Data – Now What?</a:t>
            </a:r>
            <a:endParaRPr/>
          </a:p>
        </p:txBody>
      </p:sp>
      <p:pic>
        <p:nvPicPr>
          <p:cNvPr descr="An image with a hand typing in laptop" id="861" name="Google Shape;861;p79"/>
          <p:cNvPicPr preferRelativeResize="0"/>
          <p:nvPr/>
        </p:nvPicPr>
        <p:blipFill rotWithShape="1">
          <a:blip r:embed="rId3">
            <a:alphaModFix/>
          </a:blip>
          <a:srcRect b="1" l="21597" r="15463" t="0"/>
          <a:stretch/>
        </p:blipFill>
        <p:spPr>
          <a:xfrm>
            <a:off x="5859151" y="14513"/>
            <a:ext cx="6332850" cy="6313715"/>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80"/>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De-Identification of Medical Data</a:t>
            </a:r>
            <a:endParaRPr/>
          </a:p>
        </p:txBody>
      </p:sp>
      <p:grpSp>
        <p:nvGrpSpPr>
          <p:cNvPr id="868" name="Google Shape;868;p80"/>
          <p:cNvGrpSpPr/>
          <p:nvPr/>
        </p:nvGrpSpPr>
        <p:grpSpPr>
          <a:xfrm>
            <a:off x="6636327" y="2080500"/>
            <a:ext cx="5140036" cy="3290043"/>
            <a:chOff x="0" y="530647"/>
            <a:chExt cx="5140036" cy="3290043"/>
          </a:xfrm>
        </p:grpSpPr>
        <p:sp>
          <p:nvSpPr>
            <p:cNvPr id="869" name="Google Shape;869;p80"/>
            <p:cNvSpPr/>
            <p:nvPr/>
          </p:nvSpPr>
          <p:spPr>
            <a:xfrm>
              <a:off x="1234636" y="2575409"/>
              <a:ext cx="1444350" cy="1245281"/>
            </a:xfrm>
            <a:prstGeom prst="hexagon">
              <a:avLst>
                <a:gd fmla="val 25000" name="adj"/>
                <a:gd fmla="val 115470" name="vf"/>
              </a:avLst>
            </a:prstGeom>
            <a:solidFill>
              <a:schemeClr val="accent4"/>
            </a:solidFill>
            <a:ln cap="flat" cmpd="sng" w="25400">
              <a:solidFill>
                <a:schemeClr val="accent4"/>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80"/>
            <p:cNvSpPr txBox="1"/>
            <p:nvPr/>
          </p:nvSpPr>
          <p:spPr>
            <a:xfrm>
              <a:off x="1458772" y="2768653"/>
              <a:ext cx="996078" cy="858793"/>
            </a:xfrm>
            <a:prstGeom prst="rect">
              <a:avLst/>
            </a:prstGeom>
            <a:noFill/>
            <a:ln>
              <a:noFill/>
            </a:ln>
          </p:spPr>
          <p:txBody>
            <a:bodyPr anchorCtr="0" anchor="ctr" bIns="24125" lIns="0" spcFirstLastPara="1" rIns="0" wrap="square" tIns="24125">
              <a:noAutofit/>
            </a:bodyPr>
            <a:lstStyle/>
            <a:p>
              <a:pPr indent="0" lvl="0" marL="0" marR="0" rtl="0" algn="ctr">
                <a:lnSpc>
                  <a:spcPct val="90000"/>
                </a:lnSpc>
                <a:spcBef>
                  <a:spcPts val="0"/>
                </a:spcBef>
                <a:spcAft>
                  <a:spcPts val="0"/>
                </a:spcAft>
                <a:buClr>
                  <a:srgbClr val="000000"/>
                </a:buClr>
                <a:buSzPts val="1900"/>
                <a:buFont typeface="Arial"/>
                <a:buNone/>
              </a:pPr>
              <a:r>
                <a:rPr b="0" i="0" lang="en-US" sz="1900" u="none" cap="none" strike="noStrike">
                  <a:solidFill>
                    <a:schemeClr val="lt1"/>
                  </a:solidFill>
                  <a:latin typeface="Arial"/>
                  <a:ea typeface="Arial"/>
                  <a:cs typeface="Arial"/>
                  <a:sym typeface="Arial"/>
                </a:rPr>
                <a:t>Images (DICOM)</a:t>
              </a:r>
              <a:endParaRPr b="0" i="0" sz="1400" u="none" cap="none" strike="noStrike">
                <a:solidFill>
                  <a:srgbClr val="000000"/>
                </a:solidFill>
                <a:latin typeface="Arial"/>
                <a:ea typeface="Arial"/>
                <a:cs typeface="Arial"/>
                <a:sym typeface="Arial"/>
              </a:endParaRPr>
            </a:p>
          </p:txBody>
        </p:sp>
        <p:sp>
          <p:nvSpPr>
            <p:cNvPr id="871" name="Google Shape;871;p80"/>
            <p:cNvSpPr/>
            <p:nvPr/>
          </p:nvSpPr>
          <p:spPr>
            <a:xfrm>
              <a:off x="1272159" y="3125176"/>
              <a:ext cx="169107" cy="145748"/>
            </a:xfrm>
            <a:prstGeom prst="hexagon">
              <a:avLst>
                <a:gd fmla="val 25000" name="adj"/>
                <a:gd fmla="val 115470" name="vf"/>
              </a:avLst>
            </a:prstGeom>
            <a:solidFill>
              <a:schemeClr val="lt1"/>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80"/>
            <p:cNvSpPr/>
            <p:nvPr/>
          </p:nvSpPr>
          <p:spPr>
            <a:xfrm>
              <a:off x="0" y="1906543"/>
              <a:ext cx="1444350" cy="1245281"/>
            </a:xfrm>
            <a:prstGeom prst="hexagon">
              <a:avLst>
                <a:gd fmla="val 25000" name="adj"/>
                <a:gd fmla="val 115470" name="vf"/>
              </a:avLst>
            </a:prstGeom>
            <a:blipFill rotWithShape="1">
              <a:blip r:embed="rId3">
                <a:alphaModFix/>
              </a:blip>
              <a:stretch>
                <a:fillRect b="-6996" l="0" r="0" t="-6996"/>
              </a:stretch>
            </a:blip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80"/>
            <p:cNvSpPr/>
            <p:nvPr/>
          </p:nvSpPr>
          <p:spPr>
            <a:xfrm>
              <a:off x="983289" y="2987323"/>
              <a:ext cx="169107" cy="145748"/>
            </a:xfrm>
            <a:prstGeom prst="hexagon">
              <a:avLst>
                <a:gd fmla="val 25000" name="adj"/>
                <a:gd fmla="val 115470" name="vf"/>
              </a:avLst>
            </a:prstGeom>
            <a:solidFill>
              <a:schemeClr val="lt1"/>
            </a:solidFill>
            <a:ln cap="flat" cmpd="sng" w="25400">
              <a:solidFill>
                <a:srgbClr val="778DA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80"/>
            <p:cNvSpPr/>
            <p:nvPr/>
          </p:nvSpPr>
          <p:spPr>
            <a:xfrm>
              <a:off x="2465161" y="1891738"/>
              <a:ext cx="1444350" cy="1245281"/>
            </a:xfrm>
            <a:prstGeom prst="hexagon">
              <a:avLst>
                <a:gd fmla="val 25000" name="adj"/>
                <a:gd fmla="val 115470" name="vf"/>
              </a:avLst>
            </a:prstGeom>
            <a:solidFill>
              <a:srgbClr val="6C91AA"/>
            </a:solidFill>
            <a:ln cap="flat" cmpd="sng" w="25400">
              <a:solidFill>
                <a:srgbClr val="6C91AA"/>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80"/>
            <p:cNvSpPr txBox="1"/>
            <p:nvPr/>
          </p:nvSpPr>
          <p:spPr>
            <a:xfrm>
              <a:off x="2689297" y="2084982"/>
              <a:ext cx="996078" cy="858793"/>
            </a:xfrm>
            <a:prstGeom prst="rect">
              <a:avLst/>
            </a:prstGeom>
            <a:noFill/>
            <a:ln>
              <a:noFill/>
            </a:ln>
          </p:spPr>
          <p:txBody>
            <a:bodyPr anchorCtr="0" anchor="ctr" bIns="24125" lIns="0" spcFirstLastPara="1" rIns="0" wrap="square" tIns="24125">
              <a:noAutofit/>
            </a:bodyPr>
            <a:lstStyle/>
            <a:p>
              <a:pPr indent="0" lvl="0" marL="0" marR="0" rtl="0" algn="ctr">
                <a:lnSpc>
                  <a:spcPct val="90000"/>
                </a:lnSpc>
                <a:spcBef>
                  <a:spcPts val="0"/>
                </a:spcBef>
                <a:spcAft>
                  <a:spcPts val="0"/>
                </a:spcAft>
                <a:buClr>
                  <a:srgbClr val="000000"/>
                </a:buClr>
                <a:buSzPts val="1900"/>
                <a:buFont typeface="Arial"/>
                <a:buNone/>
              </a:pPr>
              <a:r>
                <a:rPr b="0" i="0" lang="en-US" sz="1900" u="none" cap="none" strike="noStrike">
                  <a:solidFill>
                    <a:schemeClr val="lt1"/>
                  </a:solidFill>
                  <a:latin typeface="Arial"/>
                  <a:ea typeface="Arial"/>
                  <a:cs typeface="Arial"/>
                  <a:sym typeface="Arial"/>
                </a:rPr>
                <a:t>Reports (Text)</a:t>
              </a:r>
              <a:endParaRPr b="0" i="0" sz="1400" u="none" cap="none" strike="noStrike">
                <a:solidFill>
                  <a:srgbClr val="000000"/>
                </a:solidFill>
                <a:latin typeface="Arial"/>
                <a:ea typeface="Arial"/>
                <a:cs typeface="Arial"/>
                <a:sym typeface="Arial"/>
              </a:endParaRPr>
            </a:p>
          </p:txBody>
        </p:sp>
        <p:sp>
          <p:nvSpPr>
            <p:cNvPr id="876" name="Google Shape;876;p80"/>
            <p:cNvSpPr/>
            <p:nvPr/>
          </p:nvSpPr>
          <p:spPr>
            <a:xfrm>
              <a:off x="3452562" y="2971202"/>
              <a:ext cx="169107" cy="145748"/>
            </a:xfrm>
            <a:prstGeom prst="hexagon">
              <a:avLst>
                <a:gd fmla="val 25000" name="adj"/>
                <a:gd fmla="val 115470" name="vf"/>
              </a:avLst>
            </a:prstGeom>
            <a:solidFill>
              <a:schemeClr val="lt1"/>
            </a:solidFill>
            <a:ln cap="flat" cmpd="sng" w="25400">
              <a:solidFill>
                <a:srgbClr val="6F8F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80"/>
            <p:cNvSpPr/>
            <p:nvPr/>
          </p:nvSpPr>
          <p:spPr>
            <a:xfrm>
              <a:off x="3695686" y="2575409"/>
              <a:ext cx="1444350" cy="1245281"/>
            </a:xfrm>
            <a:prstGeom prst="hexagon">
              <a:avLst>
                <a:gd fmla="val 25000" name="adj"/>
                <a:gd fmla="val 115470" name="vf"/>
              </a:avLst>
            </a:prstGeom>
            <a:blipFill rotWithShape="1">
              <a:blip r:embed="rId4">
                <a:alphaModFix/>
              </a:blip>
              <a:stretch>
                <a:fillRect b="0" l="-14998" r="-14996" t="0"/>
              </a:stretch>
            </a:blipFill>
            <a:ln cap="flat" cmpd="sng" w="25400">
              <a:solidFill>
                <a:srgbClr val="6C91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80"/>
            <p:cNvSpPr/>
            <p:nvPr/>
          </p:nvSpPr>
          <p:spPr>
            <a:xfrm>
              <a:off x="3733208" y="3125176"/>
              <a:ext cx="169107" cy="145748"/>
            </a:xfrm>
            <a:prstGeom prst="hexagon">
              <a:avLst>
                <a:gd fmla="val 25000" name="adj"/>
                <a:gd fmla="val 115470" name="vf"/>
              </a:avLst>
            </a:prstGeom>
            <a:solidFill>
              <a:schemeClr val="lt1"/>
            </a:solidFill>
            <a:ln cap="flat" cmpd="sng" w="25400">
              <a:solidFill>
                <a:srgbClr val="6893A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80"/>
            <p:cNvSpPr/>
            <p:nvPr/>
          </p:nvSpPr>
          <p:spPr>
            <a:xfrm>
              <a:off x="1234636" y="1211028"/>
              <a:ext cx="1444350" cy="1245281"/>
            </a:xfrm>
            <a:prstGeom prst="hexagon">
              <a:avLst>
                <a:gd fmla="val 25000" name="adj"/>
                <a:gd fmla="val 115470" name="vf"/>
              </a:avLst>
            </a:prstGeom>
            <a:solidFill>
              <a:srgbClr val="599FAD"/>
            </a:solidFill>
            <a:ln cap="flat" cmpd="sng" w="25400">
              <a:solidFill>
                <a:srgbClr val="599FAD"/>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80"/>
            <p:cNvSpPr txBox="1"/>
            <p:nvPr/>
          </p:nvSpPr>
          <p:spPr>
            <a:xfrm>
              <a:off x="1458772" y="1404272"/>
              <a:ext cx="996078" cy="858793"/>
            </a:xfrm>
            <a:prstGeom prst="rect">
              <a:avLst/>
            </a:prstGeom>
            <a:noFill/>
            <a:ln>
              <a:noFill/>
            </a:ln>
          </p:spPr>
          <p:txBody>
            <a:bodyPr anchorCtr="0" anchor="ctr" bIns="24125" lIns="0" spcFirstLastPara="1" rIns="0" wrap="square" tIns="24125">
              <a:noAutofit/>
            </a:bodyPr>
            <a:lstStyle/>
            <a:p>
              <a:pPr indent="0" lvl="0" marL="0" marR="0" rtl="0" algn="ctr">
                <a:lnSpc>
                  <a:spcPct val="90000"/>
                </a:lnSpc>
                <a:spcBef>
                  <a:spcPts val="0"/>
                </a:spcBef>
                <a:spcAft>
                  <a:spcPts val="0"/>
                </a:spcAft>
                <a:buClr>
                  <a:srgbClr val="000000"/>
                </a:buClr>
                <a:buSzPts val="1900"/>
                <a:buFont typeface="Arial"/>
                <a:buNone/>
              </a:pPr>
              <a:r>
                <a:rPr b="0" i="0" lang="en-US" sz="1900" u="none" cap="none" strike="noStrike">
                  <a:solidFill>
                    <a:schemeClr val="lt1"/>
                  </a:solidFill>
                  <a:latin typeface="Arial"/>
                  <a:ea typeface="Arial"/>
                  <a:cs typeface="Arial"/>
                  <a:sym typeface="Arial"/>
                </a:rPr>
                <a:t>EMR (Notes)</a:t>
              </a:r>
              <a:endParaRPr b="0" i="0" sz="1400" u="none" cap="none" strike="noStrike">
                <a:solidFill>
                  <a:srgbClr val="000000"/>
                </a:solidFill>
                <a:latin typeface="Arial"/>
                <a:ea typeface="Arial"/>
                <a:cs typeface="Arial"/>
                <a:sym typeface="Arial"/>
              </a:endParaRPr>
            </a:p>
          </p:txBody>
        </p:sp>
        <p:sp>
          <p:nvSpPr>
            <p:cNvPr id="881" name="Google Shape;881;p80"/>
            <p:cNvSpPr/>
            <p:nvPr/>
          </p:nvSpPr>
          <p:spPr>
            <a:xfrm>
              <a:off x="2213813" y="1238006"/>
              <a:ext cx="169107" cy="145748"/>
            </a:xfrm>
            <a:prstGeom prst="hexagon">
              <a:avLst>
                <a:gd fmla="val 25000" name="adj"/>
                <a:gd fmla="val 115470" name="vf"/>
              </a:avLst>
            </a:prstGeom>
            <a:solidFill>
              <a:schemeClr val="lt1"/>
            </a:solidFill>
            <a:ln cap="flat" cmpd="sng" w="25400">
              <a:solidFill>
                <a:srgbClr val="6198A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80"/>
            <p:cNvSpPr/>
            <p:nvPr/>
          </p:nvSpPr>
          <p:spPr>
            <a:xfrm>
              <a:off x="2465161" y="530647"/>
              <a:ext cx="1444350" cy="1245281"/>
            </a:xfrm>
            <a:prstGeom prst="hexagon">
              <a:avLst>
                <a:gd fmla="val 25000" name="adj"/>
                <a:gd fmla="val 115470" name="vf"/>
              </a:avLst>
            </a:prstGeom>
            <a:blipFill rotWithShape="1">
              <a:blip r:embed="rId5">
                <a:alphaModFix/>
              </a:blip>
              <a:stretch>
                <a:fillRect b="0" l="-6996" r="-6996" t="0"/>
              </a:stretch>
            </a:blipFill>
            <a:ln cap="flat" cmpd="sng" w="25400">
              <a:solidFill>
                <a:srgbClr val="599F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80"/>
            <p:cNvSpPr/>
            <p:nvPr/>
          </p:nvSpPr>
          <p:spPr>
            <a:xfrm>
              <a:off x="2507824" y="1077452"/>
              <a:ext cx="169107" cy="145748"/>
            </a:xfrm>
            <a:prstGeom prst="hexagon">
              <a:avLst>
                <a:gd fmla="val 25000" name="adj"/>
                <a:gd fmla="val 115470" name="vf"/>
              </a:avLst>
            </a:prstGeom>
            <a:solidFill>
              <a:schemeClr val="lt1"/>
            </a:solidFill>
            <a:ln cap="flat" cmpd="sng" w="25400">
              <a:solidFill>
                <a:srgbClr val="599F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A diagram explaining HIPAA Privacy Rule De-identification Methods, contrasting 'Expert Determination' and 'Safe Harbor' approaches, with visual examples of types of protected health information like EMR, reports, and images." id="884" name="Google Shape;884;p80"/>
          <p:cNvPicPr preferRelativeResize="0"/>
          <p:nvPr/>
        </p:nvPicPr>
        <p:blipFill rotWithShape="1">
          <a:blip r:embed="rId6">
            <a:alphaModFix/>
          </a:blip>
          <a:srcRect b="0" l="0" r="0" t="0"/>
          <a:stretch/>
        </p:blipFill>
        <p:spPr>
          <a:xfrm>
            <a:off x="962891" y="1549853"/>
            <a:ext cx="4953000" cy="4013200"/>
          </a:xfrm>
          <a:prstGeom prst="rect">
            <a:avLst/>
          </a:prstGeom>
          <a:noFill/>
          <a:ln>
            <a:noFill/>
          </a:ln>
        </p:spPr>
      </p:pic>
      <p:sp>
        <p:nvSpPr>
          <p:cNvPr id="885" name="Google Shape;885;p80"/>
          <p:cNvSpPr txBox="1"/>
          <p:nvPr/>
        </p:nvSpPr>
        <p:spPr>
          <a:xfrm>
            <a:off x="0" y="5951380"/>
            <a:ext cx="1219199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https://www.hhs.gov/hipaa/for-professionals/privacy/special-topics/de-identification/index.html#protected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81"/>
          <p:cNvSpPr txBox="1"/>
          <p:nvPr>
            <p:ph idx="1" type="body"/>
          </p:nvPr>
        </p:nvSpPr>
        <p:spPr>
          <a:xfrm>
            <a:off x="284480" y="1180828"/>
            <a:ext cx="5811520" cy="5086622"/>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SzPts val="2800"/>
              <a:buNone/>
            </a:pPr>
            <a:r>
              <a:rPr lang="en-US"/>
              <a:t>18 categories of PHI</a:t>
            </a:r>
            <a:endParaRPr/>
          </a:p>
          <a:p>
            <a:pPr indent="-228600" lvl="0" marL="457200" rtl="0" algn="l">
              <a:lnSpc>
                <a:spcPct val="110000"/>
              </a:lnSpc>
              <a:spcBef>
                <a:spcPts val="1000"/>
              </a:spcBef>
              <a:spcAft>
                <a:spcPts val="0"/>
              </a:spcAft>
              <a:buSzPts val="2800"/>
              <a:buNone/>
            </a:pPr>
            <a:r>
              <a:rPr lang="en-US"/>
              <a:t>Identify &amp; remove PHI</a:t>
            </a:r>
            <a:endParaRPr/>
          </a:p>
          <a:p>
            <a:pPr indent="-228600" lvl="0" marL="457200" rtl="0" algn="l">
              <a:lnSpc>
                <a:spcPct val="110000"/>
              </a:lnSpc>
              <a:spcBef>
                <a:spcPts val="1000"/>
              </a:spcBef>
              <a:spcAft>
                <a:spcPts val="0"/>
              </a:spcAft>
              <a:buSzPts val="2800"/>
              <a:buNone/>
            </a:pPr>
            <a:r>
              <a:rPr lang="en-US"/>
              <a:t>Create anonymized identifiers</a:t>
            </a:r>
            <a:endParaRPr/>
          </a:p>
          <a:p>
            <a:pPr indent="-228600" lvl="0" marL="457200" rtl="0" algn="l">
              <a:lnSpc>
                <a:spcPct val="110000"/>
              </a:lnSpc>
              <a:spcBef>
                <a:spcPts val="1000"/>
              </a:spcBef>
              <a:spcAft>
                <a:spcPts val="0"/>
              </a:spcAft>
              <a:buSzPts val="2800"/>
              <a:buNone/>
            </a:pPr>
            <a:r>
              <a:rPr lang="en-US"/>
              <a:t>Secure mapping table between true and anonymized identifiers</a:t>
            </a:r>
            <a:endParaRPr/>
          </a:p>
          <a:p>
            <a:pPr indent="-228600" lvl="0" marL="457200" rtl="0" algn="l">
              <a:lnSpc>
                <a:spcPct val="110000"/>
              </a:lnSpc>
              <a:spcBef>
                <a:spcPts val="1000"/>
              </a:spcBef>
              <a:spcAft>
                <a:spcPts val="0"/>
              </a:spcAft>
              <a:buSzPts val="2800"/>
              <a:buNone/>
            </a:pPr>
            <a:r>
              <a:t/>
            </a:r>
            <a:endParaRPr/>
          </a:p>
        </p:txBody>
      </p:sp>
      <p:graphicFrame>
        <p:nvGraphicFramePr>
          <p:cNvPr id="891" name="Google Shape;891;p81"/>
          <p:cNvGraphicFramePr/>
          <p:nvPr/>
        </p:nvGraphicFramePr>
        <p:xfrm>
          <a:off x="6249988" y="1181100"/>
          <a:ext cx="3000000" cy="3000000"/>
        </p:xfrm>
        <a:graphic>
          <a:graphicData uri="http://schemas.openxmlformats.org/drawingml/2006/table">
            <a:tbl>
              <a:tblPr bandRow="1" firstRow="1">
                <a:noFill/>
                <a:tableStyleId>{772F7E8E-643A-43D2-8AC8-B33228A1EF22}</a:tableStyleId>
              </a:tblPr>
              <a:tblGrid>
                <a:gridCol w="1889650"/>
                <a:gridCol w="1889650"/>
                <a:gridCol w="1889650"/>
              </a:tblGrid>
              <a:tr h="747575">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Names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IP addresses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Biometrics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7575">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Addresses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Emails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Health plan #s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7575">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Dates (except year)</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Certificate or license #s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Full face photos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7575">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Phone #s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SSNs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Account #s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44550">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VIN, SN, license plates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Device IDs, serial #s</a:t>
                      </a:r>
                      <a:endParaRPr sz="1400" u="none" cap="none" strike="noStrike"/>
                    </a:p>
                    <a:p>
                      <a:pPr indent="0" lvl="0" marL="0" marR="0" rtl="0" algn="ctr">
                        <a:lnSpc>
                          <a:spcPct val="100000"/>
                        </a:lnSpc>
                        <a:spcBef>
                          <a:spcPts val="0"/>
                        </a:spcBef>
                        <a:spcAft>
                          <a:spcPts val="0"/>
                        </a:spcAft>
                        <a:buClr>
                          <a:srgbClr val="000000"/>
                        </a:buClr>
                        <a:buSzPts val="2000"/>
                        <a:buFont typeface="Arial"/>
                        <a:buNone/>
                      </a:pPr>
                      <a:r>
                        <a:t/>
                      </a:r>
                      <a:endParaRPr b="0" sz="2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Any other unique characteristic or code</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7575">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Fax #s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MRNs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URLs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892" name="Google Shape;892;p81"/>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HIPAA Safe Harbor Deidentification</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82"/>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Autofit/>
          </a:bodyPr>
          <a:lstStyle/>
          <a:p>
            <a:pPr indent="0" lvl="0" marL="0" rtl="0" algn="l">
              <a:lnSpc>
                <a:spcPct val="110000"/>
              </a:lnSpc>
              <a:spcBef>
                <a:spcPts val="0"/>
              </a:spcBef>
              <a:spcAft>
                <a:spcPts val="0"/>
              </a:spcAft>
              <a:buSzPts val="4000"/>
              <a:buNone/>
            </a:pPr>
            <a:r>
              <a:rPr lang="en-US"/>
              <a:t>De-Identification of Medical Data</a:t>
            </a:r>
            <a:endParaRPr/>
          </a:p>
        </p:txBody>
      </p:sp>
      <p:grpSp>
        <p:nvGrpSpPr>
          <p:cNvPr id="899" name="Google Shape;899;p82"/>
          <p:cNvGrpSpPr/>
          <p:nvPr/>
        </p:nvGrpSpPr>
        <p:grpSpPr>
          <a:xfrm>
            <a:off x="284163" y="1241425"/>
            <a:ext cx="11634787" cy="5003799"/>
            <a:chOff x="0" y="0"/>
            <a:chExt cx="11634787" cy="5003799"/>
          </a:xfrm>
        </p:grpSpPr>
        <p:sp>
          <p:nvSpPr>
            <p:cNvPr descr="A presentation slide contrasting different types of medical documentation: 'Medical notes' in text form, 'Images (DICOM vs. non-DICOM)' as medical imaging, and 'Radiology reports*' highlighting the importance of standard formats in healthcare data." id="900" name="Google Shape;900;p82"/>
            <p:cNvSpPr/>
            <p:nvPr/>
          </p:nvSpPr>
          <p:spPr>
            <a:xfrm>
              <a:off x="0" y="0"/>
              <a:ext cx="11634787" cy="2251710"/>
            </a:xfrm>
            <a:prstGeom prst="roundRect">
              <a:avLst>
                <a:gd fmla="val 10000" name="adj"/>
              </a:avLst>
            </a:prstGeom>
            <a:solidFill>
              <a:srgbClr val="CED2E2">
                <a:alpha val="89411"/>
              </a:srgbClr>
            </a:solidFill>
            <a:ln cap="flat" cmpd="sng" w="25400">
              <a:solidFill>
                <a:srgbClr val="CED2E2">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82"/>
            <p:cNvSpPr/>
            <p:nvPr/>
          </p:nvSpPr>
          <p:spPr>
            <a:xfrm>
              <a:off x="349043" y="300228"/>
              <a:ext cx="3417718" cy="1651254"/>
            </a:xfrm>
            <a:prstGeom prst="roundRect">
              <a:avLst>
                <a:gd fmla="val 10000" name="adj"/>
              </a:avLst>
            </a:prstGeom>
            <a:blipFill rotWithShape="1">
              <a:blip r:embed="rId3">
                <a:alphaModFix/>
              </a:blip>
              <a:stretch>
                <a:fillRect b="-17996" l="0" r="0" t="-17997"/>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82"/>
            <p:cNvSpPr/>
            <p:nvPr/>
          </p:nvSpPr>
          <p:spPr>
            <a:xfrm rot="10800000">
              <a:off x="349043" y="2251709"/>
              <a:ext cx="3417718" cy="2752090"/>
            </a:xfrm>
            <a:prstGeom prst="round2SameRect">
              <a:avLst>
                <a:gd fmla="val 10500" name="adj1"/>
                <a:gd fmla="val 0" name="adj2"/>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82"/>
            <p:cNvSpPr txBox="1"/>
            <p:nvPr/>
          </p:nvSpPr>
          <p:spPr>
            <a:xfrm>
              <a:off x="433679" y="2251709"/>
              <a:ext cx="3248446" cy="2667454"/>
            </a:xfrm>
            <a:prstGeom prst="rect">
              <a:avLst/>
            </a:prstGeom>
            <a:noFill/>
            <a:ln>
              <a:noFill/>
            </a:ln>
          </p:spPr>
          <p:txBody>
            <a:bodyPr anchorCtr="0" anchor="ctr" bIns="277350" lIns="277350" spcFirstLastPara="1" rIns="277350" wrap="square" tIns="277350">
              <a:noAutofit/>
            </a:bodyPr>
            <a:lstStyle/>
            <a:p>
              <a:pPr indent="0" lvl="0" marL="0" marR="0" rtl="0" algn="ctr">
                <a:lnSpc>
                  <a:spcPct val="90000"/>
                </a:lnSpc>
                <a:spcBef>
                  <a:spcPts val="0"/>
                </a:spcBef>
                <a:spcAft>
                  <a:spcPts val="0"/>
                </a:spcAft>
                <a:buClr>
                  <a:srgbClr val="000000"/>
                </a:buClr>
                <a:buSzPts val="3900"/>
                <a:buFont typeface="Arial"/>
                <a:buNone/>
              </a:pPr>
              <a:r>
                <a:rPr b="0" i="0" lang="en-US" sz="3900" u="none" cap="none" strike="noStrike">
                  <a:solidFill>
                    <a:schemeClr val="lt1"/>
                  </a:solidFill>
                  <a:latin typeface="Arial"/>
                  <a:ea typeface="Arial"/>
                  <a:cs typeface="Arial"/>
                  <a:sym typeface="Arial"/>
                </a:rPr>
                <a:t>Medical notes</a:t>
              </a:r>
              <a:endParaRPr b="0" i="0" sz="1400" u="none" cap="none" strike="noStrike">
                <a:solidFill>
                  <a:srgbClr val="000000"/>
                </a:solidFill>
                <a:latin typeface="Arial"/>
                <a:ea typeface="Arial"/>
                <a:cs typeface="Arial"/>
                <a:sym typeface="Arial"/>
              </a:endParaRPr>
            </a:p>
          </p:txBody>
        </p:sp>
        <p:sp>
          <p:nvSpPr>
            <p:cNvPr id="904" name="Google Shape;904;p82"/>
            <p:cNvSpPr/>
            <p:nvPr/>
          </p:nvSpPr>
          <p:spPr>
            <a:xfrm>
              <a:off x="4108534" y="300228"/>
              <a:ext cx="3417718" cy="1651254"/>
            </a:xfrm>
            <a:prstGeom prst="roundRect">
              <a:avLst>
                <a:gd fmla="val 10000" name="adj"/>
              </a:avLst>
            </a:prstGeom>
            <a:blipFill rotWithShape="1">
              <a:blip r:embed="rId4">
                <a:alphaModFix/>
              </a:blip>
              <a:stretch>
                <a:fillRect b="-52993" l="0" r="0" t="-52991"/>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82"/>
            <p:cNvSpPr/>
            <p:nvPr/>
          </p:nvSpPr>
          <p:spPr>
            <a:xfrm rot="10800000">
              <a:off x="4108534" y="2251709"/>
              <a:ext cx="3417718" cy="2752090"/>
            </a:xfrm>
            <a:prstGeom prst="round2SameRect">
              <a:avLst>
                <a:gd fmla="val 10500" name="adj1"/>
                <a:gd fmla="val 0" name="adj2"/>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82"/>
            <p:cNvSpPr txBox="1"/>
            <p:nvPr/>
          </p:nvSpPr>
          <p:spPr>
            <a:xfrm>
              <a:off x="4193170" y="2251709"/>
              <a:ext cx="3248446" cy="2667454"/>
            </a:xfrm>
            <a:prstGeom prst="rect">
              <a:avLst/>
            </a:prstGeom>
            <a:noFill/>
            <a:ln>
              <a:noFill/>
            </a:ln>
          </p:spPr>
          <p:txBody>
            <a:bodyPr anchorCtr="0" anchor="ctr" bIns="277350" lIns="277350" spcFirstLastPara="1" rIns="277350" wrap="square" tIns="277350">
              <a:noAutofit/>
            </a:bodyPr>
            <a:lstStyle/>
            <a:p>
              <a:pPr indent="0" lvl="0" marL="0" marR="0" rtl="0" algn="ctr">
                <a:lnSpc>
                  <a:spcPct val="90000"/>
                </a:lnSpc>
                <a:spcBef>
                  <a:spcPts val="0"/>
                </a:spcBef>
                <a:spcAft>
                  <a:spcPts val="0"/>
                </a:spcAft>
                <a:buClr>
                  <a:srgbClr val="000000"/>
                </a:buClr>
                <a:buSzPts val="3900"/>
                <a:buFont typeface="Arial"/>
                <a:buNone/>
              </a:pPr>
              <a:r>
                <a:rPr b="0" i="0" lang="en-US" sz="3900" u="none" cap="none" strike="noStrike">
                  <a:solidFill>
                    <a:schemeClr val="lt1"/>
                  </a:solidFill>
                  <a:latin typeface="Arial"/>
                  <a:ea typeface="Arial"/>
                  <a:cs typeface="Arial"/>
                  <a:sym typeface="Arial"/>
                </a:rPr>
                <a:t>Images </a:t>
              </a:r>
              <a:r>
                <a:rPr b="0" i="0" lang="en-US" sz="3500" u="none" cap="none" strike="noStrike">
                  <a:solidFill>
                    <a:schemeClr val="lt1"/>
                  </a:solidFill>
                  <a:latin typeface="Arial"/>
                  <a:ea typeface="Arial"/>
                  <a:cs typeface="Arial"/>
                  <a:sym typeface="Arial"/>
                </a:rPr>
                <a:t>(DICOM vs. non-DICOM)</a:t>
              </a:r>
              <a:endParaRPr b="0" i="0" sz="3500" u="none" cap="none" strike="noStrike">
                <a:solidFill>
                  <a:srgbClr val="000000"/>
                </a:solidFill>
                <a:latin typeface="Arial"/>
                <a:ea typeface="Arial"/>
                <a:cs typeface="Arial"/>
                <a:sym typeface="Arial"/>
              </a:endParaRPr>
            </a:p>
          </p:txBody>
        </p:sp>
        <p:sp>
          <p:nvSpPr>
            <p:cNvPr id="907" name="Google Shape;907;p82"/>
            <p:cNvSpPr/>
            <p:nvPr/>
          </p:nvSpPr>
          <p:spPr>
            <a:xfrm>
              <a:off x="7868024" y="300228"/>
              <a:ext cx="3417718" cy="1651254"/>
            </a:xfrm>
            <a:prstGeom prst="roundRect">
              <a:avLst>
                <a:gd fmla="val 10000" name="adj"/>
              </a:avLst>
            </a:prstGeom>
            <a:blipFill rotWithShape="1">
              <a:blip r:embed="rId5">
                <a:alphaModFix/>
              </a:blip>
              <a:stretch>
                <a:fillRect b="-95985" l="0" r="0" t="-95985"/>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82"/>
            <p:cNvSpPr/>
            <p:nvPr/>
          </p:nvSpPr>
          <p:spPr>
            <a:xfrm rot="10800000">
              <a:off x="7868024" y="2251709"/>
              <a:ext cx="3417718" cy="2752090"/>
            </a:xfrm>
            <a:prstGeom prst="round2SameRect">
              <a:avLst>
                <a:gd fmla="val 10500" name="adj1"/>
                <a:gd fmla="val 0" name="adj2"/>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82"/>
            <p:cNvSpPr txBox="1"/>
            <p:nvPr/>
          </p:nvSpPr>
          <p:spPr>
            <a:xfrm>
              <a:off x="7952660" y="2251709"/>
              <a:ext cx="3248446" cy="2667454"/>
            </a:xfrm>
            <a:prstGeom prst="rect">
              <a:avLst/>
            </a:prstGeom>
            <a:noFill/>
            <a:ln>
              <a:noFill/>
            </a:ln>
          </p:spPr>
          <p:txBody>
            <a:bodyPr anchorCtr="0" anchor="ctr" bIns="277350" lIns="277350" spcFirstLastPara="1" rIns="277350" wrap="square" tIns="277350">
              <a:noAutofit/>
            </a:bodyPr>
            <a:lstStyle/>
            <a:p>
              <a:pPr indent="0" lvl="0" marL="0" marR="0" rtl="0" algn="ctr">
                <a:lnSpc>
                  <a:spcPct val="90000"/>
                </a:lnSpc>
                <a:spcBef>
                  <a:spcPts val="0"/>
                </a:spcBef>
                <a:spcAft>
                  <a:spcPts val="0"/>
                </a:spcAft>
                <a:buClr>
                  <a:srgbClr val="000000"/>
                </a:buClr>
                <a:buSzPts val="3900"/>
                <a:buFont typeface="Arial"/>
                <a:buNone/>
              </a:pPr>
              <a:r>
                <a:rPr b="0" i="0" lang="en-US" sz="3900" u="none" cap="none" strike="noStrike">
                  <a:solidFill>
                    <a:schemeClr val="lt1"/>
                  </a:solidFill>
                  <a:latin typeface="Arial"/>
                  <a:ea typeface="Arial"/>
                  <a:cs typeface="Arial"/>
                  <a:sym typeface="Arial"/>
                </a:rPr>
                <a:t>Radiology reports*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83"/>
          <p:cNvSpPr txBox="1"/>
          <p:nvPr>
            <p:ph idx="4294967295" type="ctrTitle"/>
          </p:nvPr>
        </p:nvSpPr>
        <p:spPr>
          <a:xfrm>
            <a:off x="142875" y="666300"/>
            <a:ext cx="3864600" cy="903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EAS 5850:</a:t>
            </a:r>
            <a:endParaRPr b="1" i="0" sz="2400" u="none" cap="none" strike="noStrike">
              <a:solidFill>
                <a:srgbClr val="003399"/>
              </a:solidFill>
              <a:latin typeface="Arial"/>
              <a:ea typeface="Arial"/>
              <a:cs typeface="Arial"/>
              <a:sym typeface="Arial"/>
            </a:endParaRPr>
          </a:p>
          <a:p>
            <a:pPr indent="0" lvl="0" marL="0" marR="0" rtl="0" algn="l">
              <a:lnSpc>
                <a:spcPct val="110000"/>
              </a:lnSpc>
              <a:spcBef>
                <a:spcPts val="0"/>
              </a:spcBef>
              <a:spcAft>
                <a:spcPts val="0"/>
              </a:spcAft>
              <a:buClr>
                <a:srgbClr val="003399"/>
              </a:buClr>
              <a:buSzPts val="2400"/>
              <a:buFont typeface="Arial"/>
              <a:buNone/>
            </a:pPr>
            <a:r>
              <a:rPr b="1" i="0" lang="en-US" sz="2400" u="none" cap="none" strike="noStrike">
                <a:solidFill>
                  <a:srgbClr val="003399"/>
                </a:solidFill>
                <a:latin typeface="Arial"/>
                <a:ea typeface="Arial"/>
                <a:cs typeface="Arial"/>
                <a:sym typeface="Arial"/>
              </a:rPr>
              <a:t>IMAGING INFORMATICS</a:t>
            </a:r>
            <a:endParaRPr b="1" i="0" sz="2400" u="none" cap="none" strike="noStrike">
              <a:solidFill>
                <a:srgbClr val="003399"/>
              </a:solidFill>
              <a:latin typeface="Arial"/>
              <a:ea typeface="Arial"/>
              <a:cs typeface="Arial"/>
              <a:sym typeface="Arial"/>
            </a:endParaRPr>
          </a:p>
        </p:txBody>
      </p:sp>
      <p:sp>
        <p:nvSpPr>
          <p:cNvPr id="915" name="Google Shape;915;p83"/>
          <p:cNvSpPr txBox="1"/>
          <p:nvPr>
            <p:ph idx="4294967295" type="subTitle"/>
          </p:nvPr>
        </p:nvSpPr>
        <p:spPr>
          <a:xfrm>
            <a:off x="142875" y="2708910"/>
            <a:ext cx="3864600" cy="1440180"/>
          </a:xfrm>
          <a:prstGeom prst="rect">
            <a:avLst/>
          </a:prstGeom>
          <a:solidFill>
            <a:schemeClr val="lt1"/>
          </a:solidFill>
          <a:ln cap="flat" cmpd="sng" w="9525">
            <a:solidFill>
              <a:srgbClr val="0033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dk2"/>
              </a:buClr>
              <a:buSzPts val="2000"/>
              <a:buFont typeface="Arial"/>
              <a:buNone/>
            </a:pPr>
            <a:r>
              <a:rPr b="0" i="0" lang="en-US" sz="3600" u="none" cap="none" strike="noStrike">
                <a:solidFill>
                  <a:schemeClr val="dk2"/>
                </a:solidFill>
                <a:latin typeface="Arial"/>
                <a:ea typeface="Arial"/>
                <a:cs typeface="Arial"/>
                <a:sym typeface="Arial"/>
              </a:rPr>
              <a:t>Patient and Data Safety</a:t>
            </a:r>
            <a:endParaRPr b="0" i="0" sz="2800" u="none" cap="none" strike="noStrike">
              <a:solidFill>
                <a:schemeClr val="dk2"/>
              </a:solidFill>
              <a:latin typeface="Arial"/>
              <a:ea typeface="Arial"/>
              <a:cs typeface="Arial"/>
              <a:sym typeface="Arial"/>
            </a:endParaRPr>
          </a:p>
        </p:txBody>
      </p:sp>
      <p:sp>
        <p:nvSpPr>
          <p:cNvPr id="916" name="Google Shape;916;p83"/>
          <p:cNvSpPr txBox="1"/>
          <p:nvPr/>
        </p:nvSpPr>
        <p:spPr>
          <a:xfrm>
            <a:off x="142875" y="5376850"/>
            <a:ext cx="3864600" cy="492600"/>
          </a:xfrm>
          <a:prstGeom prst="rect">
            <a:avLst/>
          </a:prstGeom>
          <a:solidFill>
            <a:schemeClr val="lt1"/>
          </a:solidFill>
          <a:ln cap="flat" cmpd="sng" w="9525">
            <a:solidFill>
              <a:srgbClr val="33CCCC"/>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accent1"/>
                </a:solidFill>
                <a:latin typeface="Arial"/>
                <a:ea typeface="Arial"/>
                <a:cs typeface="Arial"/>
                <a:sym typeface="Arial"/>
              </a:rPr>
              <a:t>Dr. Tessa S. Cook </a:t>
            </a:r>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84"/>
          <p:cNvSpPr txBox="1"/>
          <p:nvPr>
            <p:ph idx="4294967295" type="title"/>
          </p:nvPr>
        </p:nvSpPr>
        <p:spPr>
          <a:xfrm>
            <a:off x="284480" y="247842"/>
            <a:ext cx="5735320" cy="745564"/>
          </a:xfrm>
          <a:prstGeom prst="rect">
            <a:avLst/>
          </a:prstGeom>
          <a:noFill/>
          <a:ln>
            <a:noFill/>
          </a:ln>
        </p:spPr>
        <p:txBody>
          <a:bodyPr anchorCtr="0" anchor="ctr"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Data Commoditization</a:t>
            </a:r>
            <a:endParaRPr/>
          </a:p>
        </p:txBody>
      </p:sp>
      <p:sp>
        <p:nvSpPr>
          <p:cNvPr id="923" name="Google Shape;923;p84"/>
          <p:cNvSpPr txBox="1"/>
          <p:nvPr>
            <p:ph idx="4294967295" type="body"/>
          </p:nvPr>
        </p:nvSpPr>
        <p:spPr>
          <a:xfrm>
            <a:off x="284479" y="1221919"/>
            <a:ext cx="5735321" cy="4931773"/>
          </a:xfrm>
          <a:prstGeom prst="rect">
            <a:avLst/>
          </a:prstGeom>
          <a:noFill/>
          <a:ln>
            <a:noFill/>
          </a:ln>
        </p:spPr>
        <p:txBody>
          <a:bodyPr anchorCtr="0" anchor="t" bIns="45700" lIns="91425" spcFirstLastPara="1" rIns="91425" wrap="square" tIns="45700">
            <a:normAutofit/>
          </a:bodyPr>
          <a:lstStyle/>
          <a:p>
            <a:pPr indent="-228600" lvl="0" marL="457200" rtl="0" algn="l">
              <a:lnSpc>
                <a:spcPct val="110000"/>
              </a:lnSpc>
              <a:spcBef>
                <a:spcPts val="1000"/>
              </a:spcBef>
              <a:spcAft>
                <a:spcPts val="0"/>
              </a:spcAft>
              <a:buClr>
                <a:schemeClr val="dk2"/>
              </a:buClr>
              <a:buSzPts val="1800"/>
              <a:buNone/>
            </a:pPr>
            <a:r>
              <a:rPr lang="en-US" sz="3733"/>
              <a:t>Freely available data benefits patients and the greater good</a:t>
            </a:r>
            <a:endParaRPr/>
          </a:p>
          <a:p>
            <a:pPr indent="-228600" lvl="0" marL="457200" rtl="0" algn="l">
              <a:lnSpc>
                <a:spcPct val="110000"/>
              </a:lnSpc>
              <a:spcBef>
                <a:spcPts val="1000"/>
              </a:spcBef>
              <a:spcAft>
                <a:spcPts val="0"/>
              </a:spcAft>
              <a:buClr>
                <a:schemeClr val="dk2"/>
              </a:buClr>
              <a:buSzPts val="1800"/>
              <a:buNone/>
            </a:pPr>
            <a:r>
              <a:t/>
            </a:r>
            <a:endParaRPr sz="3733"/>
          </a:p>
          <a:p>
            <a:pPr indent="-228600" lvl="0" marL="457200" rtl="0" algn="l">
              <a:lnSpc>
                <a:spcPct val="110000"/>
              </a:lnSpc>
              <a:spcBef>
                <a:spcPts val="1000"/>
              </a:spcBef>
              <a:spcAft>
                <a:spcPts val="0"/>
              </a:spcAft>
              <a:buClr>
                <a:schemeClr val="dk2"/>
              </a:buClr>
              <a:buSzPts val="1800"/>
              <a:buNone/>
            </a:pPr>
            <a:r>
              <a:rPr lang="en-US" sz="3733"/>
              <a:t>”Good” data cannot be generated for free</a:t>
            </a:r>
            <a:endParaRPr/>
          </a:p>
          <a:p>
            <a:pPr indent="-228600" lvl="1" marL="914400" rtl="0" algn="l">
              <a:lnSpc>
                <a:spcPct val="110000"/>
              </a:lnSpc>
              <a:spcBef>
                <a:spcPts val="500"/>
              </a:spcBef>
              <a:spcAft>
                <a:spcPts val="0"/>
              </a:spcAft>
              <a:buSzPts val="1530"/>
              <a:buNone/>
            </a:pPr>
            <a:r>
              <a:t/>
            </a:r>
            <a:endParaRPr sz="3733"/>
          </a:p>
        </p:txBody>
      </p:sp>
      <p:pic>
        <p:nvPicPr>
          <p:cNvPr descr="A display of corn&#10;&#10;Description automatically generated" id="924" name="Google Shape;924;p84"/>
          <p:cNvPicPr preferRelativeResize="0"/>
          <p:nvPr/>
        </p:nvPicPr>
        <p:blipFill rotWithShape="1">
          <a:blip r:embed="rId3">
            <a:alphaModFix amt="19000"/>
          </a:blip>
          <a:srcRect b="-2" l="6596" r="24396" t="0"/>
          <a:stretch/>
        </p:blipFill>
        <p:spPr>
          <a:xfrm>
            <a:off x="459739" y="1241943"/>
            <a:ext cx="5384800" cy="4525963"/>
          </a:xfrm>
          <a:prstGeom prst="rect">
            <a:avLst/>
          </a:prstGeom>
          <a:noFill/>
          <a:ln>
            <a:noFill/>
          </a:ln>
        </p:spPr>
      </p:pic>
      <p:sp>
        <p:nvSpPr>
          <p:cNvPr id="925" name="Google Shape;925;p84"/>
          <p:cNvSpPr txBox="1"/>
          <p:nvPr/>
        </p:nvSpPr>
        <p:spPr>
          <a:xfrm>
            <a:off x="8398517" y="6975313"/>
            <a:ext cx="3183884" cy="235898"/>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33"/>
              <a:buFont typeface="Arial"/>
              <a:buNone/>
            </a:pPr>
            <a:r>
              <a:rPr b="0" i="0" lang="en-US" sz="933" u="sng" cap="none" strike="noStrike">
                <a:solidFill>
                  <a:srgbClr val="FFFFFF"/>
                </a:solidFill>
                <a:latin typeface="Arial"/>
                <a:ea typeface="Arial"/>
                <a:cs typeface="Arial"/>
                <a:sym typeface="Arial"/>
                <a:hlinkClick r:id="rId4">
                  <a:extLst>
                    <a:ext uri="{A12FA001-AC4F-418D-AE19-62706E023703}">
                      <ahyp:hlinkClr val="tx"/>
                    </a:ext>
                  </a:extLst>
                </a:hlinkClick>
              </a:rPr>
              <a:t>This Photo</a:t>
            </a:r>
            <a:r>
              <a:rPr b="0" i="0" lang="en-US" sz="933" u="none" cap="none" strike="noStrike">
                <a:solidFill>
                  <a:srgbClr val="FFFFFF"/>
                </a:solidFill>
                <a:latin typeface="Arial"/>
                <a:ea typeface="Arial"/>
                <a:cs typeface="Arial"/>
                <a:sym typeface="Arial"/>
              </a:rPr>
              <a:t> by Unknown Author is licensed under </a:t>
            </a:r>
            <a:r>
              <a:rPr b="0" i="0" lang="en-US" sz="933" u="sng" cap="none" strike="noStrike">
                <a:solidFill>
                  <a:srgbClr val="FFFFFF"/>
                </a:solidFill>
                <a:latin typeface="Arial"/>
                <a:ea typeface="Arial"/>
                <a:cs typeface="Arial"/>
                <a:sym typeface="Arial"/>
                <a:hlinkClick r:id="rId5">
                  <a:extLst>
                    <a:ext uri="{A12FA001-AC4F-418D-AE19-62706E023703}">
                      <ahyp:hlinkClr val="tx"/>
                    </a:ext>
                  </a:extLst>
                </a:hlinkClick>
              </a:rPr>
              <a:t>CC BY-SA-NC</a:t>
            </a:r>
            <a:endParaRPr b="0" i="0" sz="933" u="none" cap="none" strike="noStrike">
              <a:solidFill>
                <a:srgbClr val="FFFFFF"/>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85"/>
          <p:cNvSpPr txBox="1"/>
          <p:nvPr>
            <p:ph type="title"/>
          </p:nvPr>
        </p:nvSpPr>
        <p:spPr>
          <a:xfrm>
            <a:off x="609600" y="381000"/>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Clr>
                <a:srgbClr val="003399"/>
              </a:buClr>
              <a:buSzPts val="1800"/>
              <a:buNone/>
            </a:pPr>
            <a:r>
              <a:rPr lang="en-US"/>
              <a:t>Managing (Large) Datasets</a:t>
            </a:r>
            <a:endParaRPr/>
          </a:p>
        </p:txBody>
      </p:sp>
      <p:pic>
        <p:nvPicPr>
          <p:cNvPr descr="Image of  server room panel" id="932" name="Google Shape;932;p85"/>
          <p:cNvPicPr preferRelativeResize="0"/>
          <p:nvPr/>
        </p:nvPicPr>
        <p:blipFill rotWithShape="1">
          <a:blip r:embed="rId3">
            <a:alphaModFix/>
          </a:blip>
          <a:srcRect b="-3" l="6855" r="13725" t="0"/>
          <a:stretch/>
        </p:blipFill>
        <p:spPr>
          <a:xfrm>
            <a:off x="609600" y="1600201"/>
            <a:ext cx="5384800" cy="4525963"/>
          </a:xfrm>
          <a:prstGeom prst="rect">
            <a:avLst/>
          </a:prstGeom>
          <a:noFill/>
          <a:ln>
            <a:noFill/>
          </a:ln>
        </p:spPr>
      </p:pic>
      <p:sp>
        <p:nvSpPr>
          <p:cNvPr id="933" name="Google Shape;933;p85"/>
          <p:cNvSpPr txBox="1"/>
          <p:nvPr>
            <p:ph idx="2" type="body"/>
          </p:nvPr>
        </p:nvSpPr>
        <p:spPr>
          <a:xfrm>
            <a:off x="6197600" y="1600201"/>
            <a:ext cx="5689600" cy="4525963"/>
          </a:xfrm>
          <a:prstGeom prst="rect">
            <a:avLst/>
          </a:prstGeom>
          <a:noFill/>
          <a:ln>
            <a:noFill/>
          </a:ln>
        </p:spPr>
        <p:txBody>
          <a:bodyPr anchorCtr="0" anchor="t" bIns="45700" lIns="91425" spcFirstLastPara="1" rIns="91425" wrap="square" tIns="45700">
            <a:noAutofit/>
          </a:bodyPr>
          <a:lstStyle/>
          <a:p>
            <a:pPr indent="-228600" lvl="0" marL="457200" rtl="0" algn="l">
              <a:lnSpc>
                <a:spcPct val="90000"/>
              </a:lnSpc>
              <a:spcBef>
                <a:spcPts val="1000"/>
              </a:spcBef>
              <a:spcAft>
                <a:spcPts val="0"/>
              </a:spcAft>
              <a:buClr>
                <a:schemeClr val="dk2"/>
              </a:buClr>
              <a:buSzPts val="2800"/>
              <a:buFont typeface="Arial"/>
              <a:buNone/>
            </a:pPr>
            <a:r>
              <a:rPr lang="en-US" sz="3733"/>
              <a:t>Prioritize data protection </a:t>
            </a:r>
            <a:endParaRPr/>
          </a:p>
          <a:p>
            <a:pPr indent="-228600" lvl="0" marL="457200" rtl="0" algn="l">
              <a:lnSpc>
                <a:spcPct val="90000"/>
              </a:lnSpc>
              <a:spcBef>
                <a:spcPts val="1000"/>
              </a:spcBef>
              <a:spcAft>
                <a:spcPts val="0"/>
              </a:spcAft>
              <a:buClr>
                <a:schemeClr val="dk2"/>
              </a:buClr>
              <a:buSzPts val="2800"/>
              <a:buFont typeface="Arial"/>
              <a:buNone/>
            </a:pPr>
            <a:r>
              <a:rPr lang="en-US" sz="3733"/>
              <a:t>Monitor &amp; limit access</a:t>
            </a:r>
            <a:endParaRPr/>
          </a:p>
          <a:p>
            <a:pPr indent="-228600" lvl="0" marL="457200" rtl="0" algn="l">
              <a:lnSpc>
                <a:spcPct val="90000"/>
              </a:lnSpc>
              <a:spcBef>
                <a:spcPts val="1000"/>
              </a:spcBef>
              <a:spcAft>
                <a:spcPts val="0"/>
              </a:spcAft>
              <a:buClr>
                <a:schemeClr val="dk2"/>
              </a:buClr>
              <a:buSzPts val="2800"/>
              <a:buFont typeface="Arial"/>
              <a:buNone/>
            </a:pPr>
            <a:r>
              <a:rPr lang="en-US" sz="3733"/>
              <a:t>Schedule &amp; monitor updates</a:t>
            </a:r>
            <a:endParaRPr/>
          </a:p>
          <a:p>
            <a:pPr indent="-228600" lvl="0" marL="457200" rtl="0" algn="l">
              <a:lnSpc>
                <a:spcPct val="90000"/>
              </a:lnSpc>
              <a:spcBef>
                <a:spcPts val="1000"/>
              </a:spcBef>
              <a:spcAft>
                <a:spcPts val="0"/>
              </a:spcAft>
              <a:buClr>
                <a:schemeClr val="dk2"/>
              </a:buClr>
              <a:buSzPts val="2800"/>
              <a:buFont typeface="Arial"/>
              <a:buNone/>
            </a:pPr>
            <a:r>
              <a:rPr lang="en-US" sz="3733"/>
              <a:t>Periodically QC data</a:t>
            </a:r>
            <a:endParaRPr/>
          </a:p>
          <a:p>
            <a:pPr indent="-228600" lvl="0" marL="457200" rtl="0" algn="l">
              <a:lnSpc>
                <a:spcPct val="90000"/>
              </a:lnSpc>
              <a:spcBef>
                <a:spcPts val="1000"/>
              </a:spcBef>
              <a:spcAft>
                <a:spcPts val="0"/>
              </a:spcAft>
              <a:buClr>
                <a:schemeClr val="dk2"/>
              </a:buClr>
              <a:buSzPts val="2800"/>
              <a:buFont typeface="Arial"/>
              <a:buNone/>
            </a:pPr>
            <a:r>
              <a:rPr lang="en-US" sz="3733"/>
              <a:t>Sharing – to whom and for what purpose?</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86"/>
          <p:cNvSpPr txBox="1"/>
          <p:nvPr>
            <p:ph type="title"/>
          </p:nvPr>
        </p:nvSpPr>
        <p:spPr>
          <a:xfrm>
            <a:off x="609600" y="381000"/>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4000"/>
              <a:buNone/>
            </a:pPr>
            <a:r>
              <a:rPr lang="en-US"/>
              <a:t>Patients’ Data (Safety) Concerns</a:t>
            </a:r>
            <a:endParaRPr/>
          </a:p>
        </p:txBody>
      </p:sp>
      <p:sp>
        <p:nvSpPr>
          <p:cNvPr id="940" name="Google Shape;940;p86"/>
          <p:cNvSpPr txBox="1"/>
          <p:nvPr>
            <p:ph idx="12" type="sldNum"/>
          </p:nvPr>
        </p:nvSpPr>
        <p:spPr>
          <a:xfrm>
            <a:off x="8737600" y="6356352"/>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800"/>
              </a:spcAft>
              <a:buSzPts val="1000"/>
              <a:buNone/>
            </a:pPr>
            <a:fld id="{00000000-1234-1234-1234-123412341234}" type="slidenum">
              <a:rPr lang="en-US"/>
              <a:t>‹#›</a:t>
            </a:fld>
            <a:endParaRPr/>
          </a:p>
        </p:txBody>
      </p:sp>
      <p:grpSp>
        <p:nvGrpSpPr>
          <p:cNvPr id="941" name="Google Shape;941;p86"/>
          <p:cNvGrpSpPr/>
          <p:nvPr/>
        </p:nvGrpSpPr>
        <p:grpSpPr>
          <a:xfrm>
            <a:off x="612814" y="2205475"/>
            <a:ext cx="10966370" cy="3315414"/>
            <a:chOff x="3214" y="605274"/>
            <a:chExt cx="10966370" cy="3315414"/>
          </a:xfrm>
        </p:grpSpPr>
        <p:sp>
          <p:nvSpPr>
            <p:cNvPr id="942" name="Google Shape;942;p86"/>
            <p:cNvSpPr/>
            <p:nvPr/>
          </p:nvSpPr>
          <p:spPr>
            <a:xfrm>
              <a:off x="3214" y="605274"/>
              <a:ext cx="2550318" cy="1530191"/>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86"/>
            <p:cNvSpPr txBox="1"/>
            <p:nvPr/>
          </p:nvSpPr>
          <p:spPr>
            <a:xfrm>
              <a:off x="3214" y="605274"/>
              <a:ext cx="2550318" cy="153019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How much data is being used?</a:t>
              </a:r>
              <a:endParaRPr b="0" i="0" sz="1400" u="none" cap="none" strike="noStrike">
                <a:solidFill>
                  <a:srgbClr val="000000"/>
                </a:solidFill>
                <a:latin typeface="Arial"/>
                <a:ea typeface="Arial"/>
                <a:cs typeface="Arial"/>
                <a:sym typeface="Arial"/>
              </a:endParaRPr>
            </a:p>
          </p:txBody>
        </p:sp>
        <p:sp>
          <p:nvSpPr>
            <p:cNvPr id="944" name="Google Shape;944;p86"/>
            <p:cNvSpPr/>
            <p:nvPr/>
          </p:nvSpPr>
          <p:spPr>
            <a:xfrm>
              <a:off x="2808565" y="605274"/>
              <a:ext cx="2550318" cy="1530191"/>
            </a:xfrm>
            <a:prstGeom prst="rect">
              <a:avLst/>
            </a:prstGeom>
            <a:solidFill>
              <a:srgbClr val="788EA8"/>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86"/>
            <p:cNvSpPr txBox="1"/>
            <p:nvPr/>
          </p:nvSpPr>
          <p:spPr>
            <a:xfrm>
              <a:off x="2808565" y="605274"/>
              <a:ext cx="2550318" cy="153019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Who can access it?</a:t>
              </a:r>
              <a:endParaRPr b="0" i="0" sz="1400" u="none" cap="none" strike="noStrike">
                <a:solidFill>
                  <a:srgbClr val="000000"/>
                </a:solidFill>
                <a:latin typeface="Arial"/>
                <a:ea typeface="Arial"/>
                <a:cs typeface="Arial"/>
                <a:sym typeface="Arial"/>
              </a:endParaRPr>
            </a:p>
          </p:txBody>
        </p:sp>
        <p:sp>
          <p:nvSpPr>
            <p:cNvPr id="946" name="Google Shape;946;p86"/>
            <p:cNvSpPr/>
            <p:nvPr/>
          </p:nvSpPr>
          <p:spPr>
            <a:xfrm>
              <a:off x="5613915" y="605274"/>
              <a:ext cx="2550318" cy="1530191"/>
            </a:xfrm>
            <a:prstGeom prst="rect">
              <a:avLst/>
            </a:prstGeom>
            <a:solidFill>
              <a:srgbClr val="728FA9"/>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86"/>
            <p:cNvSpPr txBox="1"/>
            <p:nvPr/>
          </p:nvSpPr>
          <p:spPr>
            <a:xfrm>
              <a:off x="5613915" y="605274"/>
              <a:ext cx="2550318" cy="153019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How well is it anonymized or de-identified?</a:t>
              </a:r>
              <a:endParaRPr b="0" i="0" sz="1400" u="none" cap="none" strike="noStrike">
                <a:solidFill>
                  <a:srgbClr val="000000"/>
                </a:solidFill>
                <a:latin typeface="Arial"/>
                <a:ea typeface="Arial"/>
                <a:cs typeface="Arial"/>
                <a:sym typeface="Arial"/>
              </a:endParaRPr>
            </a:p>
          </p:txBody>
        </p:sp>
        <p:sp>
          <p:nvSpPr>
            <p:cNvPr id="948" name="Google Shape;948;p86"/>
            <p:cNvSpPr/>
            <p:nvPr/>
          </p:nvSpPr>
          <p:spPr>
            <a:xfrm>
              <a:off x="8419266" y="605274"/>
              <a:ext cx="2550318" cy="1530191"/>
            </a:xfrm>
            <a:prstGeom prst="rect">
              <a:avLst/>
            </a:prstGeom>
            <a:solidFill>
              <a:srgbClr val="6C91A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86"/>
            <p:cNvSpPr txBox="1"/>
            <p:nvPr/>
          </p:nvSpPr>
          <p:spPr>
            <a:xfrm>
              <a:off x="8419266" y="605274"/>
              <a:ext cx="2550318" cy="153019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Can it be used to harm me?</a:t>
              </a:r>
              <a:endParaRPr b="0" i="0" sz="1400" u="none" cap="none" strike="noStrike">
                <a:solidFill>
                  <a:srgbClr val="000000"/>
                </a:solidFill>
                <a:latin typeface="Arial"/>
                <a:ea typeface="Arial"/>
                <a:cs typeface="Arial"/>
                <a:sym typeface="Arial"/>
              </a:endParaRPr>
            </a:p>
          </p:txBody>
        </p:sp>
        <p:sp>
          <p:nvSpPr>
            <p:cNvPr id="950" name="Google Shape;950;p86"/>
            <p:cNvSpPr/>
            <p:nvPr/>
          </p:nvSpPr>
          <p:spPr>
            <a:xfrm>
              <a:off x="1405890" y="2390497"/>
              <a:ext cx="2550318" cy="1530191"/>
            </a:xfrm>
            <a:prstGeom prst="rect">
              <a:avLst/>
            </a:prstGeom>
            <a:solidFill>
              <a:srgbClr val="6695AB"/>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86"/>
            <p:cNvSpPr txBox="1"/>
            <p:nvPr/>
          </p:nvSpPr>
          <p:spPr>
            <a:xfrm>
              <a:off x="1405890" y="2390497"/>
              <a:ext cx="2550318" cy="153019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Can it be altered?</a:t>
              </a:r>
              <a:endParaRPr b="0" i="0" sz="1400" u="none" cap="none" strike="noStrike">
                <a:solidFill>
                  <a:srgbClr val="000000"/>
                </a:solidFill>
                <a:latin typeface="Arial"/>
                <a:ea typeface="Arial"/>
                <a:cs typeface="Arial"/>
                <a:sym typeface="Arial"/>
              </a:endParaRPr>
            </a:p>
          </p:txBody>
        </p:sp>
        <p:sp>
          <p:nvSpPr>
            <p:cNvPr id="952" name="Google Shape;952;p86"/>
            <p:cNvSpPr/>
            <p:nvPr/>
          </p:nvSpPr>
          <p:spPr>
            <a:xfrm>
              <a:off x="4211240" y="2390497"/>
              <a:ext cx="2550318" cy="1530191"/>
            </a:xfrm>
            <a:prstGeom prst="rect">
              <a:avLst/>
            </a:prstGeom>
            <a:solidFill>
              <a:srgbClr val="6099AB"/>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86"/>
            <p:cNvSpPr txBox="1"/>
            <p:nvPr/>
          </p:nvSpPr>
          <p:spPr>
            <a:xfrm>
              <a:off x="4211240" y="2390497"/>
              <a:ext cx="2550318" cy="153019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Is it financially benefitting others?</a:t>
              </a:r>
              <a:endParaRPr b="0" i="0" sz="1400" u="none" cap="none" strike="noStrike">
                <a:solidFill>
                  <a:srgbClr val="000000"/>
                </a:solidFill>
                <a:latin typeface="Arial"/>
                <a:ea typeface="Arial"/>
                <a:cs typeface="Arial"/>
                <a:sym typeface="Arial"/>
              </a:endParaRPr>
            </a:p>
          </p:txBody>
        </p:sp>
        <p:sp>
          <p:nvSpPr>
            <p:cNvPr id="954" name="Google Shape;954;p86"/>
            <p:cNvSpPr/>
            <p:nvPr/>
          </p:nvSpPr>
          <p:spPr>
            <a:xfrm>
              <a:off x="7016591" y="2390497"/>
              <a:ext cx="2550318" cy="1530191"/>
            </a:xfrm>
            <a:prstGeom prst="rect">
              <a:avLst/>
            </a:prstGeom>
            <a:solidFill>
              <a:srgbClr val="599FAD"/>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86"/>
            <p:cNvSpPr txBox="1"/>
            <p:nvPr/>
          </p:nvSpPr>
          <p:spPr>
            <a:xfrm>
              <a:off x="7016591" y="2390497"/>
              <a:ext cx="2550318" cy="153019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Will changes in privacy policy affect my care?</a:t>
              </a:r>
              <a:endParaRPr b="0" i="0" sz="1400" u="none" cap="none" strike="noStrike">
                <a:solidFill>
                  <a:srgbClr val="000000"/>
                </a:solidFill>
                <a:latin typeface="Arial"/>
                <a:ea typeface="Arial"/>
                <a:cs typeface="Arial"/>
                <a:sym typeface="Arial"/>
              </a:endParaRPr>
            </a:p>
          </p:txBody>
        </p:sp>
      </p:grpSp>
      <p:sp>
        <p:nvSpPr>
          <p:cNvPr id="956" name="Google Shape;956;p86"/>
          <p:cNvSpPr/>
          <p:nvPr/>
        </p:nvSpPr>
        <p:spPr>
          <a:xfrm>
            <a:off x="1440872" y="5933104"/>
            <a:ext cx="931025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J. L. Jaremko et al. / Canadian Association of Radiologists Journal 70 (2019) 107e118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29335dad1c5_2_0"/>
          <p:cNvSpPr txBox="1"/>
          <p:nvPr>
            <p:ph idx="4294967295" type="title"/>
          </p:nvPr>
        </p:nvSpPr>
        <p:spPr>
          <a:xfrm>
            <a:off x="284480" y="247842"/>
            <a:ext cx="8421300" cy="745500"/>
          </a:xfrm>
          <a:prstGeom prst="rect">
            <a:avLst/>
          </a:prstGeom>
          <a:noFill/>
          <a:ln>
            <a:noFill/>
          </a:ln>
        </p:spPr>
        <p:txBody>
          <a:bodyPr anchorCtr="0" anchor="ctr" bIns="45700" lIns="91425" spcFirstLastPara="1" rIns="91425" wrap="square" tIns="45700">
            <a:noAutofit/>
          </a:bodyPr>
          <a:lstStyle/>
          <a:p>
            <a:pPr indent="0" lvl="0" marL="0" rtl="0" algn="l">
              <a:lnSpc>
                <a:spcPct val="110000"/>
              </a:lnSpc>
              <a:spcBef>
                <a:spcPts val="0"/>
              </a:spcBef>
              <a:spcAft>
                <a:spcPts val="0"/>
              </a:spcAft>
              <a:buClr>
                <a:srgbClr val="003399"/>
              </a:buClr>
              <a:buSzPts val="1800"/>
              <a:buNone/>
            </a:pPr>
            <a:r>
              <a:rPr lang="en-US"/>
              <a:t>Societal Data Safety Concerns</a:t>
            </a:r>
            <a:endParaRPr/>
          </a:p>
        </p:txBody>
      </p:sp>
      <p:sp>
        <p:nvSpPr>
          <p:cNvPr id="963" name="Google Shape;963;g29335dad1c5_2_0"/>
          <p:cNvSpPr txBox="1"/>
          <p:nvPr>
            <p:ph idx="4294967295" type="body"/>
          </p:nvPr>
        </p:nvSpPr>
        <p:spPr>
          <a:xfrm>
            <a:off x="-1" y="1222375"/>
            <a:ext cx="7455900" cy="4930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10000"/>
              </a:lnSpc>
              <a:spcBef>
                <a:spcPts val="1000"/>
              </a:spcBef>
              <a:spcAft>
                <a:spcPts val="0"/>
              </a:spcAft>
              <a:buClr>
                <a:schemeClr val="dk2"/>
              </a:buClr>
              <a:buSzPts val="2800"/>
              <a:buFont typeface="Arial"/>
              <a:buNone/>
            </a:pPr>
            <a:r>
              <a:rPr lang="en-US" sz="3600"/>
              <a:t>Selection bias due to mandatory consent</a:t>
            </a:r>
            <a:endParaRPr/>
          </a:p>
          <a:p>
            <a:pPr indent="-228600" lvl="0" marL="457200" marR="0" rtl="0" algn="l">
              <a:lnSpc>
                <a:spcPct val="110000"/>
              </a:lnSpc>
              <a:spcBef>
                <a:spcPts val="1000"/>
              </a:spcBef>
              <a:spcAft>
                <a:spcPts val="0"/>
              </a:spcAft>
              <a:buClr>
                <a:schemeClr val="dk2"/>
              </a:buClr>
              <a:buSzPts val="2800"/>
              <a:buFont typeface="Arial"/>
              <a:buNone/>
            </a:pPr>
            <a:r>
              <a:rPr lang="en-US" sz="3600"/>
              <a:t>Risk of data breach</a:t>
            </a:r>
            <a:endParaRPr/>
          </a:p>
          <a:p>
            <a:pPr indent="-228600" lvl="0" marL="457200" marR="0" rtl="0" algn="l">
              <a:lnSpc>
                <a:spcPct val="110000"/>
              </a:lnSpc>
              <a:spcBef>
                <a:spcPts val="1000"/>
              </a:spcBef>
              <a:spcAft>
                <a:spcPts val="0"/>
              </a:spcAft>
              <a:buClr>
                <a:schemeClr val="dk2"/>
              </a:buClr>
              <a:buSzPts val="2800"/>
              <a:buFont typeface="Arial"/>
              <a:buNone/>
            </a:pPr>
            <a:r>
              <a:rPr lang="en-US" sz="3600"/>
              <a:t>Risk of commoditization of personal data</a:t>
            </a:r>
            <a:endParaRPr/>
          </a:p>
        </p:txBody>
      </p:sp>
      <p:pic>
        <p:nvPicPr>
          <p:cNvPr descr="An image of a lock." id="964" name="Google Shape;964;g29335dad1c5_2_0"/>
          <p:cNvPicPr preferRelativeResize="0"/>
          <p:nvPr>
            <p:ph idx="4294967295" type="body"/>
          </p:nvPr>
        </p:nvPicPr>
        <p:blipFill rotWithShape="1">
          <a:blip r:embed="rId3">
            <a:alphaModFix/>
          </a:blip>
          <a:srcRect b="0" l="0" r="0" t="0"/>
          <a:stretch/>
        </p:blipFill>
        <p:spPr>
          <a:xfrm>
            <a:off x="6683717" y="2748190"/>
            <a:ext cx="5283300" cy="2964000"/>
          </a:xfrm>
          <a:prstGeom prst="rect">
            <a:avLst/>
          </a:prstGeom>
          <a:noFill/>
          <a:ln>
            <a:noFill/>
          </a:ln>
        </p:spPr>
      </p:pic>
      <p:sp>
        <p:nvSpPr>
          <p:cNvPr id="965" name="Google Shape;965;g29335dad1c5_2_0"/>
          <p:cNvSpPr/>
          <p:nvPr/>
        </p:nvSpPr>
        <p:spPr>
          <a:xfrm>
            <a:off x="1364672" y="5800675"/>
            <a:ext cx="93102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J. L. Jaremko et al. / Canadian Association of Radiologists Journal 70 (2019) 107e118 </a:t>
            </a:r>
            <a:endParaRPr b="0" i="0" sz="1400" u="none" cap="none" strike="noStrike">
              <a:solidFill>
                <a:srgbClr val="000000"/>
              </a:solidFill>
              <a:latin typeface="Arial"/>
              <a:ea typeface="Arial"/>
              <a:cs typeface="Arial"/>
              <a:sym typeface="Arial"/>
            </a:endParaRPr>
          </a:p>
        </p:txBody>
      </p:sp>
      <p:sp>
        <p:nvSpPr>
          <p:cNvPr id="966" name="Google Shape;966;g29335dad1c5_2_0"/>
          <p:cNvSpPr txBox="1"/>
          <p:nvPr/>
        </p:nvSpPr>
        <p:spPr>
          <a:xfrm>
            <a:off x="6908700" y="6076964"/>
            <a:ext cx="52833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sng" cap="none" strike="noStrike">
                <a:solidFill>
                  <a:srgbClr val="000000"/>
                </a:solidFill>
                <a:latin typeface="Arial"/>
                <a:ea typeface="Arial"/>
                <a:cs typeface="Arial"/>
                <a:sym typeface="Arial"/>
                <a:hlinkClick r:id="rId4">
                  <a:extLst>
                    <a:ext uri="{A12FA001-AC4F-418D-AE19-62706E023703}">
                      <ahyp:hlinkClr val="tx"/>
                    </a:ext>
                  </a:extLst>
                </a:hlinkClick>
              </a:rPr>
              <a:t>This Photo</a:t>
            </a:r>
            <a:r>
              <a:rPr b="0" i="0" lang="en-US" sz="1200" u="none" cap="none" strike="noStrike">
                <a:solidFill>
                  <a:srgbClr val="000000"/>
                </a:solidFill>
                <a:latin typeface="Arial"/>
                <a:ea typeface="Arial"/>
                <a:cs typeface="Arial"/>
                <a:sym typeface="Arial"/>
              </a:rPr>
              <a:t> by Unknown Author is licensed under </a:t>
            </a:r>
            <a:r>
              <a:rPr b="0" i="0" lang="en-US" sz="1200" u="sng" cap="none" strike="noStrike">
                <a:solidFill>
                  <a:srgbClr val="000000"/>
                </a:solidFill>
                <a:latin typeface="Arial"/>
                <a:ea typeface="Arial"/>
                <a:cs typeface="Arial"/>
                <a:sym typeface="Arial"/>
                <a:hlinkClick r:id="rId5">
                  <a:extLst>
                    <a:ext uri="{A12FA001-AC4F-418D-AE19-62706E023703}">
                      <ahyp:hlinkClr val="tx"/>
                    </a:ext>
                  </a:extLst>
                </a:hlinkClick>
              </a:rPr>
              <a:t>CC BY-SA-NC</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88"/>
          <p:cNvSpPr txBox="1"/>
          <p:nvPr>
            <p:ph type="title"/>
          </p:nvPr>
        </p:nvSpPr>
        <p:spPr>
          <a:xfrm>
            <a:off x="284480" y="247842"/>
            <a:ext cx="11634776" cy="74556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10000"/>
              </a:lnSpc>
              <a:spcBef>
                <a:spcPts val="0"/>
              </a:spcBef>
              <a:spcAft>
                <a:spcPts val="0"/>
              </a:spcAft>
              <a:buSzPct val="111111"/>
              <a:buNone/>
            </a:pPr>
            <a:r>
              <a:rPr lang="en-US"/>
              <a:t>Reinventing Patient Consent</a:t>
            </a:r>
            <a:endParaRPr/>
          </a:p>
        </p:txBody>
      </p:sp>
      <p:sp>
        <p:nvSpPr>
          <p:cNvPr id="973" name="Google Shape;973;p88"/>
          <p:cNvSpPr txBox="1"/>
          <p:nvPr/>
        </p:nvSpPr>
        <p:spPr>
          <a:xfrm>
            <a:off x="2255859" y="6047020"/>
            <a:ext cx="768028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https://www.jacr.org/article/S1546-1440(20)30965-0/fulltext</a:t>
            </a:r>
            <a:endParaRPr b="0" i="0" sz="1400" u="none" cap="none" strike="noStrike">
              <a:solidFill>
                <a:srgbClr val="000000"/>
              </a:solidFill>
              <a:latin typeface="Arial"/>
              <a:ea typeface="Arial"/>
              <a:cs typeface="Arial"/>
              <a:sym typeface="Arial"/>
            </a:endParaRPr>
          </a:p>
        </p:txBody>
      </p:sp>
      <p:pic>
        <p:nvPicPr>
          <p:cNvPr id="974" name="Google Shape;974;p88"/>
          <p:cNvPicPr preferRelativeResize="0"/>
          <p:nvPr/>
        </p:nvPicPr>
        <p:blipFill rotWithShape="1">
          <a:blip r:embed="rId3">
            <a:alphaModFix/>
          </a:blip>
          <a:srcRect b="7512" l="0" r="0" t="11927"/>
          <a:stretch/>
        </p:blipFill>
        <p:spPr>
          <a:xfrm>
            <a:off x="0" y="1"/>
            <a:ext cx="7806517" cy="1690688"/>
          </a:xfrm>
          <a:prstGeom prst="rect">
            <a:avLst/>
          </a:prstGeom>
          <a:noFill/>
          <a:ln>
            <a:noFill/>
          </a:ln>
        </p:spPr>
      </p:pic>
      <p:pic>
        <p:nvPicPr>
          <p:cNvPr descr="A document asking for patient consent to reuse medical images for research or improving patient care, with checkboxes for different permissions,&#10;indicating a choice between allowing image use for various purposes or restricting it, accompanied by the source link to a medical journal." id="975" name="Google Shape;975;p88"/>
          <p:cNvPicPr preferRelativeResize="0"/>
          <p:nvPr>
            <p:ph idx="1" type="body"/>
          </p:nvPr>
        </p:nvPicPr>
        <p:blipFill rotWithShape="1">
          <a:blip r:embed="rId4">
            <a:alphaModFix/>
          </a:blip>
          <a:srcRect b="0" l="0" r="0" t="0"/>
          <a:stretch/>
        </p:blipFill>
        <p:spPr>
          <a:xfrm>
            <a:off x="1958638" y="1617194"/>
            <a:ext cx="8274724" cy="433863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dornVTI">
  <a:themeElements>
    <a:clrScheme name="Custom 1">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2023-06-14T14:00:45Z</dcterms:created>
  <dc:creator>Lyutsko, Svetlana</dc:creator>
</cp:coreProperties>
</file>